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2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目標 60 秒。</a:t>
            </a:r>
          </a:p>
          <a:p>
            <a:r>
              <a:t>問題是 authority trust gap：單一檔案、單一主機或檔案存在本身，不能證明 authoritative baseline。</a:t>
            </a:r>
          </a:p>
          <a:p>
            <a:r>
              <a:t>必須追溯 host pairing、version、active selection、ZeroMQ direction 與 Human Review。</a:t>
            </a:r>
          </a:p>
          <a:p>
            <a:r>
              <a:t>本頁只定義問題，不展開 residue 細節。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目標 60 秒。</a:t>
            </a:r>
          </a:p>
          <a:p>
            <a:r>
              <a:t>最小架構是 Linux1 的 EPC/eNB、Linux2 的 UE，以及跨主機 ZeroMQ RF sample transport。</a:t>
            </a:r>
          </a:p>
          <a:p>
            <a:r>
              <a:t>Phase 4C 完成範圍到 Attach、位址分配與雙向 ICMP。</a:t>
            </a:r>
          </a:p>
          <a:p>
            <a:r>
              <a:t>NAT、Internet、TCP/iperf3、Wireshark、OTA 不在完成聲明內。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目標 60 秒。</a:t>
            </a:r>
          </a:p>
          <a:p>
            <a:r>
              <a:t>本階段完成 residue identification 與 claim-boundary separation：ZeroMQ 保留；eMBMS/MBSFN/SIB13/M1 標記為不納入 Lab01 authority。</a:t>
            </a:r>
          </a:p>
          <a:p>
            <a:r>
              <a:t>這不代表 active runtime configuration residue 已被移除或清理。</a:t>
            </a:r>
          </a:p>
          <a:p>
            <a:r>
              <a:t>Phase 4C 未修改 /etc/srsran 或 persistent network configuration。</a:t>
            </a:r>
          </a:p>
          <a:p>
            <a:r>
              <a:t>Authority 由 successful runtime evidence 往下排序；不宣稱 clean candidate 是 exact historical rollback，也不宣稱本簡報部署設定。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目標 75 秒。</a:t>
            </a:r>
          </a:p>
          <a:p>
            <a:r>
              <a:t>Management、Sample、User 分別使用 192.168.250.0/24、temporary 10.0.0.0/24、172.16.0.0/24。</a:t>
            </a:r>
          </a:p>
          <a:p>
            <a:r>
              <a:t>同一實體 NIC 可承載多個 L3 address；logical separation 不等於三張 NIC。</a:t>
            </a:r>
          </a:p>
          <a:p>
            <a:r>
              <a:t>Sample plane 未持久化，user plane 未證明 Internet connectivity。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目標 75 秒。</a:t>
            </a:r>
          </a:p>
          <a:p>
            <a:r>
              <a:t>七階段：Inventory、Compare、Plan、Human Approval、Backup/Migration、Bring-up/Validate、Shutdown/Handoff。</a:t>
            </a:r>
          </a:p>
          <a:p>
            <a:r>
              <a:t>本頁只講順序；states、STOP 與 rollback 留到下一頁。</a:t>
            </a:r>
          </a:p>
          <a:p>
            <a:r>
              <a:t>Pipeline 不代表自動 execution，也不取代各 gate 個別 approval。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目標 70 秒。</a:t>
            </a:r>
          </a:p>
          <a:p>
            <a:r>
              <a:t>PENDING → AUTHORIZED → PASS/CLOSED 是受控 transition；衝突、scope 不清或 unexpected result 進 STOP。</a:t>
            </a:r>
          </a:p>
          <a:p>
            <a:r>
              <a:t>Rollback 是 backup + source-to-target mapping + validation，不是 Git reset。</a:t>
            </a:r>
          </a:p>
          <a:p>
            <a:r>
              <a:t>既有 PASS 不等於 future runtime、network、deployment 或 extended validation 的 blanket approval。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目標 65 秒。</a:t>
            </a:r>
          </a:p>
          <a:p>
            <a:r>
              <a:t>C0 preflight 後，bring-up 是 EPC → eNB → UE；shutdown 是 UE → eNB → EPC。</a:t>
            </a:r>
          </a:p>
          <a:p>
            <a:r>
              <a:t>下一層只在前一層可接受時開始。</a:t>
            </a:r>
          </a:p>
          <a:p>
            <a:r>
              <a:t>只說已驗證順序，不推論其他順序的具體 failure；結束後服務未持續執行。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目標 90 秒。</a:t>
            </a:r>
          </a:p>
          <a:p>
            <a:r>
              <a:t>四群：Network and runtime、Attach and protocol、User plane、Not tested。</a:t>
            </a:r>
          </a:p>
          <a:p>
            <a:r>
              <a:t>雙向 ICMP packet loss 0%，observed average RTT 約 600–700 ms。</a:t>
            </a:r>
          </a:p>
          <a:p>
            <a:r>
              <a:t>RTT 只支持 connectivity observation；sample count、duration、traffic load、controlled methodology 有限。</a:t>
            </a:r>
          </a:p>
          <a:p>
            <a:r>
              <a:t>不宣稱 performance、low latency、URLLC、reliability、stability 或 benchmark。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目標 75 秒。</a:t>
            </a:r>
          </a:p>
          <a:p>
            <a:r>
              <a:t>本階段完成 residue identification 與 claim-boundary separation；MBMS residue 只被標記為非 Lab01 scope。</a:t>
            </a:r>
          </a:p>
          <a:p>
            <a:r>
              <a:t>不宣稱 active runtime configuration residue 已被移除或清理；Phase 4C 未修改 /etc/srsran 或 persistent network configuration。</a:t>
            </a:r>
          </a:p>
          <a:p>
            <a:r>
              <a:t>EPC log recorded cause：pre-existing user:user log 與 root-launched srsepc logging ownership conflict。</a:t>
            </a:r>
          </a:p>
          <a:p>
            <a:r>
              <a:t>舊 log 保留、conflict source 移除、EPC restart 成功、recreated log 為 root:root。</a:t>
            </a:r>
          </a:p>
          <a:p>
            <a:r>
              <a:t>不補充未記錄的 OS、permission 或 application root cause。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目標 65 秒。</a:t>
            </a:r>
          </a:p>
          <a:p>
            <a:r>
              <a:t>主流程：AGENTS.md → SKILL.md → PROGRESS.md → Codex task → Human Review。</a:t>
            </a:r>
          </a:p>
          <a:p>
            <a:r>
              <a:t>AGENTS 定 scope，SKILL 定 procedure，PROGRESS 定 state；Codex 做 scoped work，Human 保留 approval 與 acceptance。</a:t>
            </a:r>
          </a:p>
          <a:p>
            <a:r>
              <a:t>Codex 不是 final decision maker；未授權不能修改 runtime、啟動服務或直接 push main。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目標 55 秒。</a:t>
            </a:r>
          </a:p>
          <a:p>
            <a:r>
              <a:t>正常流程：branch → commit → push → PR → Review/Checks → Squash Merge → sync main。</a:t>
            </a:r>
          </a:p>
          <a:p>
            <a:r>
              <a:t>PR 在 merge 前完成 privacy、claim boundary 與 diff checks。</a:t>
            </a:r>
          </a:p>
          <a:p>
            <a:r>
              <a:t>進階 Git recovery 與 cleanup edge cases 只放 appendix；不宣稱 repository 已啟用所有 protection options。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目標 70 秒。</a:t>
            </a:r>
          </a:p>
          <a:p>
            <a:r>
              <a:t>三群 exclusions：Connectivity extensions、Observability and performance、Parked research。</a:t>
            </a:r>
          </a:p>
          <a:p>
            <a:r>
              <a:t>RTT 600–700 ms 已觀察，但只屬 connectivity result。</a:t>
            </a:r>
          </a:p>
          <a:p>
            <a:r>
              <a:t>MBMS process startup 不構成功能、multicast 或 SIB13 validation。</a:t>
            </a:r>
          </a:p>
          <a:p>
            <a:r>
              <a:t>不宣稱 NAT、Internet、iperf3、Wireshark、performance、MBMS、SIB13、URLLC、OTA、MIMO 或 Lab02 validation 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目標 55 秒。</a:t>
            </a:r>
          </a:p>
          <a:p>
            <a:r>
              <a:t>工程價值是 isolation、traceability、gates、repeatable invariants 與 handoff。</a:t>
            </a:r>
          </a:p>
          <a:p>
            <a:r>
              <a:t>這些是 qualitative engineering value，不是 performance KPI。</a:t>
            </a:r>
          </a:p>
          <a:p>
            <a:r>
              <a:t>不宣稱 latency、throughput、coverage、reliability、stability 或 production readiness 改善。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目標 55 秒。</a:t>
            </a:r>
          </a:p>
          <a:p>
            <a:r>
              <a:t>下一循環：Review/Handoff → Select one narrow scope → Define package → Human Approval → Minimum execution → Evidence review。</a:t>
            </a:r>
          </a:p>
          <a:p>
            <a:r>
              <a:t>Package 包含 success criteria、commands、evidence path、abort point、rollback 與 responsible roles。</a:t>
            </a:r>
          </a:p>
          <a:p>
            <a:r>
              <a:t>Cycle 不代表排程、資源、授權或成功承諾；未核准前保持停止。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ver-kicker">
            <a:extLst>
              <a:ext uri="{FF2B5EF4-FFF2-40B4-BE49-F238E27FC236}">
                <a16:creationId xmlns:a16="http://schemas.microsoft.com/office/drawing/2014/main" id="{02136FD4-F1F4-495B-8BE3-B7E928158DC7}"/>
              </a:ext>
            </a:extLst>
          </p:cNvPr>
          <p:cNvSpPr>
            <a:spLocks noGrp="1"/>
          </p:cNvSpPr>
          <p:nvPr/>
        </p:nvSpPr>
        <p:spPr>
          <a:xfrm>
            <a:off x="457200" y="361950"/>
            <a:ext cx="3810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1677D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77D2"/>
                </a:solidFill>
                <a:latin typeface="Arial"/>
                <a:ea typeface="Arial"/>
                <a:cs typeface="Arial"/>
              </a:rPr>
              <a:t>5G SDR · LAB01</a:t>
            </a:r>
          </a:p>
        </p:txBody>
      </p:sp>
      <p:sp>
        <p:nvSpPr>
          <p:cNvPr id="2" name="cover-title">
            <a:extLst>
              <a:ext uri="{FF2B5EF4-FFF2-40B4-BE49-F238E27FC236}">
                <a16:creationId xmlns:a16="http://schemas.microsoft.com/office/drawing/2014/main" id="{05A6568E-20C2-4D88-A043-30AEEA417293}"/>
              </a:ext>
            </a:extLst>
          </p:cNvPr>
          <p:cNvSpPr>
            <a:spLocks noGrp="1"/>
          </p:cNvSpPr>
          <p:nvPr/>
        </p:nvSpPr>
        <p:spPr>
          <a:xfrm>
            <a:off x="457200" y="1123950"/>
            <a:ext cx="83820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54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Baseline Recovery</a:t>
            </a:r>
          </a:p>
        </p:txBody>
      </p:sp>
      <p:sp>
        <p:nvSpPr>
          <p:cNvPr id="3" name="cover-subtitle">
            <a:extLst>
              <a:ext uri="{FF2B5EF4-FFF2-40B4-BE49-F238E27FC236}">
                <a16:creationId xmlns:a16="http://schemas.microsoft.com/office/drawing/2014/main" id="{DE41E061-DCAB-4F85-AF74-1995E89A5B78}"/>
              </a:ext>
            </a:extLst>
          </p:cNvPr>
          <p:cNvSpPr>
            <a:spLocks noGrp="1"/>
          </p:cNvSpPr>
          <p:nvPr/>
        </p:nvSpPr>
        <p:spPr>
          <a:xfrm>
            <a:off x="495300" y="2114550"/>
            <a:ext cx="9620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2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從不確定來源，到可追溯、可審查的 Lab01 baseline</a:t>
            </a:r>
          </a:p>
        </p:txBody>
      </p:sp>
      <p:sp>
        <p:nvSpPr>
          <p:cNvPr id="4" name="cover-a1">
            <a:extLst>
              <a:ext uri="{FF2B5EF4-FFF2-40B4-BE49-F238E27FC236}">
                <a16:creationId xmlns:a16="http://schemas.microsoft.com/office/drawing/2014/main" id="{5527D171-43F4-4C15-A53D-6E1213645891}"/>
              </a:ext>
            </a:extLst>
          </p:cNvPr>
          <p:cNvSpPr>
            <a:spLocks noGrp="1"/>
          </p:cNvSpPr>
          <p:nvPr/>
        </p:nvSpPr>
        <p:spPr>
          <a:xfrm>
            <a:off x="3209925" y="3857625"/>
            <a:ext cx="666750" cy="209550"/>
          </a:xfrm>
          <a:prstGeom prst="rightArrow">
            <a:avLst/>
          </a:prstGeom>
          <a:solidFill>
            <a:srgbClr val="C9D1D9"/>
          </a:solidFill>
          <a:ln w="0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cover-a2">
            <a:extLst>
              <a:ext uri="{FF2B5EF4-FFF2-40B4-BE49-F238E27FC236}">
                <a16:creationId xmlns:a16="http://schemas.microsoft.com/office/drawing/2014/main" id="{028E3429-6EBF-4087-8EE6-F0E9F36DCA1F}"/>
              </a:ext>
            </a:extLst>
          </p:cNvPr>
          <p:cNvSpPr>
            <a:spLocks noGrp="1"/>
          </p:cNvSpPr>
          <p:nvPr/>
        </p:nvSpPr>
        <p:spPr>
          <a:xfrm>
            <a:off x="7648575" y="3857625"/>
            <a:ext cx="666750" cy="209550"/>
          </a:xfrm>
          <a:prstGeom prst="rightArrow">
            <a:avLst/>
          </a:prstGeom>
          <a:solidFill>
            <a:srgbClr val="C9D1D9"/>
          </a:solidFill>
          <a:ln w="0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cover-n1-box">
            <a:extLst>
              <a:ext uri="{FF2B5EF4-FFF2-40B4-BE49-F238E27FC236}">
                <a16:creationId xmlns:a16="http://schemas.microsoft.com/office/drawing/2014/main" id="{FBAF8CFA-1BF5-4B72-8580-54CEEA7FEF80}"/>
              </a:ext>
            </a:extLst>
          </p:cNvPr>
          <p:cNvSpPr>
            <a:spLocks noGrp="1"/>
          </p:cNvSpPr>
          <p:nvPr/>
        </p:nvSpPr>
        <p:spPr>
          <a:xfrm>
            <a:off x="457200" y="3276600"/>
            <a:ext cx="2762250" cy="1390650"/>
          </a:xfrm>
          <a:prstGeom prst="roundRect">
            <a:avLst>
              <a:gd name="adj" fmla="val 5479"/>
            </a:avLst>
          </a:prstGeom>
          <a:solidFill>
            <a:srgbClr val="ECEFF2"/>
          </a:solidFill>
          <a:ln w="14288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cover-n1-title">
            <a:extLst>
              <a:ext uri="{FF2B5EF4-FFF2-40B4-BE49-F238E27FC236}">
                <a16:creationId xmlns:a16="http://schemas.microsoft.com/office/drawing/2014/main" id="{C0438749-9A73-4648-B0DC-309C83CDF06D}"/>
              </a:ext>
            </a:extLst>
          </p:cNvPr>
          <p:cNvSpPr>
            <a:spLocks noGrp="1"/>
          </p:cNvSpPr>
          <p:nvPr/>
        </p:nvSpPr>
        <p:spPr>
          <a:xfrm>
            <a:off x="590550" y="3390900"/>
            <a:ext cx="2495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Unverified sources</a:t>
            </a:r>
          </a:p>
        </p:txBody>
      </p:sp>
      <p:sp>
        <p:nvSpPr>
          <p:cNvPr id="8" name="cover-n1-subtitle">
            <a:extLst>
              <a:ext uri="{FF2B5EF4-FFF2-40B4-BE49-F238E27FC236}">
                <a16:creationId xmlns:a16="http://schemas.microsoft.com/office/drawing/2014/main" id="{EB78E61D-687B-4FAB-8DF3-EAC47C92ED78}"/>
              </a:ext>
            </a:extLst>
          </p:cNvPr>
          <p:cNvSpPr>
            <a:spLocks noGrp="1"/>
          </p:cNvSpPr>
          <p:nvPr/>
        </p:nvSpPr>
        <p:spPr>
          <a:xfrm>
            <a:off x="590550" y="3752850"/>
            <a:ext cx="24955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單一檔案 ≠ authority</a:t>
            </a:r>
          </a:p>
        </p:txBody>
      </p:sp>
      <p:sp>
        <p:nvSpPr>
          <p:cNvPr id="9" name="cover-n2-box">
            <a:extLst>
              <a:ext uri="{FF2B5EF4-FFF2-40B4-BE49-F238E27FC236}">
                <a16:creationId xmlns:a16="http://schemas.microsoft.com/office/drawing/2014/main" id="{6034E64C-820C-4135-86C4-725CEDA4CDBD}"/>
              </a:ext>
            </a:extLst>
          </p:cNvPr>
          <p:cNvSpPr>
            <a:spLocks noGrp="1"/>
          </p:cNvSpPr>
          <p:nvPr/>
        </p:nvSpPr>
        <p:spPr>
          <a:xfrm>
            <a:off x="3886200" y="3276600"/>
            <a:ext cx="3752850" cy="1390650"/>
          </a:xfrm>
          <a:prstGeom prst="roundRect">
            <a:avLst>
              <a:gd name="adj" fmla="val 5479"/>
            </a:avLst>
          </a:prstGeom>
          <a:solidFill>
            <a:srgbClr val="DCEEFF"/>
          </a:solidFill>
          <a:ln w="14288">
            <a:solidFill>
              <a:srgbClr val="1677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cover-n2-title">
            <a:extLst>
              <a:ext uri="{FF2B5EF4-FFF2-40B4-BE49-F238E27FC236}">
                <a16:creationId xmlns:a16="http://schemas.microsoft.com/office/drawing/2014/main" id="{F64C7E6B-357B-4F45-ABB7-9572044561D0}"/>
              </a:ext>
            </a:extLst>
          </p:cNvPr>
          <p:cNvSpPr>
            <a:spLocks noGrp="1"/>
          </p:cNvSpPr>
          <p:nvPr/>
        </p:nvSpPr>
        <p:spPr>
          <a:xfrm>
            <a:off x="4019550" y="3390900"/>
            <a:ext cx="3486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1677D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77D2"/>
                </a:solidFill>
                <a:latin typeface="Arial"/>
                <a:ea typeface="Arial"/>
                <a:cs typeface="Arial"/>
              </a:rPr>
              <a:t>Paired evidence</a:t>
            </a:r>
          </a:p>
        </p:txBody>
      </p:sp>
      <p:sp>
        <p:nvSpPr>
          <p:cNvPr id="11" name="cover-n2-subtitle">
            <a:extLst>
              <a:ext uri="{FF2B5EF4-FFF2-40B4-BE49-F238E27FC236}">
                <a16:creationId xmlns:a16="http://schemas.microsoft.com/office/drawing/2014/main" id="{4125B808-1603-4C12-92C5-20E951F8032C}"/>
              </a:ext>
            </a:extLst>
          </p:cNvPr>
          <p:cNvSpPr>
            <a:spLocks noGrp="1"/>
          </p:cNvSpPr>
          <p:nvPr/>
        </p:nvSpPr>
        <p:spPr>
          <a:xfrm>
            <a:off x="4019550" y="3752850"/>
            <a:ext cx="34861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Host pairing · version · active selection</a:t>
            </a:r>
          </a:p>
        </p:txBody>
      </p:sp>
      <p:sp>
        <p:nvSpPr>
          <p:cNvPr id="12" name="cover-n3-box">
            <a:extLst>
              <a:ext uri="{FF2B5EF4-FFF2-40B4-BE49-F238E27FC236}">
                <a16:creationId xmlns:a16="http://schemas.microsoft.com/office/drawing/2014/main" id="{FB4E49D8-B908-4CC5-A3CE-9EB964EDFBC3}"/>
              </a:ext>
            </a:extLst>
          </p:cNvPr>
          <p:cNvSpPr>
            <a:spLocks noGrp="1"/>
          </p:cNvSpPr>
          <p:nvPr/>
        </p:nvSpPr>
        <p:spPr>
          <a:xfrm>
            <a:off x="8324850" y="3276600"/>
            <a:ext cx="3409950" cy="1390650"/>
          </a:xfrm>
          <a:prstGeom prst="roundRect">
            <a:avLst>
              <a:gd name="adj" fmla="val 5479"/>
            </a:avLst>
          </a:prstGeom>
          <a:solidFill>
            <a:srgbClr val="DDF5EA"/>
          </a:solidFill>
          <a:ln w="14288">
            <a:solidFill>
              <a:srgbClr val="16865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cover-n3-title">
            <a:extLst>
              <a:ext uri="{FF2B5EF4-FFF2-40B4-BE49-F238E27FC236}">
                <a16:creationId xmlns:a16="http://schemas.microsoft.com/office/drawing/2014/main" id="{84FE4528-0F2C-4469-A24B-D7E9FB5F8C7E}"/>
              </a:ext>
            </a:extLst>
          </p:cNvPr>
          <p:cNvSpPr>
            <a:spLocks noGrp="1"/>
          </p:cNvSpPr>
          <p:nvPr/>
        </p:nvSpPr>
        <p:spPr>
          <a:xfrm>
            <a:off x="8458200" y="339090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16865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865B"/>
                </a:solidFill>
                <a:latin typeface="Arial"/>
                <a:ea typeface="Arial"/>
                <a:cs typeface="Arial"/>
              </a:rPr>
              <a:t>Reviewed baseline</a:t>
            </a:r>
          </a:p>
        </p:txBody>
      </p:sp>
      <p:sp>
        <p:nvSpPr>
          <p:cNvPr id="14" name="cover-n3-subtitle">
            <a:extLst>
              <a:ext uri="{FF2B5EF4-FFF2-40B4-BE49-F238E27FC236}">
                <a16:creationId xmlns:a16="http://schemas.microsoft.com/office/drawing/2014/main" id="{B1ECDA4E-B7CD-4D63-A17B-B147DFF097BA}"/>
              </a:ext>
            </a:extLst>
          </p:cNvPr>
          <p:cNvSpPr>
            <a:spLocks noGrp="1"/>
          </p:cNvSpPr>
          <p:nvPr/>
        </p:nvSpPr>
        <p:spPr>
          <a:xfrm>
            <a:off x="8458200" y="3752850"/>
            <a:ext cx="31432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Evidence mapping + Human Review</a:t>
            </a:r>
          </a:p>
        </p:txBody>
      </p:sp>
      <p:sp>
        <p:nvSpPr>
          <p:cNvPr id="15" name="cover-question">
            <a:extLst>
              <a:ext uri="{FF2B5EF4-FFF2-40B4-BE49-F238E27FC236}">
                <a16:creationId xmlns:a16="http://schemas.microsoft.com/office/drawing/2014/main" id="{92B5F556-235D-4F40-980C-7E6B5D318886}"/>
              </a:ext>
            </a:extLst>
          </p:cNvPr>
          <p:cNvSpPr>
            <a:spLocks noGrp="1"/>
          </p:cNvSpPr>
          <p:nvPr/>
        </p:nvSpPr>
        <p:spPr>
          <a:xfrm>
            <a:off x="457200" y="521970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1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核心問題：如何關閉 baseline 的 trust gap？</a:t>
            </a:r>
          </a:p>
        </p:txBody>
      </p:sp>
      <p:sp>
        <p:nvSpPr>
          <p:cNvPr id="16" name="cover-date">
            <a:extLst>
              <a:ext uri="{FF2B5EF4-FFF2-40B4-BE49-F238E27FC236}">
                <a16:creationId xmlns:a16="http://schemas.microsoft.com/office/drawing/2014/main" id="{4E59585E-E311-4455-AC01-D2AEA4F577AA}"/>
              </a:ext>
            </a:extLst>
          </p:cNvPr>
          <p:cNvSpPr>
            <a:spLocks noGrp="1"/>
          </p:cNvSpPr>
          <p:nvPr/>
        </p:nvSpPr>
        <p:spPr>
          <a:xfrm>
            <a:off x="10096500" y="6153150"/>
            <a:ext cx="1638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20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2026.07.14</a:t>
            </a:r>
          </a:p>
        </p:txBody>
      </p:sp>
    </p:spTree>
    <p:extLst>
      <p:ext uri="{BB962C8B-B14F-4D97-AF65-F5344CB8AC3E}">
        <p14:creationId xmlns:p14="http://schemas.microsoft.com/office/powerpoint/2010/main" val="10418266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kicker-2">
            <a:extLst>
              <a:ext uri="{FF2B5EF4-FFF2-40B4-BE49-F238E27FC236}">
                <a16:creationId xmlns:a16="http://schemas.microsoft.com/office/drawing/2014/main" id="{BB246609-7627-4FAD-9C0E-C25128D4B8CB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1677D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77D2"/>
                </a:solidFill>
                <a:latin typeface="Arial"/>
                <a:ea typeface="Arial"/>
                <a:cs typeface="Arial"/>
              </a:rPr>
              <a:t>2026.07.14</a:t>
            </a:r>
          </a:p>
        </p:txBody>
      </p:sp>
      <p:sp>
        <p:nvSpPr>
          <p:cNvPr id="2" name="title-2">
            <a:extLst>
              <a:ext uri="{FF2B5EF4-FFF2-40B4-BE49-F238E27FC236}">
                <a16:creationId xmlns:a16="http://schemas.microsoft.com/office/drawing/2014/main" id="{EFB7627C-D7AA-4887-9093-9B6C4BECA06B}"/>
              </a:ext>
            </a:extLst>
          </p:cNvPr>
          <p:cNvSpPr>
            <a:spLocks noGrp="1"/>
          </p:cNvSpPr>
          <p:nvPr/>
        </p:nvSpPr>
        <p:spPr>
          <a:xfrm>
            <a:off x="457200" y="533400"/>
            <a:ext cx="112776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34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原始目標：先閉合最小 SDR 核心路徑</a:t>
            </a:r>
          </a:p>
        </p:txBody>
      </p:sp>
      <p:sp>
        <p:nvSpPr>
          <p:cNvPr id="3" name="header-rule-2">
            <a:extLst>
              <a:ext uri="{FF2B5EF4-FFF2-40B4-BE49-F238E27FC236}">
                <a16:creationId xmlns:a16="http://schemas.microsoft.com/office/drawing/2014/main" id="{CFE90B52-0728-4649-A51D-D4B6ABA402A4}"/>
              </a:ext>
            </a:extLst>
          </p:cNvPr>
          <p:cNvSpPr>
            <a:spLocks noGrp="1"/>
          </p:cNvSpPr>
          <p:nvPr/>
        </p:nvSpPr>
        <p:spPr>
          <a:xfrm>
            <a:off x="457200" y="1200150"/>
            <a:ext cx="11277600" cy="19050"/>
          </a:xfrm>
          <a:prstGeom prst="rect">
            <a:avLst/>
          </a:prstGeom>
          <a:solidFill>
            <a:srgbClr val="1677D2"/>
          </a:solidFill>
          <a:ln w="0">
            <a:solidFill>
              <a:srgbClr val="1677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footer-label-2">
            <a:extLst>
              <a:ext uri="{FF2B5EF4-FFF2-40B4-BE49-F238E27FC236}">
                <a16:creationId xmlns:a16="http://schemas.microsoft.com/office/drawing/2014/main" id="{E5171E4E-6B84-4AD1-A1D8-416CFC3AAC18}"/>
              </a:ext>
            </a:extLst>
          </p:cNvPr>
          <p:cNvSpPr>
            <a:spLocks noGrp="1"/>
          </p:cNvSpPr>
          <p:nvPr/>
        </p:nvSpPr>
        <p:spPr>
          <a:xfrm>
            <a:off x="457200" y="6391275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LAB01 BASELINE RECOVERY</a:t>
            </a:r>
          </a:p>
        </p:txBody>
      </p:sp>
      <p:sp>
        <p:nvSpPr>
          <p:cNvPr id="5" name="footer-num-2">
            <a:extLst>
              <a:ext uri="{FF2B5EF4-FFF2-40B4-BE49-F238E27FC236}">
                <a16:creationId xmlns:a16="http://schemas.microsoft.com/office/drawing/2014/main" id="{2994124E-0E5B-40EF-8ACD-BE9F54B28214}"/>
              </a:ext>
            </a:extLst>
          </p:cNvPr>
          <p:cNvSpPr>
            <a:spLocks noGrp="1"/>
          </p:cNvSpPr>
          <p:nvPr/>
        </p:nvSpPr>
        <p:spPr>
          <a:xfrm>
            <a:off x="11163300" y="6372225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05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s2-a1">
            <a:extLst>
              <a:ext uri="{FF2B5EF4-FFF2-40B4-BE49-F238E27FC236}">
                <a16:creationId xmlns:a16="http://schemas.microsoft.com/office/drawing/2014/main" id="{855121EF-8F5A-45C8-AF09-980AA6937C4D}"/>
              </a:ext>
            </a:extLst>
          </p:cNvPr>
          <p:cNvSpPr>
            <a:spLocks noGrp="1"/>
          </p:cNvSpPr>
          <p:nvPr/>
        </p:nvSpPr>
        <p:spPr>
          <a:xfrm>
            <a:off x="3276600" y="2971800"/>
            <a:ext cx="1047750" cy="285750"/>
          </a:xfrm>
          <a:prstGeom prst="rightArrow">
            <a:avLst/>
          </a:prstGeom>
          <a:solidFill>
            <a:srgbClr val="1677D2"/>
          </a:solidFill>
          <a:ln w="0">
            <a:solidFill>
              <a:srgbClr val="1677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2-a2">
            <a:extLst>
              <a:ext uri="{FF2B5EF4-FFF2-40B4-BE49-F238E27FC236}">
                <a16:creationId xmlns:a16="http://schemas.microsoft.com/office/drawing/2014/main" id="{52B753B0-A671-4726-AE0E-9CB741CF6FED}"/>
              </a:ext>
            </a:extLst>
          </p:cNvPr>
          <p:cNvSpPr>
            <a:spLocks noGrp="1"/>
          </p:cNvSpPr>
          <p:nvPr/>
        </p:nvSpPr>
        <p:spPr>
          <a:xfrm>
            <a:off x="7410450" y="2971800"/>
            <a:ext cx="1047750" cy="285750"/>
          </a:xfrm>
          <a:prstGeom prst="rightArrow">
            <a:avLst/>
          </a:prstGeom>
          <a:solidFill>
            <a:srgbClr val="1677D2"/>
          </a:solidFill>
          <a:ln w="0">
            <a:solidFill>
              <a:srgbClr val="1677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2-linux1-box">
            <a:extLst>
              <a:ext uri="{FF2B5EF4-FFF2-40B4-BE49-F238E27FC236}">
                <a16:creationId xmlns:a16="http://schemas.microsoft.com/office/drawing/2014/main" id="{5E10861A-A7EA-47D1-BC86-12DD3558F964}"/>
              </a:ext>
            </a:extLst>
          </p:cNvPr>
          <p:cNvSpPr>
            <a:spLocks noGrp="1"/>
          </p:cNvSpPr>
          <p:nvPr/>
        </p:nvSpPr>
        <p:spPr>
          <a:xfrm>
            <a:off x="685800" y="2114550"/>
            <a:ext cx="2590800" cy="2038350"/>
          </a:xfrm>
          <a:prstGeom prst="roundRect">
            <a:avLst>
              <a:gd name="adj" fmla="val 3738"/>
            </a:avLst>
          </a:prstGeom>
          <a:solidFill>
            <a:srgbClr val="F1F4F7"/>
          </a:solidFill>
          <a:ln w="14288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2-linux1-title">
            <a:extLst>
              <a:ext uri="{FF2B5EF4-FFF2-40B4-BE49-F238E27FC236}">
                <a16:creationId xmlns:a16="http://schemas.microsoft.com/office/drawing/2014/main" id="{B95C54A6-474C-4089-BA32-91307529C34D}"/>
              </a:ext>
            </a:extLst>
          </p:cNvPr>
          <p:cNvSpPr>
            <a:spLocks noGrp="1"/>
          </p:cNvSpPr>
          <p:nvPr/>
        </p:nvSpPr>
        <p:spPr>
          <a:xfrm>
            <a:off x="819150" y="2228850"/>
            <a:ext cx="2324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9947"/>
          </a:bodyPr>
          <a:lstStyle/>
          <a:p>
            <a:pPr algn="ctr">
              <a:lnSpc>
                <a:spcPct val="105000"/>
              </a:lnSpc>
              <a:buNone/>
              <a:defRPr sz="22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Linux1</a:t>
            </a:r>
          </a:p>
        </p:txBody>
      </p:sp>
      <p:sp>
        <p:nvSpPr>
          <p:cNvPr id="10" name="s2-linux1-subtitle">
            <a:extLst>
              <a:ext uri="{FF2B5EF4-FFF2-40B4-BE49-F238E27FC236}">
                <a16:creationId xmlns:a16="http://schemas.microsoft.com/office/drawing/2014/main" id="{A7976851-892A-4DEB-A4E6-39ABC11F5B3F}"/>
              </a:ext>
            </a:extLst>
          </p:cNvPr>
          <p:cNvSpPr>
            <a:spLocks noGrp="1"/>
          </p:cNvSpPr>
          <p:nvPr/>
        </p:nvSpPr>
        <p:spPr>
          <a:xfrm>
            <a:off x="819150" y="2590800"/>
            <a:ext cx="2324100" cy="1485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6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EPC + eNB</a:t>
            </a:r>
          </a:p>
          <a:p>
            <a:pPr algn="ctr">
              <a:lnSpc>
                <a:spcPct val="105000"/>
              </a:lnSpc>
              <a:buNone/>
              <a:defRPr sz="16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核心網與基地台</a:t>
            </a:r>
          </a:p>
        </p:txBody>
      </p:sp>
      <p:sp>
        <p:nvSpPr>
          <p:cNvPr id="11" name="s2-zmq-box">
            <a:extLst>
              <a:ext uri="{FF2B5EF4-FFF2-40B4-BE49-F238E27FC236}">
                <a16:creationId xmlns:a16="http://schemas.microsoft.com/office/drawing/2014/main" id="{1004D311-4761-4100-BD64-5DE51977532B}"/>
              </a:ext>
            </a:extLst>
          </p:cNvPr>
          <p:cNvSpPr>
            <a:spLocks noGrp="1"/>
          </p:cNvSpPr>
          <p:nvPr/>
        </p:nvSpPr>
        <p:spPr>
          <a:xfrm>
            <a:off x="4324350" y="2114550"/>
            <a:ext cx="3086100" cy="2038350"/>
          </a:xfrm>
          <a:prstGeom prst="roundRect">
            <a:avLst>
              <a:gd name="adj" fmla="val 3738"/>
            </a:avLst>
          </a:prstGeom>
          <a:solidFill>
            <a:srgbClr val="DCEEFF"/>
          </a:solidFill>
          <a:ln w="14288">
            <a:solidFill>
              <a:srgbClr val="1677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s2-zmq-title">
            <a:extLst>
              <a:ext uri="{FF2B5EF4-FFF2-40B4-BE49-F238E27FC236}">
                <a16:creationId xmlns:a16="http://schemas.microsoft.com/office/drawing/2014/main" id="{57D91E9D-2DAB-4031-83D3-59300ACC2C0E}"/>
              </a:ext>
            </a:extLst>
          </p:cNvPr>
          <p:cNvSpPr>
            <a:spLocks noGrp="1"/>
          </p:cNvSpPr>
          <p:nvPr/>
        </p:nvSpPr>
        <p:spPr>
          <a:xfrm>
            <a:off x="4457700" y="2228850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9947"/>
          </a:bodyPr>
          <a:lstStyle/>
          <a:p>
            <a:pPr algn="ctr">
              <a:lnSpc>
                <a:spcPct val="105000"/>
              </a:lnSpc>
              <a:buNone/>
              <a:defRPr sz="2250" b="1">
                <a:solidFill>
                  <a:srgbClr val="1677D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77D2"/>
                </a:solidFill>
                <a:latin typeface="Arial"/>
                <a:ea typeface="Arial"/>
                <a:cs typeface="Arial"/>
              </a:rPr>
              <a:t>ZeroMQ</a:t>
            </a:r>
          </a:p>
        </p:txBody>
      </p:sp>
      <p:sp>
        <p:nvSpPr>
          <p:cNvPr id="13" name="s2-zmq-subtitle">
            <a:extLst>
              <a:ext uri="{FF2B5EF4-FFF2-40B4-BE49-F238E27FC236}">
                <a16:creationId xmlns:a16="http://schemas.microsoft.com/office/drawing/2014/main" id="{5A9AF422-DC4D-4EE1-A02C-446C03C97B74}"/>
              </a:ext>
            </a:extLst>
          </p:cNvPr>
          <p:cNvSpPr>
            <a:spLocks noGrp="1"/>
          </p:cNvSpPr>
          <p:nvPr/>
        </p:nvSpPr>
        <p:spPr>
          <a:xfrm>
            <a:off x="4457700" y="2590800"/>
            <a:ext cx="2819400" cy="1485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雙向 baseband RF sample transport</a:t>
            </a:r>
          </a:p>
          <a:p>
            <a:pPr algn="ctr">
              <a:lnSpc>
                <a:spcPct val="105000"/>
              </a:lnSpc>
              <a:buNone/>
              <a:defRPr sz="15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非實體 OTA</a:t>
            </a:r>
          </a:p>
        </p:txBody>
      </p:sp>
      <p:sp>
        <p:nvSpPr>
          <p:cNvPr id="14" name="s2-linux2-box">
            <a:extLst>
              <a:ext uri="{FF2B5EF4-FFF2-40B4-BE49-F238E27FC236}">
                <a16:creationId xmlns:a16="http://schemas.microsoft.com/office/drawing/2014/main" id="{E6E36498-C736-41AE-921E-211E567E4169}"/>
              </a:ext>
            </a:extLst>
          </p:cNvPr>
          <p:cNvSpPr>
            <a:spLocks noGrp="1"/>
          </p:cNvSpPr>
          <p:nvPr/>
        </p:nvSpPr>
        <p:spPr>
          <a:xfrm>
            <a:off x="8458200" y="2114550"/>
            <a:ext cx="2590800" cy="2038350"/>
          </a:xfrm>
          <a:prstGeom prst="roundRect">
            <a:avLst>
              <a:gd name="adj" fmla="val 3738"/>
            </a:avLst>
          </a:prstGeom>
          <a:solidFill>
            <a:srgbClr val="F1F4F7"/>
          </a:solidFill>
          <a:ln w="14288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s2-linux2-title">
            <a:extLst>
              <a:ext uri="{FF2B5EF4-FFF2-40B4-BE49-F238E27FC236}">
                <a16:creationId xmlns:a16="http://schemas.microsoft.com/office/drawing/2014/main" id="{446FBB0B-6A7E-4075-BFF3-B04FD35060CC}"/>
              </a:ext>
            </a:extLst>
          </p:cNvPr>
          <p:cNvSpPr>
            <a:spLocks noGrp="1"/>
          </p:cNvSpPr>
          <p:nvPr/>
        </p:nvSpPr>
        <p:spPr>
          <a:xfrm>
            <a:off x="8591550" y="2228850"/>
            <a:ext cx="2324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9947"/>
          </a:bodyPr>
          <a:lstStyle/>
          <a:p>
            <a:pPr algn="ctr">
              <a:lnSpc>
                <a:spcPct val="105000"/>
              </a:lnSpc>
              <a:buNone/>
              <a:defRPr sz="22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Linux2</a:t>
            </a:r>
          </a:p>
        </p:txBody>
      </p:sp>
      <p:sp>
        <p:nvSpPr>
          <p:cNvPr id="16" name="s2-linux2-subtitle">
            <a:extLst>
              <a:ext uri="{FF2B5EF4-FFF2-40B4-BE49-F238E27FC236}">
                <a16:creationId xmlns:a16="http://schemas.microsoft.com/office/drawing/2014/main" id="{9525898A-5401-4DD3-BD61-8698A08E2757}"/>
              </a:ext>
            </a:extLst>
          </p:cNvPr>
          <p:cNvSpPr>
            <a:spLocks noGrp="1"/>
          </p:cNvSpPr>
          <p:nvPr/>
        </p:nvSpPr>
        <p:spPr>
          <a:xfrm>
            <a:off x="8591550" y="2590800"/>
            <a:ext cx="2324100" cy="1485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6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UE</a:t>
            </a:r>
          </a:p>
          <a:p>
            <a:pPr algn="ctr">
              <a:lnSpc>
                <a:spcPct val="105000"/>
              </a:lnSpc>
              <a:buNone/>
              <a:defRPr sz="16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搜尋、接入與 Attach</a:t>
            </a:r>
          </a:p>
        </p:txBody>
      </p:sp>
      <p:sp>
        <p:nvSpPr>
          <p:cNvPr id="17" name="s2-attach-bg">
            <a:extLst>
              <a:ext uri="{FF2B5EF4-FFF2-40B4-BE49-F238E27FC236}">
                <a16:creationId xmlns:a16="http://schemas.microsoft.com/office/drawing/2014/main" id="{9682AAD5-1AB6-4227-B56D-39D76619CA13}"/>
              </a:ext>
            </a:extLst>
          </p:cNvPr>
          <p:cNvSpPr>
            <a:spLocks noGrp="1"/>
          </p:cNvSpPr>
          <p:nvPr/>
        </p:nvSpPr>
        <p:spPr>
          <a:xfrm>
            <a:off x="2743200" y="4533900"/>
            <a:ext cx="6248400" cy="457200"/>
          </a:xfrm>
          <a:prstGeom prst="roundRect">
            <a:avLst>
              <a:gd name="adj" fmla="val 16667"/>
            </a:avLst>
          </a:prstGeom>
          <a:solidFill>
            <a:srgbClr val="DDF5EA"/>
          </a:solidFill>
          <a:ln w="9525">
            <a:solidFill>
              <a:srgbClr val="16865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s2-attach-text">
            <a:extLst>
              <a:ext uri="{FF2B5EF4-FFF2-40B4-BE49-F238E27FC236}">
                <a16:creationId xmlns:a16="http://schemas.microsoft.com/office/drawing/2014/main" id="{5BB6803F-66C3-4211-83DD-B6FB0BD81C25}"/>
              </a:ext>
            </a:extLst>
          </p:cNvPr>
          <p:cNvSpPr>
            <a:spLocks noGrp="1"/>
          </p:cNvSpPr>
          <p:nvPr/>
        </p:nvSpPr>
        <p:spPr>
          <a:xfrm>
            <a:off x="2743200" y="4533900"/>
            <a:ext cx="6248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16865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865B"/>
                </a:solidFill>
                <a:latin typeface="Arial"/>
                <a:ea typeface="Arial"/>
                <a:cs typeface="Arial"/>
              </a:rPr>
              <a:t>已驗證核心：Attach + IP + 雙向 ICMP</a:t>
            </a:r>
          </a:p>
        </p:txBody>
      </p:sp>
      <p:sp>
        <p:nvSpPr>
          <p:cNvPr id="19" name="s2-ip">
            <a:extLst>
              <a:ext uri="{FF2B5EF4-FFF2-40B4-BE49-F238E27FC236}">
                <a16:creationId xmlns:a16="http://schemas.microsoft.com/office/drawing/2014/main" id="{24FD73C8-B6DB-4816-87A9-A2B419EB67BA}"/>
              </a:ext>
            </a:extLst>
          </p:cNvPr>
          <p:cNvSpPr>
            <a:spLocks noGrp="1"/>
          </p:cNvSpPr>
          <p:nvPr/>
        </p:nvSpPr>
        <p:spPr>
          <a:xfrm>
            <a:off x="4000500" y="5105400"/>
            <a:ext cx="3733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2025" b="1">
                <a:solidFill>
                  <a:srgbClr val="16865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6865B"/>
                </a:solidFill>
                <a:latin typeface="Arial"/>
                <a:ea typeface="Arial"/>
                <a:cs typeface="Arial"/>
              </a:rPr>
              <a:t>172.16.0.1  ↔  172.16.0.2</a:t>
            </a:r>
          </a:p>
        </p:txBody>
      </p:sp>
      <p:sp>
        <p:nvSpPr>
          <p:cNvPr id="20" name="s2-not-bg">
            <a:extLst>
              <a:ext uri="{FF2B5EF4-FFF2-40B4-BE49-F238E27FC236}">
                <a16:creationId xmlns:a16="http://schemas.microsoft.com/office/drawing/2014/main" id="{8B68B84C-BB1B-403F-B492-D8BDC074BDC0}"/>
              </a:ext>
            </a:extLst>
          </p:cNvPr>
          <p:cNvSpPr>
            <a:spLocks noGrp="1"/>
          </p:cNvSpPr>
          <p:nvPr/>
        </p:nvSpPr>
        <p:spPr>
          <a:xfrm>
            <a:off x="2095500" y="5676900"/>
            <a:ext cx="7543800" cy="400050"/>
          </a:xfrm>
          <a:prstGeom prst="roundRect">
            <a:avLst>
              <a:gd name="adj" fmla="val 19048"/>
            </a:avLst>
          </a:prstGeom>
          <a:solidFill>
            <a:srgbClr val="ECEFF2"/>
          </a:solidFill>
          <a:ln w="9525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s2-not-text">
            <a:extLst>
              <a:ext uri="{FF2B5EF4-FFF2-40B4-BE49-F238E27FC236}">
                <a16:creationId xmlns:a16="http://schemas.microsoft.com/office/drawing/2014/main" id="{A84F32D4-EB85-4E0A-94D4-3C874B51F628}"/>
              </a:ext>
            </a:extLst>
          </p:cNvPr>
          <p:cNvSpPr>
            <a:spLocks noGrp="1"/>
          </p:cNvSpPr>
          <p:nvPr/>
        </p:nvSpPr>
        <p:spPr>
          <a:xfrm>
            <a:off x="2095500" y="5676900"/>
            <a:ext cx="7543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B7280"/>
                </a:solidFill>
                <a:latin typeface="Arial"/>
                <a:ea typeface="Arial"/>
                <a:cs typeface="Arial"/>
              </a:rPr>
              <a:t>NOT TESTED · NAT / Internet / TCP / iperf3 / Wireshark</a:t>
            </a:r>
          </a:p>
        </p:txBody>
      </p:sp>
    </p:spTree>
    <p:extLst>
      <p:ext uri="{BB962C8B-B14F-4D97-AF65-F5344CB8AC3E}">
        <p14:creationId xmlns:p14="http://schemas.microsoft.com/office/powerpoint/2010/main" val="86155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kicker-3">
            <a:extLst>
              <a:ext uri="{FF2B5EF4-FFF2-40B4-BE49-F238E27FC236}">
                <a16:creationId xmlns:a16="http://schemas.microsoft.com/office/drawing/2014/main" id="{79124AB0-DA94-48D1-B4E8-27D8938307C2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1677D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77D2"/>
                </a:solidFill>
                <a:latin typeface="Arial"/>
                <a:ea typeface="Arial"/>
                <a:cs typeface="Arial"/>
              </a:rPr>
              <a:t>2026.07.14</a:t>
            </a:r>
          </a:p>
        </p:txBody>
      </p:sp>
      <p:sp>
        <p:nvSpPr>
          <p:cNvPr id="2" name="title-3">
            <a:extLst>
              <a:ext uri="{FF2B5EF4-FFF2-40B4-BE49-F238E27FC236}">
                <a16:creationId xmlns:a16="http://schemas.microsoft.com/office/drawing/2014/main" id="{CDEE2923-A033-47C7-BF31-1B27C15CCBED}"/>
              </a:ext>
            </a:extLst>
          </p:cNvPr>
          <p:cNvSpPr>
            <a:spLocks noGrp="1"/>
          </p:cNvSpPr>
          <p:nvPr/>
        </p:nvSpPr>
        <p:spPr>
          <a:xfrm>
            <a:off x="457200" y="533400"/>
            <a:ext cx="112776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34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Baseline recovery 先分清：保留、範圍外、仍待確認</a:t>
            </a:r>
          </a:p>
        </p:txBody>
      </p:sp>
      <p:sp>
        <p:nvSpPr>
          <p:cNvPr id="3" name="header-rule-3">
            <a:extLst>
              <a:ext uri="{FF2B5EF4-FFF2-40B4-BE49-F238E27FC236}">
                <a16:creationId xmlns:a16="http://schemas.microsoft.com/office/drawing/2014/main" id="{8E75FA47-E97E-4AA5-BB79-8C50CABF4B76}"/>
              </a:ext>
            </a:extLst>
          </p:cNvPr>
          <p:cNvSpPr>
            <a:spLocks noGrp="1"/>
          </p:cNvSpPr>
          <p:nvPr/>
        </p:nvSpPr>
        <p:spPr>
          <a:xfrm>
            <a:off x="457200" y="1200150"/>
            <a:ext cx="11277600" cy="19050"/>
          </a:xfrm>
          <a:prstGeom prst="rect">
            <a:avLst/>
          </a:prstGeom>
          <a:solidFill>
            <a:srgbClr val="1677D2"/>
          </a:solidFill>
          <a:ln w="0">
            <a:solidFill>
              <a:srgbClr val="1677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footer-label-3">
            <a:extLst>
              <a:ext uri="{FF2B5EF4-FFF2-40B4-BE49-F238E27FC236}">
                <a16:creationId xmlns:a16="http://schemas.microsoft.com/office/drawing/2014/main" id="{BC350AB5-95DD-450A-AD1A-DB21151B21B6}"/>
              </a:ext>
            </a:extLst>
          </p:cNvPr>
          <p:cNvSpPr>
            <a:spLocks noGrp="1"/>
          </p:cNvSpPr>
          <p:nvPr/>
        </p:nvSpPr>
        <p:spPr>
          <a:xfrm>
            <a:off x="457200" y="6391275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LAB01 BASELINE RECOVERY</a:t>
            </a:r>
          </a:p>
        </p:txBody>
      </p:sp>
      <p:sp>
        <p:nvSpPr>
          <p:cNvPr id="5" name="footer-num-3">
            <a:extLst>
              <a:ext uri="{FF2B5EF4-FFF2-40B4-BE49-F238E27FC236}">
                <a16:creationId xmlns:a16="http://schemas.microsoft.com/office/drawing/2014/main" id="{1397985B-E687-4CBC-960F-B5D772B8F641}"/>
              </a:ext>
            </a:extLst>
          </p:cNvPr>
          <p:cNvSpPr>
            <a:spLocks noGrp="1"/>
          </p:cNvSpPr>
          <p:nvPr/>
        </p:nvSpPr>
        <p:spPr>
          <a:xfrm>
            <a:off x="11163300" y="6372225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05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s3-left-head">
            <a:extLst>
              <a:ext uri="{FF2B5EF4-FFF2-40B4-BE49-F238E27FC236}">
                <a16:creationId xmlns:a16="http://schemas.microsoft.com/office/drawing/2014/main" id="{753F4D44-1312-4D3D-A23B-E5CFC2B440D7}"/>
              </a:ext>
            </a:extLst>
          </p:cNvPr>
          <p:cNvSpPr>
            <a:spLocks noGrp="1"/>
          </p:cNvSpPr>
          <p:nvPr/>
        </p:nvSpPr>
        <p:spPr>
          <a:xfrm>
            <a:off x="514350" y="1485900"/>
            <a:ext cx="6381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0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Residue classification</a:t>
            </a:r>
          </a:p>
        </p:txBody>
      </p:sp>
      <p:sp>
        <p:nvSpPr>
          <p:cNvPr id="7" name="s3-out-authority-box">
            <a:extLst>
              <a:ext uri="{FF2B5EF4-FFF2-40B4-BE49-F238E27FC236}">
                <a16:creationId xmlns:a16="http://schemas.microsoft.com/office/drawing/2014/main" id="{9A04DD26-D13C-4C7E-A032-F0CC173B7243}"/>
              </a:ext>
            </a:extLst>
          </p:cNvPr>
          <p:cNvSpPr>
            <a:spLocks noGrp="1"/>
          </p:cNvSpPr>
          <p:nvPr/>
        </p:nvSpPr>
        <p:spPr>
          <a:xfrm>
            <a:off x="514350" y="2095500"/>
            <a:ext cx="2914650" cy="1352550"/>
          </a:xfrm>
          <a:prstGeom prst="roundRect">
            <a:avLst>
              <a:gd name="adj" fmla="val 5634"/>
            </a:avLst>
          </a:prstGeom>
          <a:solidFill>
            <a:srgbClr val="FCE7E5"/>
          </a:solidFill>
          <a:ln w="14288">
            <a:solidFill>
              <a:srgbClr val="C2413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3-out-authority-title">
            <a:extLst>
              <a:ext uri="{FF2B5EF4-FFF2-40B4-BE49-F238E27FC236}">
                <a16:creationId xmlns:a16="http://schemas.microsoft.com/office/drawing/2014/main" id="{783C4F14-09F6-4CC7-AB1C-415E30BC34B8}"/>
              </a:ext>
            </a:extLst>
          </p:cNvPr>
          <p:cNvSpPr>
            <a:spLocks noGrp="1"/>
          </p:cNvSpPr>
          <p:nvPr/>
        </p:nvSpPr>
        <p:spPr>
          <a:xfrm>
            <a:off x="647700" y="2209800"/>
            <a:ext cx="2647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C241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2413A"/>
                </a:solidFill>
                <a:latin typeface="Arial"/>
                <a:ea typeface="Arial"/>
                <a:cs typeface="Arial"/>
              </a:rPr>
              <a:t>不納入 Lab01 權威</a:t>
            </a:r>
          </a:p>
        </p:txBody>
      </p:sp>
      <p:sp>
        <p:nvSpPr>
          <p:cNvPr id="9" name="s3-out-authority-subtitle">
            <a:extLst>
              <a:ext uri="{FF2B5EF4-FFF2-40B4-BE49-F238E27FC236}">
                <a16:creationId xmlns:a16="http://schemas.microsoft.com/office/drawing/2014/main" id="{C0FB72B6-604C-470A-B24D-526EEB8CF68C}"/>
              </a:ext>
            </a:extLst>
          </p:cNvPr>
          <p:cNvSpPr>
            <a:spLocks noGrp="1"/>
          </p:cNvSpPr>
          <p:nvPr/>
        </p:nvSpPr>
        <p:spPr>
          <a:xfrm>
            <a:off x="647700" y="2571750"/>
            <a:ext cx="26479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eMBMS · MBSFN · SIB13 · M1</a:t>
            </a:r>
          </a:p>
          <a:p>
            <a:pPr algn="l">
              <a:lnSpc>
                <a:spcPct val="105000"/>
              </a:lnSpc>
              <a:buNone/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分類為 Lab02 residue</a:t>
            </a:r>
          </a:p>
        </p:txBody>
      </p:sp>
      <p:sp>
        <p:nvSpPr>
          <p:cNvPr id="10" name="s3-preserve-box">
            <a:extLst>
              <a:ext uri="{FF2B5EF4-FFF2-40B4-BE49-F238E27FC236}">
                <a16:creationId xmlns:a16="http://schemas.microsoft.com/office/drawing/2014/main" id="{D92780BF-3B20-4C4B-9E66-431779CDB522}"/>
              </a:ext>
            </a:extLst>
          </p:cNvPr>
          <p:cNvSpPr>
            <a:spLocks noGrp="1"/>
          </p:cNvSpPr>
          <p:nvPr/>
        </p:nvSpPr>
        <p:spPr>
          <a:xfrm>
            <a:off x="3676650" y="2095500"/>
            <a:ext cx="2914650" cy="1352550"/>
          </a:xfrm>
          <a:prstGeom prst="roundRect">
            <a:avLst>
              <a:gd name="adj" fmla="val 5634"/>
            </a:avLst>
          </a:prstGeom>
          <a:solidFill>
            <a:srgbClr val="DDF5EA"/>
          </a:solidFill>
          <a:ln w="14288">
            <a:solidFill>
              <a:srgbClr val="16865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s3-preserve-title">
            <a:extLst>
              <a:ext uri="{FF2B5EF4-FFF2-40B4-BE49-F238E27FC236}">
                <a16:creationId xmlns:a16="http://schemas.microsoft.com/office/drawing/2014/main" id="{A53718E8-E7E0-4505-8713-317AD460DE34}"/>
              </a:ext>
            </a:extLst>
          </p:cNvPr>
          <p:cNvSpPr>
            <a:spLocks noGrp="1"/>
          </p:cNvSpPr>
          <p:nvPr/>
        </p:nvSpPr>
        <p:spPr>
          <a:xfrm>
            <a:off x="3810000" y="2209800"/>
            <a:ext cx="2647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16865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865B"/>
                </a:solidFill>
                <a:latin typeface="Arial"/>
                <a:ea typeface="Arial"/>
                <a:cs typeface="Arial"/>
              </a:rPr>
              <a:t>PRESERVE</a:t>
            </a:r>
          </a:p>
        </p:txBody>
      </p:sp>
      <p:sp>
        <p:nvSpPr>
          <p:cNvPr id="12" name="s3-preserve-subtitle">
            <a:extLst>
              <a:ext uri="{FF2B5EF4-FFF2-40B4-BE49-F238E27FC236}">
                <a16:creationId xmlns:a16="http://schemas.microsoft.com/office/drawing/2014/main" id="{404A5DC1-1589-4801-95C5-03692F8FA3EE}"/>
              </a:ext>
            </a:extLst>
          </p:cNvPr>
          <p:cNvSpPr>
            <a:spLocks noGrp="1"/>
          </p:cNvSpPr>
          <p:nvPr/>
        </p:nvSpPr>
        <p:spPr>
          <a:xfrm>
            <a:off x="3810000" y="2571750"/>
            <a:ext cx="26479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ZeroMQ</a:t>
            </a:r>
          </a:p>
          <a:p>
            <a:pPr algn="l">
              <a:lnSpc>
                <a:spcPct val="105000"/>
              </a:lnSpc>
              <a:buNone/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Lab01 sample transport</a:t>
            </a:r>
          </a:p>
        </p:txBody>
      </p:sp>
      <p:sp>
        <p:nvSpPr>
          <p:cNvPr id="13" name="s3-classify-box">
            <a:extLst>
              <a:ext uri="{FF2B5EF4-FFF2-40B4-BE49-F238E27FC236}">
                <a16:creationId xmlns:a16="http://schemas.microsoft.com/office/drawing/2014/main" id="{E8534276-0268-4A64-95DC-84DF2EFD412A}"/>
              </a:ext>
            </a:extLst>
          </p:cNvPr>
          <p:cNvSpPr>
            <a:spLocks noGrp="1"/>
          </p:cNvSpPr>
          <p:nvPr/>
        </p:nvSpPr>
        <p:spPr>
          <a:xfrm>
            <a:off x="514350" y="3752850"/>
            <a:ext cx="6076950" cy="1352550"/>
          </a:xfrm>
          <a:prstGeom prst="roundRect">
            <a:avLst>
              <a:gd name="adj" fmla="val 5634"/>
            </a:avLst>
          </a:prstGeom>
          <a:solidFill>
            <a:srgbClr val="FFF0D5"/>
          </a:solidFill>
          <a:ln w="14288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3-classify-title">
            <a:extLst>
              <a:ext uri="{FF2B5EF4-FFF2-40B4-BE49-F238E27FC236}">
                <a16:creationId xmlns:a16="http://schemas.microsoft.com/office/drawing/2014/main" id="{FC4CF9D5-8F7C-4221-BF22-AF1F88FAB219}"/>
              </a:ext>
            </a:extLst>
          </p:cNvPr>
          <p:cNvSpPr>
            <a:spLocks noGrp="1"/>
          </p:cNvSpPr>
          <p:nvPr/>
        </p:nvSpPr>
        <p:spPr>
          <a:xfrm>
            <a:off x="647700" y="3867150"/>
            <a:ext cx="581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CLASSIFY</a:t>
            </a:r>
          </a:p>
        </p:txBody>
      </p:sp>
      <p:sp>
        <p:nvSpPr>
          <p:cNvPr id="15" name="s3-classify-subtitle">
            <a:extLst>
              <a:ext uri="{FF2B5EF4-FFF2-40B4-BE49-F238E27FC236}">
                <a16:creationId xmlns:a16="http://schemas.microsoft.com/office/drawing/2014/main" id="{94CDD41E-5887-4C19-AD04-B26A3A5B0881}"/>
              </a:ext>
            </a:extLst>
          </p:cNvPr>
          <p:cNvSpPr>
            <a:spLocks noGrp="1"/>
          </p:cNvSpPr>
          <p:nvPr/>
        </p:nvSpPr>
        <p:spPr>
          <a:xfrm>
            <a:off x="647700" y="4229100"/>
            <a:ext cx="58102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scheduler · expert · PHY</a:t>
            </a:r>
          </a:p>
          <a:p>
            <a:pPr algn="l">
              <a:lnSpc>
                <a:spcPct val="105000"/>
              </a:lnSpc>
              <a:buNone/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CONFIRMED / CANDIDATE / UNKNOWN</a:t>
            </a:r>
          </a:p>
        </p:txBody>
      </p:sp>
      <p:sp>
        <p:nvSpPr>
          <p:cNvPr id="16" name="s3-right-head">
            <a:extLst>
              <a:ext uri="{FF2B5EF4-FFF2-40B4-BE49-F238E27FC236}">
                <a16:creationId xmlns:a16="http://schemas.microsoft.com/office/drawing/2014/main" id="{B5D4DF7C-CC3C-423F-ACC8-24A0121EF58E}"/>
              </a:ext>
            </a:extLst>
          </p:cNvPr>
          <p:cNvSpPr>
            <a:spLocks noGrp="1"/>
          </p:cNvSpPr>
          <p:nvPr/>
        </p:nvSpPr>
        <p:spPr>
          <a:xfrm>
            <a:off x="7239000" y="1485900"/>
            <a:ext cx="4000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0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Source authority</a:t>
            </a:r>
          </a:p>
        </p:txBody>
      </p:sp>
      <p:sp>
        <p:nvSpPr>
          <p:cNvPr id="17" name="s3-ladder-0">
            <a:extLst>
              <a:ext uri="{FF2B5EF4-FFF2-40B4-BE49-F238E27FC236}">
                <a16:creationId xmlns:a16="http://schemas.microsoft.com/office/drawing/2014/main" id="{6A8FEF23-EAB7-4B57-9297-0D08100917BB}"/>
              </a:ext>
            </a:extLst>
          </p:cNvPr>
          <p:cNvSpPr>
            <a:spLocks noGrp="1"/>
          </p:cNvSpPr>
          <p:nvPr/>
        </p:nvSpPr>
        <p:spPr>
          <a:xfrm>
            <a:off x="7239000" y="2095500"/>
            <a:ext cx="4000500" cy="514350"/>
          </a:xfrm>
          <a:prstGeom prst="rect">
            <a:avLst/>
          </a:prstGeom>
          <a:solidFill>
            <a:srgbClr val="DDF5EA"/>
          </a:solidFill>
          <a:ln w="9525">
            <a:solidFill>
              <a:srgbClr val="16865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s3-ladder-t-0">
            <a:extLst>
              <a:ext uri="{FF2B5EF4-FFF2-40B4-BE49-F238E27FC236}">
                <a16:creationId xmlns:a16="http://schemas.microsoft.com/office/drawing/2014/main" id="{264DC228-3AE7-48F6-AB43-A3BC977700D0}"/>
              </a:ext>
            </a:extLst>
          </p:cNvPr>
          <p:cNvSpPr>
            <a:spLocks noGrp="1"/>
          </p:cNvSpPr>
          <p:nvPr/>
        </p:nvSpPr>
        <p:spPr>
          <a:xfrm>
            <a:off x="7372350" y="2181225"/>
            <a:ext cx="3714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16865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865B"/>
                </a:solidFill>
                <a:latin typeface="Arial"/>
                <a:ea typeface="Arial"/>
                <a:cs typeface="Arial"/>
              </a:rPr>
              <a:t>1  Successful runtime evidence</a:t>
            </a:r>
          </a:p>
        </p:txBody>
      </p:sp>
      <p:sp>
        <p:nvSpPr>
          <p:cNvPr id="19" name="s3-ladder-1">
            <a:extLst>
              <a:ext uri="{FF2B5EF4-FFF2-40B4-BE49-F238E27FC236}">
                <a16:creationId xmlns:a16="http://schemas.microsoft.com/office/drawing/2014/main" id="{6D2956B8-49B8-4F01-92DC-F7025BA1CDA2}"/>
              </a:ext>
            </a:extLst>
          </p:cNvPr>
          <p:cNvSpPr>
            <a:spLocks noGrp="1"/>
          </p:cNvSpPr>
          <p:nvPr/>
        </p:nvSpPr>
        <p:spPr>
          <a:xfrm>
            <a:off x="7410450" y="2781300"/>
            <a:ext cx="3657600" cy="514350"/>
          </a:xfrm>
          <a:prstGeom prst="rect">
            <a:avLst/>
          </a:prstGeom>
          <a:solidFill>
            <a:srgbClr val="DCEEFF"/>
          </a:solidFill>
          <a:ln w="9525">
            <a:solidFill>
              <a:srgbClr val="1677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s3-ladder-t-1">
            <a:extLst>
              <a:ext uri="{FF2B5EF4-FFF2-40B4-BE49-F238E27FC236}">
                <a16:creationId xmlns:a16="http://schemas.microsoft.com/office/drawing/2014/main" id="{A0411865-1B8A-4883-BDCF-EF32AB201D0F}"/>
              </a:ext>
            </a:extLst>
          </p:cNvPr>
          <p:cNvSpPr>
            <a:spLocks noGrp="1"/>
          </p:cNvSpPr>
          <p:nvPr/>
        </p:nvSpPr>
        <p:spPr>
          <a:xfrm>
            <a:off x="7543800" y="2867025"/>
            <a:ext cx="33718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1677D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77D2"/>
                </a:solidFill>
                <a:latin typeface="Arial"/>
                <a:ea typeface="Arial"/>
                <a:cs typeface="Arial"/>
              </a:rPr>
              <a:t>2  Approved snapshot</a:t>
            </a:r>
          </a:p>
        </p:txBody>
      </p:sp>
      <p:sp>
        <p:nvSpPr>
          <p:cNvPr id="21" name="s3-ladder-2">
            <a:extLst>
              <a:ext uri="{FF2B5EF4-FFF2-40B4-BE49-F238E27FC236}">
                <a16:creationId xmlns:a16="http://schemas.microsoft.com/office/drawing/2014/main" id="{82767194-8C1A-4DC2-9DA0-83C894F6A71B}"/>
              </a:ext>
            </a:extLst>
          </p:cNvPr>
          <p:cNvSpPr>
            <a:spLocks noGrp="1"/>
          </p:cNvSpPr>
          <p:nvPr/>
        </p:nvSpPr>
        <p:spPr>
          <a:xfrm>
            <a:off x="7581900" y="3467100"/>
            <a:ext cx="3314700" cy="514350"/>
          </a:xfrm>
          <a:prstGeom prst="rect">
            <a:avLst/>
          </a:prstGeom>
          <a:solidFill>
            <a:srgbClr val="E8EDF2"/>
          </a:solidFill>
          <a:ln w="9525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s3-ladder-t-2">
            <a:extLst>
              <a:ext uri="{FF2B5EF4-FFF2-40B4-BE49-F238E27FC236}">
                <a16:creationId xmlns:a16="http://schemas.microsoft.com/office/drawing/2014/main" id="{3D4DFA3C-500B-4433-AE88-BA9A5AB6D9F4}"/>
              </a:ext>
            </a:extLst>
          </p:cNvPr>
          <p:cNvSpPr>
            <a:spLocks noGrp="1"/>
          </p:cNvSpPr>
          <p:nvPr/>
        </p:nvSpPr>
        <p:spPr>
          <a:xfrm>
            <a:off x="7715250" y="3552825"/>
            <a:ext cx="30289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0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3  Paired configuration</a:t>
            </a:r>
          </a:p>
        </p:txBody>
      </p:sp>
      <p:sp>
        <p:nvSpPr>
          <p:cNvPr id="23" name="s3-ladder-3">
            <a:extLst>
              <a:ext uri="{FF2B5EF4-FFF2-40B4-BE49-F238E27FC236}">
                <a16:creationId xmlns:a16="http://schemas.microsoft.com/office/drawing/2014/main" id="{D86E2F5E-2B80-4FA6-9AC3-76E66DFE6703}"/>
              </a:ext>
            </a:extLst>
          </p:cNvPr>
          <p:cNvSpPr>
            <a:spLocks noGrp="1"/>
          </p:cNvSpPr>
          <p:nvPr/>
        </p:nvSpPr>
        <p:spPr>
          <a:xfrm>
            <a:off x="7753350" y="4152900"/>
            <a:ext cx="2971800" cy="514350"/>
          </a:xfrm>
          <a:prstGeom prst="rect">
            <a:avLst/>
          </a:prstGeom>
          <a:solidFill>
            <a:srgbClr val="F1F4F7"/>
          </a:solidFill>
          <a:ln w="9525">
            <a:solidFill>
              <a:srgbClr val="52606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s3-ladder-t-3">
            <a:extLst>
              <a:ext uri="{FF2B5EF4-FFF2-40B4-BE49-F238E27FC236}">
                <a16:creationId xmlns:a16="http://schemas.microsoft.com/office/drawing/2014/main" id="{67FCF5B3-EF2D-4828-A3DC-2A9DCCBCB43B}"/>
              </a:ext>
            </a:extLst>
          </p:cNvPr>
          <p:cNvSpPr>
            <a:spLocks noGrp="1"/>
          </p:cNvSpPr>
          <p:nvPr/>
        </p:nvSpPr>
        <p:spPr>
          <a:xfrm>
            <a:off x="7886700" y="4238625"/>
            <a:ext cx="26860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4  Matching example</a:t>
            </a:r>
          </a:p>
        </p:txBody>
      </p:sp>
      <p:sp>
        <p:nvSpPr>
          <p:cNvPr id="25" name="s3-ladder-4">
            <a:extLst>
              <a:ext uri="{FF2B5EF4-FFF2-40B4-BE49-F238E27FC236}">
                <a16:creationId xmlns:a16="http://schemas.microsoft.com/office/drawing/2014/main" id="{1E3CBE4F-EFA2-433F-8D08-BFB5546E58A6}"/>
              </a:ext>
            </a:extLst>
          </p:cNvPr>
          <p:cNvSpPr>
            <a:spLocks noGrp="1"/>
          </p:cNvSpPr>
          <p:nvPr/>
        </p:nvSpPr>
        <p:spPr>
          <a:xfrm>
            <a:off x="7924800" y="4838700"/>
            <a:ext cx="2628900" cy="514350"/>
          </a:xfrm>
          <a:prstGeom prst="rect">
            <a:avLst/>
          </a:prstGeom>
          <a:solidFill>
            <a:srgbClr val="ECEFF2"/>
          </a:solidFill>
          <a:ln w="9525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s3-ladder-t-4">
            <a:extLst>
              <a:ext uri="{FF2B5EF4-FFF2-40B4-BE49-F238E27FC236}">
                <a16:creationId xmlns:a16="http://schemas.microsoft.com/office/drawing/2014/main" id="{3EBE4668-0DD7-4430-BAB3-74CC0F7FDBDB}"/>
              </a:ext>
            </a:extLst>
          </p:cNvPr>
          <p:cNvSpPr>
            <a:spLocks noGrp="1"/>
          </p:cNvSpPr>
          <p:nvPr/>
        </p:nvSpPr>
        <p:spPr>
          <a:xfrm>
            <a:off x="8058150" y="4924425"/>
            <a:ext cx="2343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5  Historical material</a:t>
            </a:r>
          </a:p>
        </p:txBody>
      </p:sp>
      <p:sp>
        <p:nvSpPr>
          <p:cNvPr id="27" name="s3-presence-bg">
            <a:extLst>
              <a:ext uri="{FF2B5EF4-FFF2-40B4-BE49-F238E27FC236}">
                <a16:creationId xmlns:a16="http://schemas.microsoft.com/office/drawing/2014/main" id="{CB172569-D947-4154-9CEC-A350CFFC4C25}"/>
              </a:ext>
            </a:extLst>
          </p:cNvPr>
          <p:cNvSpPr>
            <a:spLocks noGrp="1"/>
          </p:cNvSpPr>
          <p:nvPr/>
        </p:nvSpPr>
        <p:spPr>
          <a:xfrm>
            <a:off x="7239000" y="5676900"/>
            <a:ext cx="4000500" cy="381000"/>
          </a:xfrm>
          <a:prstGeom prst="roundRect">
            <a:avLst>
              <a:gd name="adj" fmla="val 20000"/>
            </a:avLst>
          </a:prstGeom>
          <a:solidFill>
            <a:srgbClr val="FFF0D5"/>
          </a:solidFill>
          <a:ln w="9525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s3-presence-text">
            <a:extLst>
              <a:ext uri="{FF2B5EF4-FFF2-40B4-BE49-F238E27FC236}">
                <a16:creationId xmlns:a16="http://schemas.microsoft.com/office/drawing/2014/main" id="{BC8405F7-8590-4AA5-B127-554E8F8291A2}"/>
              </a:ext>
            </a:extLst>
          </p:cNvPr>
          <p:cNvSpPr>
            <a:spLocks noGrp="1"/>
          </p:cNvSpPr>
          <p:nvPr/>
        </p:nvSpPr>
        <p:spPr>
          <a:xfrm>
            <a:off x="7239000" y="5676900"/>
            <a:ext cx="4000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presence ≠ authority</a:t>
            </a:r>
          </a:p>
        </p:txBody>
      </p:sp>
    </p:spTree>
    <p:extLst>
      <p:ext uri="{BB962C8B-B14F-4D97-AF65-F5344CB8AC3E}">
        <p14:creationId xmlns:p14="http://schemas.microsoft.com/office/powerpoint/2010/main" val="17109654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kicker-4">
            <a:extLst>
              <a:ext uri="{FF2B5EF4-FFF2-40B4-BE49-F238E27FC236}">
                <a16:creationId xmlns:a16="http://schemas.microsoft.com/office/drawing/2014/main" id="{9CBB6551-124C-496A-A28F-04B85B2B3F8D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1677D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77D2"/>
                </a:solidFill>
                <a:latin typeface="Arial"/>
                <a:ea typeface="Arial"/>
                <a:cs typeface="Arial"/>
              </a:rPr>
              <a:t>2026.07.14</a:t>
            </a:r>
          </a:p>
        </p:txBody>
      </p:sp>
      <p:sp>
        <p:nvSpPr>
          <p:cNvPr id="2" name="title-4">
            <a:extLst>
              <a:ext uri="{FF2B5EF4-FFF2-40B4-BE49-F238E27FC236}">
                <a16:creationId xmlns:a16="http://schemas.microsoft.com/office/drawing/2014/main" id="{948DABBB-ABA0-421A-A75E-91F11E30683A}"/>
              </a:ext>
            </a:extLst>
          </p:cNvPr>
          <p:cNvSpPr>
            <a:spLocks noGrp="1"/>
          </p:cNvSpPr>
          <p:nvPr/>
        </p:nvSpPr>
        <p:spPr>
          <a:xfrm>
            <a:off x="457200" y="533400"/>
            <a:ext cx="112776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34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三個 logical planes，三種責任與故障邊界</a:t>
            </a:r>
          </a:p>
        </p:txBody>
      </p:sp>
      <p:sp>
        <p:nvSpPr>
          <p:cNvPr id="3" name="header-rule-4">
            <a:extLst>
              <a:ext uri="{FF2B5EF4-FFF2-40B4-BE49-F238E27FC236}">
                <a16:creationId xmlns:a16="http://schemas.microsoft.com/office/drawing/2014/main" id="{5AFC1C36-8E46-4405-A81B-DFD5F00F9B2C}"/>
              </a:ext>
            </a:extLst>
          </p:cNvPr>
          <p:cNvSpPr>
            <a:spLocks noGrp="1"/>
          </p:cNvSpPr>
          <p:nvPr/>
        </p:nvSpPr>
        <p:spPr>
          <a:xfrm>
            <a:off x="457200" y="1200150"/>
            <a:ext cx="11277600" cy="19050"/>
          </a:xfrm>
          <a:prstGeom prst="rect">
            <a:avLst/>
          </a:prstGeom>
          <a:solidFill>
            <a:srgbClr val="1677D2"/>
          </a:solidFill>
          <a:ln w="0">
            <a:solidFill>
              <a:srgbClr val="1677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footer-label-4">
            <a:extLst>
              <a:ext uri="{FF2B5EF4-FFF2-40B4-BE49-F238E27FC236}">
                <a16:creationId xmlns:a16="http://schemas.microsoft.com/office/drawing/2014/main" id="{9278D1C6-1302-40AB-8F29-3835968001FC}"/>
              </a:ext>
            </a:extLst>
          </p:cNvPr>
          <p:cNvSpPr>
            <a:spLocks noGrp="1"/>
          </p:cNvSpPr>
          <p:nvPr/>
        </p:nvSpPr>
        <p:spPr>
          <a:xfrm>
            <a:off x="457200" y="6391275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LAB01 BASELINE RECOVERY</a:t>
            </a:r>
          </a:p>
        </p:txBody>
      </p:sp>
      <p:sp>
        <p:nvSpPr>
          <p:cNvPr id="5" name="footer-num-4">
            <a:extLst>
              <a:ext uri="{FF2B5EF4-FFF2-40B4-BE49-F238E27FC236}">
                <a16:creationId xmlns:a16="http://schemas.microsoft.com/office/drawing/2014/main" id="{63E746B4-657A-4CD8-847D-04FD2482DCDE}"/>
              </a:ext>
            </a:extLst>
          </p:cNvPr>
          <p:cNvSpPr>
            <a:spLocks noGrp="1"/>
          </p:cNvSpPr>
          <p:nvPr/>
        </p:nvSpPr>
        <p:spPr>
          <a:xfrm>
            <a:off x="11163300" y="6372225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05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s4-host-0-box">
            <a:extLst>
              <a:ext uri="{FF2B5EF4-FFF2-40B4-BE49-F238E27FC236}">
                <a16:creationId xmlns:a16="http://schemas.microsoft.com/office/drawing/2014/main" id="{DD732237-70AF-445D-8A31-83BC7BA79671}"/>
              </a:ext>
            </a:extLst>
          </p:cNvPr>
          <p:cNvSpPr>
            <a:spLocks noGrp="1"/>
          </p:cNvSpPr>
          <p:nvPr/>
        </p:nvSpPr>
        <p:spPr>
          <a:xfrm>
            <a:off x="2762250" y="1504950"/>
            <a:ext cx="2381250" cy="781050"/>
          </a:xfrm>
          <a:prstGeom prst="roundRect">
            <a:avLst>
              <a:gd name="adj" fmla="val 9756"/>
            </a:avLst>
          </a:prstGeom>
          <a:solidFill>
            <a:srgbClr val="0B1220"/>
          </a:solidFill>
          <a:ln w="14288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4-host-0-title">
            <a:extLst>
              <a:ext uri="{FF2B5EF4-FFF2-40B4-BE49-F238E27FC236}">
                <a16:creationId xmlns:a16="http://schemas.microsoft.com/office/drawing/2014/main" id="{AD03AC48-7F39-4105-9D86-9B419FAE27ED}"/>
              </a:ext>
            </a:extLst>
          </p:cNvPr>
          <p:cNvSpPr>
            <a:spLocks noGrp="1"/>
          </p:cNvSpPr>
          <p:nvPr/>
        </p:nvSpPr>
        <p:spPr>
          <a:xfrm>
            <a:off x="2895600" y="1619250"/>
            <a:ext cx="2114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Mac</a:t>
            </a:r>
          </a:p>
        </p:txBody>
      </p:sp>
      <p:sp>
        <p:nvSpPr>
          <p:cNvPr id="8" name="s4-host-0-subtitle">
            <a:extLst>
              <a:ext uri="{FF2B5EF4-FFF2-40B4-BE49-F238E27FC236}">
                <a16:creationId xmlns:a16="http://schemas.microsoft.com/office/drawing/2014/main" id="{782D1E7B-2DB3-47D9-92FB-801C42D697F4}"/>
              </a:ext>
            </a:extLst>
          </p:cNvPr>
          <p:cNvSpPr>
            <a:spLocks noGrp="1"/>
          </p:cNvSpPr>
          <p:nvPr/>
        </p:nvSpPr>
        <p:spPr>
          <a:xfrm>
            <a:off x="2895600" y="1981200"/>
            <a:ext cx="2114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Control / approval</a:t>
            </a:r>
          </a:p>
        </p:txBody>
      </p:sp>
      <p:sp>
        <p:nvSpPr>
          <p:cNvPr id="9" name="s4-host-1-box">
            <a:extLst>
              <a:ext uri="{FF2B5EF4-FFF2-40B4-BE49-F238E27FC236}">
                <a16:creationId xmlns:a16="http://schemas.microsoft.com/office/drawing/2014/main" id="{F3B8ABEA-386C-4136-93BA-142B9416EEB9}"/>
              </a:ext>
            </a:extLst>
          </p:cNvPr>
          <p:cNvSpPr>
            <a:spLocks noGrp="1"/>
          </p:cNvSpPr>
          <p:nvPr/>
        </p:nvSpPr>
        <p:spPr>
          <a:xfrm>
            <a:off x="5734050" y="1504950"/>
            <a:ext cx="2381250" cy="781050"/>
          </a:xfrm>
          <a:prstGeom prst="roundRect">
            <a:avLst>
              <a:gd name="adj" fmla="val 9756"/>
            </a:avLst>
          </a:prstGeom>
          <a:solidFill>
            <a:srgbClr val="0B1220"/>
          </a:solidFill>
          <a:ln w="14288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4-host-1-title">
            <a:extLst>
              <a:ext uri="{FF2B5EF4-FFF2-40B4-BE49-F238E27FC236}">
                <a16:creationId xmlns:a16="http://schemas.microsoft.com/office/drawing/2014/main" id="{0A6D04FC-D896-4E49-A635-BA2F5A783A75}"/>
              </a:ext>
            </a:extLst>
          </p:cNvPr>
          <p:cNvSpPr>
            <a:spLocks noGrp="1"/>
          </p:cNvSpPr>
          <p:nvPr/>
        </p:nvSpPr>
        <p:spPr>
          <a:xfrm>
            <a:off x="5867400" y="1619250"/>
            <a:ext cx="2114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Linux1</a:t>
            </a:r>
          </a:p>
        </p:txBody>
      </p:sp>
      <p:sp>
        <p:nvSpPr>
          <p:cNvPr id="11" name="s4-host-1-subtitle">
            <a:extLst>
              <a:ext uri="{FF2B5EF4-FFF2-40B4-BE49-F238E27FC236}">
                <a16:creationId xmlns:a16="http://schemas.microsoft.com/office/drawing/2014/main" id="{FEA6DB21-AA31-43BA-81F7-8D0308FAE870}"/>
              </a:ext>
            </a:extLst>
          </p:cNvPr>
          <p:cNvSpPr>
            <a:spLocks noGrp="1"/>
          </p:cNvSpPr>
          <p:nvPr/>
        </p:nvSpPr>
        <p:spPr>
          <a:xfrm>
            <a:off x="5867400" y="1981200"/>
            <a:ext cx="2114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EPC + eNB</a:t>
            </a:r>
          </a:p>
        </p:txBody>
      </p:sp>
      <p:sp>
        <p:nvSpPr>
          <p:cNvPr id="12" name="s4-host-2-box">
            <a:extLst>
              <a:ext uri="{FF2B5EF4-FFF2-40B4-BE49-F238E27FC236}">
                <a16:creationId xmlns:a16="http://schemas.microsoft.com/office/drawing/2014/main" id="{E682B0AA-C539-43C3-848C-B9317CE34AE2}"/>
              </a:ext>
            </a:extLst>
          </p:cNvPr>
          <p:cNvSpPr>
            <a:spLocks noGrp="1"/>
          </p:cNvSpPr>
          <p:nvPr/>
        </p:nvSpPr>
        <p:spPr>
          <a:xfrm>
            <a:off x="8705850" y="1504950"/>
            <a:ext cx="2381250" cy="781050"/>
          </a:xfrm>
          <a:prstGeom prst="roundRect">
            <a:avLst>
              <a:gd name="adj" fmla="val 9756"/>
            </a:avLst>
          </a:prstGeom>
          <a:solidFill>
            <a:srgbClr val="0B1220"/>
          </a:solidFill>
          <a:ln w="14288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s4-host-2-title">
            <a:extLst>
              <a:ext uri="{FF2B5EF4-FFF2-40B4-BE49-F238E27FC236}">
                <a16:creationId xmlns:a16="http://schemas.microsoft.com/office/drawing/2014/main" id="{AC1208F9-2A91-4196-A47B-6FA7CF1FC454}"/>
              </a:ext>
            </a:extLst>
          </p:cNvPr>
          <p:cNvSpPr>
            <a:spLocks noGrp="1"/>
          </p:cNvSpPr>
          <p:nvPr/>
        </p:nvSpPr>
        <p:spPr>
          <a:xfrm>
            <a:off x="8839200" y="1619250"/>
            <a:ext cx="2114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Linux2</a:t>
            </a:r>
          </a:p>
        </p:txBody>
      </p:sp>
      <p:sp>
        <p:nvSpPr>
          <p:cNvPr id="14" name="s4-host-2-subtitle">
            <a:extLst>
              <a:ext uri="{FF2B5EF4-FFF2-40B4-BE49-F238E27FC236}">
                <a16:creationId xmlns:a16="http://schemas.microsoft.com/office/drawing/2014/main" id="{453B1059-99BF-4AD6-BF59-37B752CF7CA5}"/>
              </a:ext>
            </a:extLst>
          </p:cNvPr>
          <p:cNvSpPr>
            <a:spLocks noGrp="1"/>
          </p:cNvSpPr>
          <p:nvPr/>
        </p:nvSpPr>
        <p:spPr>
          <a:xfrm>
            <a:off x="8839200" y="1981200"/>
            <a:ext cx="2114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UE</a:t>
            </a:r>
          </a:p>
        </p:txBody>
      </p:sp>
      <p:sp>
        <p:nvSpPr>
          <p:cNvPr id="15" name="s4-lane-0">
            <a:extLst>
              <a:ext uri="{FF2B5EF4-FFF2-40B4-BE49-F238E27FC236}">
                <a16:creationId xmlns:a16="http://schemas.microsoft.com/office/drawing/2014/main" id="{96D0AADD-22CF-46DD-8667-8E54A5CA9D45}"/>
              </a:ext>
            </a:extLst>
          </p:cNvPr>
          <p:cNvSpPr>
            <a:spLocks noGrp="1"/>
          </p:cNvSpPr>
          <p:nvPr/>
        </p:nvSpPr>
        <p:spPr>
          <a:xfrm>
            <a:off x="457200" y="2552700"/>
            <a:ext cx="11277600" cy="838200"/>
          </a:xfrm>
          <a:prstGeom prst="roundRect">
            <a:avLst>
              <a:gd name="adj" fmla="val 9091"/>
            </a:avLst>
          </a:prstGeom>
          <a:solidFill>
            <a:srgbClr val="DCEEFF"/>
          </a:solidFill>
          <a:ln w="14288">
            <a:solidFill>
              <a:srgbClr val="1677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s4-lane-name-0">
            <a:extLst>
              <a:ext uri="{FF2B5EF4-FFF2-40B4-BE49-F238E27FC236}">
                <a16:creationId xmlns:a16="http://schemas.microsoft.com/office/drawing/2014/main" id="{09FECC2C-9534-46B1-A30D-7DBF52A750A0}"/>
              </a:ext>
            </a:extLst>
          </p:cNvPr>
          <p:cNvSpPr>
            <a:spLocks noGrp="1"/>
          </p:cNvSpPr>
          <p:nvPr/>
        </p:nvSpPr>
        <p:spPr>
          <a:xfrm>
            <a:off x="647700" y="266700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238"/>
          </a:bodyPr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1677D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77D2"/>
                </a:solidFill>
                <a:latin typeface="Arial"/>
                <a:ea typeface="Arial"/>
                <a:cs typeface="Arial"/>
              </a:rPr>
              <a:t>Management</a:t>
            </a:r>
          </a:p>
        </p:txBody>
      </p:sp>
      <p:sp>
        <p:nvSpPr>
          <p:cNvPr id="17" name="s4-lane-subnet-0">
            <a:extLst>
              <a:ext uri="{FF2B5EF4-FFF2-40B4-BE49-F238E27FC236}">
                <a16:creationId xmlns:a16="http://schemas.microsoft.com/office/drawing/2014/main" id="{3547E198-2997-4162-9A29-B854AE94728F}"/>
              </a:ext>
            </a:extLst>
          </p:cNvPr>
          <p:cNvSpPr>
            <a:spLocks noGrp="1"/>
          </p:cNvSpPr>
          <p:nvPr/>
        </p:nvSpPr>
        <p:spPr>
          <a:xfrm>
            <a:off x="647700" y="30003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1677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677D2"/>
                </a:solidFill>
                <a:latin typeface="Arial"/>
                <a:ea typeface="Arial"/>
                <a:cs typeface="Arial"/>
              </a:rPr>
              <a:t>192.168.250.0/24</a:t>
            </a:r>
          </a:p>
        </p:txBody>
      </p:sp>
      <p:sp>
        <p:nvSpPr>
          <p:cNvPr id="18" name="s4-lane-val-0-0">
            <a:extLst>
              <a:ext uri="{FF2B5EF4-FFF2-40B4-BE49-F238E27FC236}">
                <a16:creationId xmlns:a16="http://schemas.microsoft.com/office/drawing/2014/main" id="{FBDF121D-013C-48AE-BF0D-2F0C0EDAE6AD}"/>
              </a:ext>
            </a:extLst>
          </p:cNvPr>
          <p:cNvSpPr>
            <a:spLocks noGrp="1"/>
          </p:cNvSpPr>
          <p:nvPr/>
        </p:nvSpPr>
        <p:spPr>
          <a:xfrm>
            <a:off x="2762250" y="274320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800" b="1">
                <a:solidFill>
                  <a:srgbClr val="1677D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77D2"/>
                </a:solidFill>
                <a:latin typeface="Arial"/>
                <a:ea typeface="Arial"/>
                <a:cs typeface="Arial"/>
              </a:rPr>
              <a:t>.10</a:t>
            </a:r>
          </a:p>
        </p:txBody>
      </p:sp>
      <p:sp>
        <p:nvSpPr>
          <p:cNvPr id="19" name="s4-lane-val-0-1">
            <a:extLst>
              <a:ext uri="{FF2B5EF4-FFF2-40B4-BE49-F238E27FC236}">
                <a16:creationId xmlns:a16="http://schemas.microsoft.com/office/drawing/2014/main" id="{8D3337F7-D836-4721-BD3D-A95FD37700AA}"/>
              </a:ext>
            </a:extLst>
          </p:cNvPr>
          <p:cNvSpPr>
            <a:spLocks noGrp="1"/>
          </p:cNvSpPr>
          <p:nvPr/>
        </p:nvSpPr>
        <p:spPr>
          <a:xfrm>
            <a:off x="5734050" y="274320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800" b="1">
                <a:solidFill>
                  <a:srgbClr val="1677D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77D2"/>
                </a:solidFill>
                <a:latin typeface="Arial"/>
                <a:ea typeface="Arial"/>
                <a:cs typeface="Arial"/>
              </a:rPr>
              <a:t>.11</a:t>
            </a:r>
          </a:p>
        </p:txBody>
      </p:sp>
      <p:sp>
        <p:nvSpPr>
          <p:cNvPr id="20" name="s4-lane-val-0-2">
            <a:extLst>
              <a:ext uri="{FF2B5EF4-FFF2-40B4-BE49-F238E27FC236}">
                <a16:creationId xmlns:a16="http://schemas.microsoft.com/office/drawing/2014/main" id="{0F67FD1C-38BC-495A-B3C6-31D651A95A60}"/>
              </a:ext>
            </a:extLst>
          </p:cNvPr>
          <p:cNvSpPr>
            <a:spLocks noGrp="1"/>
          </p:cNvSpPr>
          <p:nvPr/>
        </p:nvSpPr>
        <p:spPr>
          <a:xfrm>
            <a:off x="8705850" y="274320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800" b="1">
                <a:solidFill>
                  <a:srgbClr val="1677D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77D2"/>
                </a:solidFill>
                <a:latin typeface="Arial"/>
                <a:ea typeface="Arial"/>
                <a:cs typeface="Arial"/>
              </a:rPr>
              <a:t>.12</a:t>
            </a:r>
          </a:p>
        </p:txBody>
      </p:sp>
      <p:sp>
        <p:nvSpPr>
          <p:cNvPr id="21" name="s4-lane-note-0">
            <a:extLst>
              <a:ext uri="{FF2B5EF4-FFF2-40B4-BE49-F238E27FC236}">
                <a16:creationId xmlns:a16="http://schemas.microsoft.com/office/drawing/2014/main" id="{251B73FB-43E2-4AEB-9D49-15035F380226}"/>
              </a:ext>
            </a:extLst>
          </p:cNvPr>
          <p:cNvSpPr>
            <a:spLocks noGrp="1"/>
          </p:cNvSpPr>
          <p:nvPr/>
        </p:nvSpPr>
        <p:spPr>
          <a:xfrm>
            <a:off x="8477250" y="3076575"/>
            <a:ext cx="2971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125" b="1">
                <a:solidFill>
                  <a:srgbClr val="1677D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77D2"/>
                </a:solidFill>
                <a:latin typeface="Arial"/>
                <a:ea typeface="Arial"/>
                <a:cs typeface="Arial"/>
              </a:rPr>
              <a:t>控制 · Git · approval</a:t>
            </a:r>
          </a:p>
        </p:txBody>
      </p:sp>
      <p:sp>
        <p:nvSpPr>
          <p:cNvPr id="22" name="s4-lane-1">
            <a:extLst>
              <a:ext uri="{FF2B5EF4-FFF2-40B4-BE49-F238E27FC236}">
                <a16:creationId xmlns:a16="http://schemas.microsoft.com/office/drawing/2014/main" id="{12AFB456-0F6C-41F2-8C60-6209F717C30F}"/>
              </a:ext>
            </a:extLst>
          </p:cNvPr>
          <p:cNvSpPr>
            <a:spLocks noGrp="1"/>
          </p:cNvSpPr>
          <p:nvPr/>
        </p:nvSpPr>
        <p:spPr>
          <a:xfrm>
            <a:off x="457200" y="3676650"/>
            <a:ext cx="11277600" cy="838200"/>
          </a:xfrm>
          <a:prstGeom prst="roundRect">
            <a:avLst>
              <a:gd name="adj" fmla="val 9091"/>
            </a:avLst>
          </a:prstGeom>
          <a:solidFill>
            <a:srgbClr val="FFF0D5"/>
          </a:solidFill>
          <a:ln w="14288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s4-lane-name-1">
            <a:extLst>
              <a:ext uri="{FF2B5EF4-FFF2-40B4-BE49-F238E27FC236}">
                <a16:creationId xmlns:a16="http://schemas.microsoft.com/office/drawing/2014/main" id="{C5E000FC-46A5-49E9-85B0-5C75F8F743CE}"/>
              </a:ext>
            </a:extLst>
          </p:cNvPr>
          <p:cNvSpPr>
            <a:spLocks noGrp="1"/>
          </p:cNvSpPr>
          <p:nvPr/>
        </p:nvSpPr>
        <p:spPr>
          <a:xfrm>
            <a:off x="647700" y="379095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238"/>
          </a:bodyPr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Sample</a:t>
            </a:r>
          </a:p>
        </p:txBody>
      </p:sp>
      <p:sp>
        <p:nvSpPr>
          <p:cNvPr id="24" name="s4-lane-subnet-1">
            <a:extLst>
              <a:ext uri="{FF2B5EF4-FFF2-40B4-BE49-F238E27FC236}">
                <a16:creationId xmlns:a16="http://schemas.microsoft.com/office/drawing/2014/main" id="{31DFEF6B-DD0E-460A-85BA-03C7B06C0698}"/>
              </a:ext>
            </a:extLst>
          </p:cNvPr>
          <p:cNvSpPr>
            <a:spLocks noGrp="1"/>
          </p:cNvSpPr>
          <p:nvPr/>
        </p:nvSpPr>
        <p:spPr>
          <a:xfrm>
            <a:off x="647700" y="412432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97706"/>
                </a:solidFill>
                <a:latin typeface="Arial"/>
                <a:ea typeface="Arial"/>
                <a:cs typeface="Arial"/>
              </a:rPr>
              <a:t>10.0.0.0/24</a:t>
            </a:r>
          </a:p>
        </p:txBody>
      </p:sp>
      <p:sp>
        <p:nvSpPr>
          <p:cNvPr id="25" name="s4-lane-val-1-0">
            <a:extLst>
              <a:ext uri="{FF2B5EF4-FFF2-40B4-BE49-F238E27FC236}">
                <a16:creationId xmlns:a16="http://schemas.microsoft.com/office/drawing/2014/main" id="{0A80BDF8-6C2C-45E5-81C2-2C94030982B0}"/>
              </a:ext>
            </a:extLst>
          </p:cNvPr>
          <p:cNvSpPr>
            <a:spLocks noGrp="1"/>
          </p:cNvSpPr>
          <p:nvPr/>
        </p:nvSpPr>
        <p:spPr>
          <a:xfrm>
            <a:off x="2762250" y="386715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800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6B7280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26" name="s4-lane-val-1-1">
            <a:extLst>
              <a:ext uri="{FF2B5EF4-FFF2-40B4-BE49-F238E27FC236}">
                <a16:creationId xmlns:a16="http://schemas.microsoft.com/office/drawing/2014/main" id="{CA828461-D3EC-4948-83DF-7E04DD1FED08}"/>
              </a:ext>
            </a:extLst>
          </p:cNvPr>
          <p:cNvSpPr>
            <a:spLocks noGrp="1"/>
          </p:cNvSpPr>
          <p:nvPr/>
        </p:nvSpPr>
        <p:spPr>
          <a:xfrm>
            <a:off x="5734050" y="386715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80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.1</a:t>
            </a:r>
          </a:p>
        </p:txBody>
      </p:sp>
      <p:sp>
        <p:nvSpPr>
          <p:cNvPr id="27" name="s4-lane-val-1-2">
            <a:extLst>
              <a:ext uri="{FF2B5EF4-FFF2-40B4-BE49-F238E27FC236}">
                <a16:creationId xmlns:a16="http://schemas.microsoft.com/office/drawing/2014/main" id="{433ADD70-52EE-40E5-92BE-996C3607B612}"/>
              </a:ext>
            </a:extLst>
          </p:cNvPr>
          <p:cNvSpPr>
            <a:spLocks noGrp="1"/>
          </p:cNvSpPr>
          <p:nvPr/>
        </p:nvSpPr>
        <p:spPr>
          <a:xfrm>
            <a:off x="8705850" y="386715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80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.2</a:t>
            </a:r>
          </a:p>
        </p:txBody>
      </p:sp>
      <p:sp>
        <p:nvSpPr>
          <p:cNvPr id="28" name="s4-lane-note-1">
            <a:extLst>
              <a:ext uri="{FF2B5EF4-FFF2-40B4-BE49-F238E27FC236}">
                <a16:creationId xmlns:a16="http://schemas.microsoft.com/office/drawing/2014/main" id="{3327ED0D-0701-43D3-B55C-EA316FB5C4ED}"/>
              </a:ext>
            </a:extLst>
          </p:cNvPr>
          <p:cNvSpPr>
            <a:spLocks noGrp="1"/>
          </p:cNvSpPr>
          <p:nvPr/>
        </p:nvSpPr>
        <p:spPr>
          <a:xfrm>
            <a:off x="8477250" y="4200525"/>
            <a:ext cx="2971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1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ZeroMQ · temporary secondary</a:t>
            </a:r>
          </a:p>
        </p:txBody>
      </p:sp>
      <p:sp>
        <p:nvSpPr>
          <p:cNvPr id="29" name="s4-lane-2">
            <a:extLst>
              <a:ext uri="{FF2B5EF4-FFF2-40B4-BE49-F238E27FC236}">
                <a16:creationId xmlns:a16="http://schemas.microsoft.com/office/drawing/2014/main" id="{BA514E6D-835E-47E3-9700-80928213F94F}"/>
              </a:ext>
            </a:extLst>
          </p:cNvPr>
          <p:cNvSpPr>
            <a:spLocks noGrp="1"/>
          </p:cNvSpPr>
          <p:nvPr/>
        </p:nvSpPr>
        <p:spPr>
          <a:xfrm>
            <a:off x="457200" y="4800600"/>
            <a:ext cx="11277600" cy="838200"/>
          </a:xfrm>
          <a:prstGeom prst="roundRect">
            <a:avLst>
              <a:gd name="adj" fmla="val 9091"/>
            </a:avLst>
          </a:prstGeom>
          <a:solidFill>
            <a:srgbClr val="DDF5EA"/>
          </a:solidFill>
          <a:ln w="14288">
            <a:solidFill>
              <a:srgbClr val="16865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s4-lane-name-2">
            <a:extLst>
              <a:ext uri="{FF2B5EF4-FFF2-40B4-BE49-F238E27FC236}">
                <a16:creationId xmlns:a16="http://schemas.microsoft.com/office/drawing/2014/main" id="{C8278D3A-3F6B-4EFC-BF22-3F16E2501351}"/>
              </a:ext>
            </a:extLst>
          </p:cNvPr>
          <p:cNvSpPr>
            <a:spLocks noGrp="1"/>
          </p:cNvSpPr>
          <p:nvPr/>
        </p:nvSpPr>
        <p:spPr>
          <a:xfrm>
            <a:off x="647700" y="491490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238"/>
          </a:bodyPr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16865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865B"/>
                </a:solidFill>
                <a:latin typeface="Arial"/>
                <a:ea typeface="Arial"/>
                <a:cs typeface="Arial"/>
              </a:rPr>
              <a:t>User</a:t>
            </a:r>
          </a:p>
        </p:txBody>
      </p:sp>
      <p:sp>
        <p:nvSpPr>
          <p:cNvPr id="31" name="s4-lane-subnet-2">
            <a:extLst>
              <a:ext uri="{FF2B5EF4-FFF2-40B4-BE49-F238E27FC236}">
                <a16:creationId xmlns:a16="http://schemas.microsoft.com/office/drawing/2014/main" id="{6E5A4317-1DBF-49B3-A852-878700C74B39}"/>
              </a:ext>
            </a:extLst>
          </p:cNvPr>
          <p:cNvSpPr>
            <a:spLocks noGrp="1"/>
          </p:cNvSpPr>
          <p:nvPr/>
        </p:nvSpPr>
        <p:spPr>
          <a:xfrm>
            <a:off x="647700" y="52482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16865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6865B"/>
                </a:solidFill>
                <a:latin typeface="Arial"/>
                <a:ea typeface="Arial"/>
                <a:cs typeface="Arial"/>
              </a:rPr>
              <a:t>172.16.0.0/24</a:t>
            </a:r>
          </a:p>
        </p:txBody>
      </p:sp>
      <p:sp>
        <p:nvSpPr>
          <p:cNvPr id="32" name="s4-lane-val-2-0">
            <a:extLst>
              <a:ext uri="{FF2B5EF4-FFF2-40B4-BE49-F238E27FC236}">
                <a16:creationId xmlns:a16="http://schemas.microsoft.com/office/drawing/2014/main" id="{516C9027-97B1-4021-AD10-97B0ABB8D8E4}"/>
              </a:ext>
            </a:extLst>
          </p:cNvPr>
          <p:cNvSpPr>
            <a:spLocks noGrp="1"/>
          </p:cNvSpPr>
          <p:nvPr/>
        </p:nvSpPr>
        <p:spPr>
          <a:xfrm>
            <a:off x="2762250" y="499110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800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6B7280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33" name="s4-lane-val-2-1">
            <a:extLst>
              <a:ext uri="{FF2B5EF4-FFF2-40B4-BE49-F238E27FC236}">
                <a16:creationId xmlns:a16="http://schemas.microsoft.com/office/drawing/2014/main" id="{043E524D-3D41-4D41-8A3A-F66A1C214D48}"/>
              </a:ext>
            </a:extLst>
          </p:cNvPr>
          <p:cNvSpPr>
            <a:spLocks noGrp="1"/>
          </p:cNvSpPr>
          <p:nvPr/>
        </p:nvSpPr>
        <p:spPr>
          <a:xfrm>
            <a:off x="5734050" y="499110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800" b="1">
                <a:solidFill>
                  <a:srgbClr val="16865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865B"/>
                </a:solidFill>
                <a:latin typeface="Arial"/>
                <a:ea typeface="Arial"/>
                <a:cs typeface="Arial"/>
              </a:rPr>
              <a:t>.1 SGi</a:t>
            </a:r>
          </a:p>
        </p:txBody>
      </p:sp>
      <p:sp>
        <p:nvSpPr>
          <p:cNvPr id="34" name="s4-lane-val-2-2">
            <a:extLst>
              <a:ext uri="{FF2B5EF4-FFF2-40B4-BE49-F238E27FC236}">
                <a16:creationId xmlns:a16="http://schemas.microsoft.com/office/drawing/2014/main" id="{5E89EC9C-B4A8-44E9-AAEA-0B36261F519D}"/>
              </a:ext>
            </a:extLst>
          </p:cNvPr>
          <p:cNvSpPr>
            <a:spLocks noGrp="1"/>
          </p:cNvSpPr>
          <p:nvPr/>
        </p:nvSpPr>
        <p:spPr>
          <a:xfrm>
            <a:off x="8705850" y="499110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800" b="1">
                <a:solidFill>
                  <a:srgbClr val="16865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865B"/>
                </a:solidFill>
                <a:latin typeface="Arial"/>
                <a:ea typeface="Arial"/>
                <a:cs typeface="Arial"/>
              </a:rPr>
              <a:t>.2 UE</a:t>
            </a:r>
          </a:p>
        </p:txBody>
      </p:sp>
      <p:sp>
        <p:nvSpPr>
          <p:cNvPr id="35" name="s4-lane-note-2">
            <a:extLst>
              <a:ext uri="{FF2B5EF4-FFF2-40B4-BE49-F238E27FC236}">
                <a16:creationId xmlns:a16="http://schemas.microsoft.com/office/drawing/2014/main" id="{F7687E34-5110-415A-8AD4-CDC4658080B8}"/>
              </a:ext>
            </a:extLst>
          </p:cNvPr>
          <p:cNvSpPr>
            <a:spLocks noGrp="1"/>
          </p:cNvSpPr>
          <p:nvPr/>
        </p:nvSpPr>
        <p:spPr>
          <a:xfrm>
            <a:off x="8477250" y="5324475"/>
            <a:ext cx="2971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125" b="1">
                <a:solidFill>
                  <a:srgbClr val="16865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865B"/>
                </a:solidFill>
                <a:latin typeface="Arial"/>
                <a:ea typeface="Arial"/>
                <a:cs typeface="Arial"/>
              </a:rPr>
              <a:t>雙向 ICMP connectivity</a:t>
            </a:r>
          </a:p>
        </p:txBody>
      </p:sp>
      <p:sp>
        <p:nvSpPr>
          <p:cNvPr id="36" name="s4-boundary-bg">
            <a:extLst>
              <a:ext uri="{FF2B5EF4-FFF2-40B4-BE49-F238E27FC236}">
                <a16:creationId xmlns:a16="http://schemas.microsoft.com/office/drawing/2014/main" id="{9E06D4E0-FADA-47E1-A0DC-3B5725321F2E}"/>
              </a:ext>
            </a:extLst>
          </p:cNvPr>
          <p:cNvSpPr>
            <a:spLocks noGrp="1"/>
          </p:cNvSpPr>
          <p:nvPr/>
        </p:nvSpPr>
        <p:spPr>
          <a:xfrm>
            <a:off x="2457450" y="5848350"/>
            <a:ext cx="7239000" cy="361950"/>
          </a:xfrm>
          <a:prstGeom prst="roundRect">
            <a:avLst>
              <a:gd name="adj" fmla="val 21053"/>
            </a:avLst>
          </a:prstGeom>
          <a:solidFill>
            <a:srgbClr val="ECEFF2"/>
          </a:solidFill>
          <a:ln w="9525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s4-boundary-text">
            <a:extLst>
              <a:ext uri="{FF2B5EF4-FFF2-40B4-BE49-F238E27FC236}">
                <a16:creationId xmlns:a16="http://schemas.microsoft.com/office/drawing/2014/main" id="{065DEB43-38BE-47B9-9CB4-BF495776D02E}"/>
              </a:ext>
            </a:extLst>
          </p:cNvPr>
          <p:cNvSpPr>
            <a:spLocks noGrp="1"/>
          </p:cNvSpPr>
          <p:nvPr/>
        </p:nvSpPr>
        <p:spPr>
          <a:xfrm>
            <a:off x="2457450" y="5848350"/>
            <a:ext cx="723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B7280"/>
                </a:solidFill>
                <a:latin typeface="Arial"/>
                <a:ea typeface="Arial"/>
                <a:cs typeface="Arial"/>
              </a:rPr>
              <a:t>Logical separation ≠ three physical NICs · Sample plane 無 gateway / DNS</a:t>
            </a:r>
          </a:p>
        </p:txBody>
      </p:sp>
    </p:spTree>
    <p:extLst>
      <p:ext uri="{BB962C8B-B14F-4D97-AF65-F5344CB8AC3E}">
        <p14:creationId xmlns:p14="http://schemas.microsoft.com/office/powerpoint/2010/main" val="20445912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kicker-5">
            <a:extLst>
              <a:ext uri="{FF2B5EF4-FFF2-40B4-BE49-F238E27FC236}">
                <a16:creationId xmlns:a16="http://schemas.microsoft.com/office/drawing/2014/main" id="{709B99D2-EE92-4E50-AC55-F53AEF4194D2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1677D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77D2"/>
                </a:solidFill>
                <a:latin typeface="Arial"/>
                <a:ea typeface="Arial"/>
                <a:cs typeface="Arial"/>
              </a:rPr>
              <a:t>2026.07.14</a:t>
            </a:r>
          </a:p>
        </p:txBody>
      </p:sp>
      <p:sp>
        <p:nvSpPr>
          <p:cNvPr id="2" name="title-5">
            <a:extLst>
              <a:ext uri="{FF2B5EF4-FFF2-40B4-BE49-F238E27FC236}">
                <a16:creationId xmlns:a16="http://schemas.microsoft.com/office/drawing/2014/main" id="{C9CF6151-A767-4CFB-96CF-B4195F4C2D8F}"/>
              </a:ext>
            </a:extLst>
          </p:cNvPr>
          <p:cNvSpPr>
            <a:spLocks noGrp="1"/>
          </p:cNvSpPr>
          <p:nvPr/>
        </p:nvSpPr>
        <p:spPr>
          <a:xfrm>
            <a:off x="457200" y="533400"/>
            <a:ext cx="112776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34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七階段 pipeline，把證據轉成受控執行</a:t>
            </a:r>
          </a:p>
        </p:txBody>
      </p:sp>
      <p:sp>
        <p:nvSpPr>
          <p:cNvPr id="3" name="header-rule-5">
            <a:extLst>
              <a:ext uri="{FF2B5EF4-FFF2-40B4-BE49-F238E27FC236}">
                <a16:creationId xmlns:a16="http://schemas.microsoft.com/office/drawing/2014/main" id="{151663AE-FE53-48FB-95C6-51A994799B48}"/>
              </a:ext>
            </a:extLst>
          </p:cNvPr>
          <p:cNvSpPr>
            <a:spLocks noGrp="1"/>
          </p:cNvSpPr>
          <p:nvPr/>
        </p:nvSpPr>
        <p:spPr>
          <a:xfrm>
            <a:off x="457200" y="1200150"/>
            <a:ext cx="11277600" cy="19050"/>
          </a:xfrm>
          <a:prstGeom prst="rect">
            <a:avLst/>
          </a:prstGeom>
          <a:solidFill>
            <a:srgbClr val="1677D2"/>
          </a:solidFill>
          <a:ln w="0">
            <a:solidFill>
              <a:srgbClr val="1677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footer-label-5">
            <a:extLst>
              <a:ext uri="{FF2B5EF4-FFF2-40B4-BE49-F238E27FC236}">
                <a16:creationId xmlns:a16="http://schemas.microsoft.com/office/drawing/2014/main" id="{D7B420B5-1185-4C23-97C3-7CE988026AFF}"/>
              </a:ext>
            </a:extLst>
          </p:cNvPr>
          <p:cNvSpPr>
            <a:spLocks noGrp="1"/>
          </p:cNvSpPr>
          <p:nvPr/>
        </p:nvSpPr>
        <p:spPr>
          <a:xfrm>
            <a:off x="457200" y="6391275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LAB01 BASELINE RECOVERY</a:t>
            </a:r>
          </a:p>
        </p:txBody>
      </p:sp>
      <p:sp>
        <p:nvSpPr>
          <p:cNvPr id="5" name="footer-num-5">
            <a:extLst>
              <a:ext uri="{FF2B5EF4-FFF2-40B4-BE49-F238E27FC236}">
                <a16:creationId xmlns:a16="http://schemas.microsoft.com/office/drawing/2014/main" id="{60F9FEAA-48FA-47C9-9E9F-7DBB31379400}"/>
              </a:ext>
            </a:extLst>
          </p:cNvPr>
          <p:cNvSpPr>
            <a:spLocks noGrp="1"/>
          </p:cNvSpPr>
          <p:nvPr/>
        </p:nvSpPr>
        <p:spPr>
          <a:xfrm>
            <a:off x="11163300" y="6372225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05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s5-arrow-0">
            <a:extLst>
              <a:ext uri="{FF2B5EF4-FFF2-40B4-BE49-F238E27FC236}">
                <a16:creationId xmlns:a16="http://schemas.microsoft.com/office/drawing/2014/main" id="{2161284C-4449-470E-9450-E399536B456B}"/>
              </a:ext>
            </a:extLst>
          </p:cNvPr>
          <p:cNvSpPr>
            <a:spLocks noGrp="1"/>
          </p:cNvSpPr>
          <p:nvPr/>
        </p:nvSpPr>
        <p:spPr>
          <a:xfrm>
            <a:off x="1752600" y="3057525"/>
            <a:ext cx="438150" cy="228600"/>
          </a:xfrm>
          <a:prstGeom prst="rightArrow">
            <a:avLst/>
          </a:prstGeom>
          <a:solidFill>
            <a:srgbClr val="C9D1D9"/>
          </a:solidFill>
          <a:ln w="0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5-arrow-1">
            <a:extLst>
              <a:ext uri="{FF2B5EF4-FFF2-40B4-BE49-F238E27FC236}">
                <a16:creationId xmlns:a16="http://schemas.microsoft.com/office/drawing/2014/main" id="{1B16D0C0-4669-4246-AB66-34727D765A8E}"/>
              </a:ext>
            </a:extLst>
          </p:cNvPr>
          <p:cNvSpPr>
            <a:spLocks noGrp="1"/>
          </p:cNvSpPr>
          <p:nvPr/>
        </p:nvSpPr>
        <p:spPr>
          <a:xfrm>
            <a:off x="3409950" y="3057525"/>
            <a:ext cx="438150" cy="228600"/>
          </a:xfrm>
          <a:prstGeom prst="rightArrow">
            <a:avLst/>
          </a:prstGeom>
          <a:solidFill>
            <a:srgbClr val="C9D1D9"/>
          </a:solidFill>
          <a:ln w="0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5-arrow-2">
            <a:extLst>
              <a:ext uri="{FF2B5EF4-FFF2-40B4-BE49-F238E27FC236}">
                <a16:creationId xmlns:a16="http://schemas.microsoft.com/office/drawing/2014/main" id="{F061DBFE-1714-4E06-8288-C4D093AC68D5}"/>
              </a:ext>
            </a:extLst>
          </p:cNvPr>
          <p:cNvSpPr>
            <a:spLocks noGrp="1"/>
          </p:cNvSpPr>
          <p:nvPr/>
        </p:nvSpPr>
        <p:spPr>
          <a:xfrm>
            <a:off x="5067300" y="3057525"/>
            <a:ext cx="438150" cy="228600"/>
          </a:xfrm>
          <a:prstGeom prst="rightArrow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5-arrow-3">
            <a:extLst>
              <a:ext uri="{FF2B5EF4-FFF2-40B4-BE49-F238E27FC236}">
                <a16:creationId xmlns:a16="http://schemas.microsoft.com/office/drawing/2014/main" id="{8B31D761-7A8E-4792-A0B8-F0582D54B497}"/>
              </a:ext>
            </a:extLst>
          </p:cNvPr>
          <p:cNvSpPr>
            <a:spLocks noGrp="1"/>
          </p:cNvSpPr>
          <p:nvPr/>
        </p:nvSpPr>
        <p:spPr>
          <a:xfrm>
            <a:off x="6724650" y="3057525"/>
            <a:ext cx="438150" cy="228600"/>
          </a:xfrm>
          <a:prstGeom prst="rightArrow">
            <a:avLst/>
          </a:prstGeom>
          <a:solidFill>
            <a:srgbClr val="C9D1D9"/>
          </a:solidFill>
          <a:ln w="0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5-arrow-4">
            <a:extLst>
              <a:ext uri="{FF2B5EF4-FFF2-40B4-BE49-F238E27FC236}">
                <a16:creationId xmlns:a16="http://schemas.microsoft.com/office/drawing/2014/main" id="{29F9A8A0-DE54-458E-B21F-00B4092AB69C}"/>
              </a:ext>
            </a:extLst>
          </p:cNvPr>
          <p:cNvSpPr>
            <a:spLocks noGrp="1"/>
          </p:cNvSpPr>
          <p:nvPr/>
        </p:nvSpPr>
        <p:spPr>
          <a:xfrm>
            <a:off x="8382000" y="3057525"/>
            <a:ext cx="438150" cy="228600"/>
          </a:xfrm>
          <a:prstGeom prst="rightArrow">
            <a:avLst/>
          </a:prstGeom>
          <a:solidFill>
            <a:srgbClr val="C9D1D9"/>
          </a:solidFill>
          <a:ln w="0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s5-arrow-5">
            <a:extLst>
              <a:ext uri="{FF2B5EF4-FFF2-40B4-BE49-F238E27FC236}">
                <a16:creationId xmlns:a16="http://schemas.microsoft.com/office/drawing/2014/main" id="{04CDB58B-423E-4CBE-A9E1-228CCE759266}"/>
              </a:ext>
            </a:extLst>
          </p:cNvPr>
          <p:cNvSpPr>
            <a:spLocks noGrp="1"/>
          </p:cNvSpPr>
          <p:nvPr/>
        </p:nvSpPr>
        <p:spPr>
          <a:xfrm>
            <a:off x="10039350" y="3057525"/>
            <a:ext cx="438150" cy="228600"/>
          </a:xfrm>
          <a:prstGeom prst="rightArrow">
            <a:avLst/>
          </a:prstGeom>
          <a:solidFill>
            <a:srgbClr val="C9D1D9"/>
          </a:solidFill>
          <a:ln w="0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s5-node-0">
            <a:extLst>
              <a:ext uri="{FF2B5EF4-FFF2-40B4-BE49-F238E27FC236}">
                <a16:creationId xmlns:a16="http://schemas.microsoft.com/office/drawing/2014/main" id="{E2B381D7-2DF2-4D98-B22B-A45CD01D0883}"/>
              </a:ext>
            </a:extLst>
          </p:cNvPr>
          <p:cNvSpPr>
            <a:spLocks noGrp="1"/>
          </p:cNvSpPr>
          <p:nvPr/>
        </p:nvSpPr>
        <p:spPr>
          <a:xfrm>
            <a:off x="457200" y="2362200"/>
            <a:ext cx="1295400" cy="1676400"/>
          </a:xfrm>
          <a:prstGeom prst="roundRect">
            <a:avLst>
              <a:gd name="adj" fmla="val 5882"/>
            </a:avLst>
          </a:prstGeom>
          <a:solidFill>
            <a:srgbClr val="F1F4F7"/>
          </a:solidFill>
          <a:ln w="14288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s5-num-0">
            <a:extLst>
              <a:ext uri="{FF2B5EF4-FFF2-40B4-BE49-F238E27FC236}">
                <a16:creationId xmlns:a16="http://schemas.microsoft.com/office/drawing/2014/main" id="{82B6AC9D-2B59-412A-9FD0-35A4395F330C}"/>
              </a:ext>
            </a:extLst>
          </p:cNvPr>
          <p:cNvSpPr>
            <a:spLocks noGrp="1"/>
          </p:cNvSpPr>
          <p:nvPr/>
        </p:nvSpPr>
        <p:spPr>
          <a:xfrm>
            <a:off x="571500" y="24955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1677D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77D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4" name="s5-title-0">
            <a:extLst>
              <a:ext uri="{FF2B5EF4-FFF2-40B4-BE49-F238E27FC236}">
                <a16:creationId xmlns:a16="http://schemas.microsoft.com/office/drawing/2014/main" id="{9F27ACAB-73F7-47C9-AF35-8009B9D99590}"/>
              </a:ext>
            </a:extLst>
          </p:cNvPr>
          <p:cNvSpPr>
            <a:spLocks noGrp="1"/>
          </p:cNvSpPr>
          <p:nvPr/>
        </p:nvSpPr>
        <p:spPr>
          <a:xfrm>
            <a:off x="571500" y="2876550"/>
            <a:ext cx="10668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Inventory</a:t>
            </a:r>
          </a:p>
        </p:txBody>
      </p:sp>
      <p:sp>
        <p:nvSpPr>
          <p:cNvPr id="15" name="s5-body-0">
            <a:extLst>
              <a:ext uri="{FF2B5EF4-FFF2-40B4-BE49-F238E27FC236}">
                <a16:creationId xmlns:a16="http://schemas.microsoft.com/office/drawing/2014/main" id="{7DC63901-7EB4-4B30-AC02-4F2E8BE4D771}"/>
              </a:ext>
            </a:extLst>
          </p:cNvPr>
          <p:cNvSpPr>
            <a:spLocks noGrp="1"/>
          </p:cNvSpPr>
          <p:nvPr/>
        </p:nvSpPr>
        <p:spPr>
          <a:xfrm>
            <a:off x="552450" y="3476625"/>
            <a:ext cx="1104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盤點 paired sources</a:t>
            </a:r>
          </a:p>
        </p:txBody>
      </p:sp>
      <p:sp>
        <p:nvSpPr>
          <p:cNvPr id="16" name="s5-node-1">
            <a:extLst>
              <a:ext uri="{FF2B5EF4-FFF2-40B4-BE49-F238E27FC236}">
                <a16:creationId xmlns:a16="http://schemas.microsoft.com/office/drawing/2014/main" id="{A581E370-E71C-44AC-82A0-F936C18AEF30}"/>
              </a:ext>
            </a:extLst>
          </p:cNvPr>
          <p:cNvSpPr>
            <a:spLocks noGrp="1"/>
          </p:cNvSpPr>
          <p:nvPr/>
        </p:nvSpPr>
        <p:spPr>
          <a:xfrm>
            <a:off x="2114550" y="2362200"/>
            <a:ext cx="1295400" cy="1676400"/>
          </a:xfrm>
          <a:prstGeom prst="roundRect">
            <a:avLst>
              <a:gd name="adj" fmla="val 5882"/>
            </a:avLst>
          </a:prstGeom>
          <a:solidFill>
            <a:srgbClr val="F1F4F7"/>
          </a:solidFill>
          <a:ln w="14288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s5-num-1">
            <a:extLst>
              <a:ext uri="{FF2B5EF4-FFF2-40B4-BE49-F238E27FC236}">
                <a16:creationId xmlns:a16="http://schemas.microsoft.com/office/drawing/2014/main" id="{4F97E5F8-620F-4BFC-8207-9D7F69429B4F}"/>
              </a:ext>
            </a:extLst>
          </p:cNvPr>
          <p:cNvSpPr>
            <a:spLocks noGrp="1"/>
          </p:cNvSpPr>
          <p:nvPr/>
        </p:nvSpPr>
        <p:spPr>
          <a:xfrm>
            <a:off x="2228850" y="24955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1677D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77D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8" name="s5-title-1">
            <a:extLst>
              <a:ext uri="{FF2B5EF4-FFF2-40B4-BE49-F238E27FC236}">
                <a16:creationId xmlns:a16="http://schemas.microsoft.com/office/drawing/2014/main" id="{7D81C6E8-264C-4D14-B753-B7104DF2D321}"/>
              </a:ext>
            </a:extLst>
          </p:cNvPr>
          <p:cNvSpPr>
            <a:spLocks noGrp="1"/>
          </p:cNvSpPr>
          <p:nvPr/>
        </p:nvSpPr>
        <p:spPr>
          <a:xfrm>
            <a:off x="2228850" y="2876550"/>
            <a:ext cx="10668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Compare</a:t>
            </a:r>
          </a:p>
        </p:txBody>
      </p:sp>
      <p:sp>
        <p:nvSpPr>
          <p:cNvPr id="19" name="s5-body-1">
            <a:extLst>
              <a:ext uri="{FF2B5EF4-FFF2-40B4-BE49-F238E27FC236}">
                <a16:creationId xmlns:a16="http://schemas.microsoft.com/office/drawing/2014/main" id="{704142F5-E0C1-4993-AD77-0A39E9C0FFBE}"/>
              </a:ext>
            </a:extLst>
          </p:cNvPr>
          <p:cNvSpPr>
            <a:spLocks noGrp="1"/>
          </p:cNvSpPr>
          <p:nvPr/>
        </p:nvSpPr>
        <p:spPr>
          <a:xfrm>
            <a:off x="2209800" y="3476625"/>
            <a:ext cx="1104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逐欄 reconciliation</a:t>
            </a:r>
          </a:p>
        </p:txBody>
      </p:sp>
      <p:sp>
        <p:nvSpPr>
          <p:cNvPr id="20" name="s5-node-2">
            <a:extLst>
              <a:ext uri="{FF2B5EF4-FFF2-40B4-BE49-F238E27FC236}">
                <a16:creationId xmlns:a16="http://schemas.microsoft.com/office/drawing/2014/main" id="{E664BDD2-FACD-4F2A-AD47-DF42EBE369DC}"/>
              </a:ext>
            </a:extLst>
          </p:cNvPr>
          <p:cNvSpPr>
            <a:spLocks noGrp="1"/>
          </p:cNvSpPr>
          <p:nvPr/>
        </p:nvSpPr>
        <p:spPr>
          <a:xfrm>
            <a:off x="3771900" y="2362200"/>
            <a:ext cx="1295400" cy="1676400"/>
          </a:xfrm>
          <a:prstGeom prst="roundRect">
            <a:avLst>
              <a:gd name="adj" fmla="val 5882"/>
            </a:avLst>
          </a:prstGeom>
          <a:solidFill>
            <a:srgbClr val="F1F4F7"/>
          </a:solidFill>
          <a:ln w="14288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s5-num-2">
            <a:extLst>
              <a:ext uri="{FF2B5EF4-FFF2-40B4-BE49-F238E27FC236}">
                <a16:creationId xmlns:a16="http://schemas.microsoft.com/office/drawing/2014/main" id="{62C91896-44A5-47A1-B313-782C8D5B7135}"/>
              </a:ext>
            </a:extLst>
          </p:cNvPr>
          <p:cNvSpPr>
            <a:spLocks noGrp="1"/>
          </p:cNvSpPr>
          <p:nvPr/>
        </p:nvSpPr>
        <p:spPr>
          <a:xfrm>
            <a:off x="3886200" y="24955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1677D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77D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2" name="s5-title-2">
            <a:extLst>
              <a:ext uri="{FF2B5EF4-FFF2-40B4-BE49-F238E27FC236}">
                <a16:creationId xmlns:a16="http://schemas.microsoft.com/office/drawing/2014/main" id="{40E93599-1525-43CE-9108-D762180D89FE}"/>
              </a:ext>
            </a:extLst>
          </p:cNvPr>
          <p:cNvSpPr>
            <a:spLocks noGrp="1"/>
          </p:cNvSpPr>
          <p:nvPr/>
        </p:nvSpPr>
        <p:spPr>
          <a:xfrm>
            <a:off x="3886200" y="2876550"/>
            <a:ext cx="10668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Plan</a:t>
            </a:r>
          </a:p>
        </p:txBody>
      </p:sp>
      <p:sp>
        <p:nvSpPr>
          <p:cNvPr id="23" name="s5-body-2">
            <a:extLst>
              <a:ext uri="{FF2B5EF4-FFF2-40B4-BE49-F238E27FC236}">
                <a16:creationId xmlns:a16="http://schemas.microsoft.com/office/drawing/2014/main" id="{0284D80E-4B4B-434A-A342-90D0D1703520}"/>
              </a:ext>
            </a:extLst>
          </p:cNvPr>
          <p:cNvSpPr>
            <a:spLocks noGrp="1"/>
          </p:cNvSpPr>
          <p:nvPr/>
        </p:nvSpPr>
        <p:spPr>
          <a:xfrm>
            <a:off x="3867150" y="3476625"/>
            <a:ext cx="1104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backup / abort / rollback</a:t>
            </a:r>
          </a:p>
        </p:txBody>
      </p:sp>
      <p:sp>
        <p:nvSpPr>
          <p:cNvPr id="24" name="s5-node-3">
            <a:extLst>
              <a:ext uri="{FF2B5EF4-FFF2-40B4-BE49-F238E27FC236}">
                <a16:creationId xmlns:a16="http://schemas.microsoft.com/office/drawing/2014/main" id="{78BC67AA-00D1-4E5E-AE87-3C1DB140D114}"/>
              </a:ext>
            </a:extLst>
          </p:cNvPr>
          <p:cNvSpPr>
            <a:spLocks noGrp="1"/>
          </p:cNvSpPr>
          <p:nvPr/>
        </p:nvSpPr>
        <p:spPr>
          <a:xfrm>
            <a:off x="5429250" y="2362200"/>
            <a:ext cx="1295400" cy="1676400"/>
          </a:xfrm>
          <a:prstGeom prst="roundRect">
            <a:avLst>
              <a:gd name="adj" fmla="val 5882"/>
            </a:avLst>
          </a:prstGeom>
          <a:solidFill>
            <a:srgbClr val="FFF0D5"/>
          </a:solidFill>
          <a:ln w="14288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s5-num-3">
            <a:extLst>
              <a:ext uri="{FF2B5EF4-FFF2-40B4-BE49-F238E27FC236}">
                <a16:creationId xmlns:a16="http://schemas.microsoft.com/office/drawing/2014/main" id="{CB4638A2-90A9-4B25-8A0E-9840E302DDBD}"/>
              </a:ext>
            </a:extLst>
          </p:cNvPr>
          <p:cNvSpPr>
            <a:spLocks noGrp="1"/>
          </p:cNvSpPr>
          <p:nvPr/>
        </p:nvSpPr>
        <p:spPr>
          <a:xfrm>
            <a:off x="5543550" y="24955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6" name="s5-title-3">
            <a:extLst>
              <a:ext uri="{FF2B5EF4-FFF2-40B4-BE49-F238E27FC236}">
                <a16:creationId xmlns:a16="http://schemas.microsoft.com/office/drawing/2014/main" id="{CDA6DA79-1036-4955-9E8C-0EB1507368EE}"/>
              </a:ext>
            </a:extLst>
          </p:cNvPr>
          <p:cNvSpPr>
            <a:spLocks noGrp="1"/>
          </p:cNvSpPr>
          <p:nvPr/>
        </p:nvSpPr>
        <p:spPr>
          <a:xfrm>
            <a:off x="5543550" y="2876550"/>
            <a:ext cx="10668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8261"/>
          </a:bodyPr>
          <a:lstStyle/>
          <a:p>
            <a:pPr algn="ctr">
              <a:lnSpc>
                <a:spcPct val="105000"/>
              </a:lnSpc>
              <a:buNone/>
              <a:defRPr sz="157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Human Approval</a:t>
            </a:r>
          </a:p>
        </p:txBody>
      </p:sp>
      <p:sp>
        <p:nvSpPr>
          <p:cNvPr id="27" name="s5-body-3">
            <a:extLst>
              <a:ext uri="{FF2B5EF4-FFF2-40B4-BE49-F238E27FC236}">
                <a16:creationId xmlns:a16="http://schemas.microsoft.com/office/drawing/2014/main" id="{1378F75C-2367-44B9-A42A-270BB11EC02F}"/>
              </a:ext>
            </a:extLst>
          </p:cNvPr>
          <p:cNvSpPr>
            <a:spLocks noGrp="1"/>
          </p:cNvSpPr>
          <p:nvPr/>
        </p:nvSpPr>
        <p:spPr>
          <a:xfrm>
            <a:off x="5524500" y="3476625"/>
            <a:ext cx="1104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核准 scope 與 gate</a:t>
            </a:r>
          </a:p>
        </p:txBody>
      </p:sp>
      <p:sp>
        <p:nvSpPr>
          <p:cNvPr id="28" name="s5-node-4">
            <a:extLst>
              <a:ext uri="{FF2B5EF4-FFF2-40B4-BE49-F238E27FC236}">
                <a16:creationId xmlns:a16="http://schemas.microsoft.com/office/drawing/2014/main" id="{17C3F08A-C863-477C-A624-F3EEE09F3D6B}"/>
              </a:ext>
            </a:extLst>
          </p:cNvPr>
          <p:cNvSpPr>
            <a:spLocks noGrp="1"/>
          </p:cNvSpPr>
          <p:nvPr/>
        </p:nvSpPr>
        <p:spPr>
          <a:xfrm>
            <a:off x="7086600" y="2362200"/>
            <a:ext cx="1295400" cy="1676400"/>
          </a:xfrm>
          <a:prstGeom prst="roundRect">
            <a:avLst>
              <a:gd name="adj" fmla="val 5882"/>
            </a:avLst>
          </a:prstGeom>
          <a:solidFill>
            <a:srgbClr val="DCEEFF"/>
          </a:solidFill>
          <a:ln w="14288">
            <a:solidFill>
              <a:srgbClr val="1677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s5-num-4">
            <a:extLst>
              <a:ext uri="{FF2B5EF4-FFF2-40B4-BE49-F238E27FC236}">
                <a16:creationId xmlns:a16="http://schemas.microsoft.com/office/drawing/2014/main" id="{8DC99631-77E1-4F39-BC7D-BC2CC07CD474}"/>
              </a:ext>
            </a:extLst>
          </p:cNvPr>
          <p:cNvSpPr>
            <a:spLocks noGrp="1"/>
          </p:cNvSpPr>
          <p:nvPr/>
        </p:nvSpPr>
        <p:spPr>
          <a:xfrm>
            <a:off x="7200900" y="24955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1677D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77D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0" name="s5-title-4">
            <a:extLst>
              <a:ext uri="{FF2B5EF4-FFF2-40B4-BE49-F238E27FC236}">
                <a16:creationId xmlns:a16="http://schemas.microsoft.com/office/drawing/2014/main" id="{57C58EA0-B9AD-4B76-9B5E-A413159FA393}"/>
              </a:ext>
            </a:extLst>
          </p:cNvPr>
          <p:cNvSpPr>
            <a:spLocks noGrp="1"/>
          </p:cNvSpPr>
          <p:nvPr/>
        </p:nvSpPr>
        <p:spPr>
          <a:xfrm>
            <a:off x="7200900" y="2876550"/>
            <a:ext cx="10668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8261"/>
          </a:bodyPr>
          <a:lstStyle/>
          <a:p>
            <a:pPr algn="ctr">
              <a:lnSpc>
                <a:spcPct val="105000"/>
              </a:lnSpc>
              <a:buNone/>
              <a:defRPr sz="15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Backup / Migration</a:t>
            </a:r>
          </a:p>
        </p:txBody>
      </p:sp>
      <p:sp>
        <p:nvSpPr>
          <p:cNvPr id="31" name="s5-body-4">
            <a:extLst>
              <a:ext uri="{FF2B5EF4-FFF2-40B4-BE49-F238E27FC236}">
                <a16:creationId xmlns:a16="http://schemas.microsoft.com/office/drawing/2014/main" id="{72ABBEB0-9D7F-4EC0-B158-B55164FB479F}"/>
              </a:ext>
            </a:extLst>
          </p:cNvPr>
          <p:cNvSpPr>
            <a:spLocks noGrp="1"/>
          </p:cNvSpPr>
          <p:nvPr/>
        </p:nvSpPr>
        <p:spPr>
          <a:xfrm>
            <a:off x="7181850" y="3476625"/>
            <a:ext cx="1104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建立可回復起點</a:t>
            </a:r>
          </a:p>
        </p:txBody>
      </p:sp>
      <p:sp>
        <p:nvSpPr>
          <p:cNvPr id="32" name="s5-node-5">
            <a:extLst>
              <a:ext uri="{FF2B5EF4-FFF2-40B4-BE49-F238E27FC236}">
                <a16:creationId xmlns:a16="http://schemas.microsoft.com/office/drawing/2014/main" id="{381D1775-035B-4532-866D-5DAED5579CC1}"/>
              </a:ext>
            </a:extLst>
          </p:cNvPr>
          <p:cNvSpPr>
            <a:spLocks noGrp="1"/>
          </p:cNvSpPr>
          <p:nvPr/>
        </p:nvSpPr>
        <p:spPr>
          <a:xfrm>
            <a:off x="8743950" y="2362200"/>
            <a:ext cx="1295400" cy="1676400"/>
          </a:xfrm>
          <a:prstGeom prst="roundRect">
            <a:avLst>
              <a:gd name="adj" fmla="val 5882"/>
            </a:avLst>
          </a:prstGeom>
          <a:solidFill>
            <a:srgbClr val="DCEEFF"/>
          </a:solidFill>
          <a:ln w="14288">
            <a:solidFill>
              <a:srgbClr val="1677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s5-num-5">
            <a:extLst>
              <a:ext uri="{FF2B5EF4-FFF2-40B4-BE49-F238E27FC236}">
                <a16:creationId xmlns:a16="http://schemas.microsoft.com/office/drawing/2014/main" id="{D9F07B0D-BD9C-4C29-B0C2-2EA42CB8E781}"/>
              </a:ext>
            </a:extLst>
          </p:cNvPr>
          <p:cNvSpPr>
            <a:spLocks noGrp="1"/>
          </p:cNvSpPr>
          <p:nvPr/>
        </p:nvSpPr>
        <p:spPr>
          <a:xfrm>
            <a:off x="8858250" y="24955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1677D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77D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4" name="s5-title-5">
            <a:extLst>
              <a:ext uri="{FF2B5EF4-FFF2-40B4-BE49-F238E27FC236}">
                <a16:creationId xmlns:a16="http://schemas.microsoft.com/office/drawing/2014/main" id="{D3BBEEE2-3498-4AD7-89FE-C8929B90540C}"/>
              </a:ext>
            </a:extLst>
          </p:cNvPr>
          <p:cNvSpPr>
            <a:spLocks noGrp="1"/>
          </p:cNvSpPr>
          <p:nvPr/>
        </p:nvSpPr>
        <p:spPr>
          <a:xfrm>
            <a:off x="8858250" y="2876550"/>
            <a:ext cx="10668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8261"/>
          </a:bodyPr>
          <a:lstStyle/>
          <a:p>
            <a:pPr algn="ctr">
              <a:lnSpc>
                <a:spcPct val="105000"/>
              </a:lnSpc>
              <a:buNone/>
              <a:defRPr sz="15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Bring-up / Validate</a:t>
            </a:r>
          </a:p>
        </p:txBody>
      </p:sp>
      <p:sp>
        <p:nvSpPr>
          <p:cNvPr id="35" name="s5-body-5">
            <a:extLst>
              <a:ext uri="{FF2B5EF4-FFF2-40B4-BE49-F238E27FC236}">
                <a16:creationId xmlns:a16="http://schemas.microsoft.com/office/drawing/2014/main" id="{E18C6C10-5B47-4D5D-BE11-3BE4C1B08ED5}"/>
              </a:ext>
            </a:extLst>
          </p:cNvPr>
          <p:cNvSpPr>
            <a:spLocks noGrp="1"/>
          </p:cNvSpPr>
          <p:nvPr/>
        </p:nvSpPr>
        <p:spPr>
          <a:xfrm>
            <a:off x="8839200" y="3476625"/>
            <a:ext cx="1104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最小核准 execution</a:t>
            </a:r>
          </a:p>
        </p:txBody>
      </p:sp>
      <p:sp>
        <p:nvSpPr>
          <p:cNvPr id="36" name="s5-node-6">
            <a:extLst>
              <a:ext uri="{FF2B5EF4-FFF2-40B4-BE49-F238E27FC236}">
                <a16:creationId xmlns:a16="http://schemas.microsoft.com/office/drawing/2014/main" id="{C11B6F5D-8061-459F-82AA-B80C34644F16}"/>
              </a:ext>
            </a:extLst>
          </p:cNvPr>
          <p:cNvSpPr>
            <a:spLocks noGrp="1"/>
          </p:cNvSpPr>
          <p:nvPr/>
        </p:nvSpPr>
        <p:spPr>
          <a:xfrm>
            <a:off x="10401300" y="2362200"/>
            <a:ext cx="1295400" cy="1676400"/>
          </a:xfrm>
          <a:prstGeom prst="roundRect">
            <a:avLst>
              <a:gd name="adj" fmla="val 5882"/>
            </a:avLst>
          </a:prstGeom>
          <a:solidFill>
            <a:srgbClr val="DCEEFF"/>
          </a:solidFill>
          <a:ln w="14288">
            <a:solidFill>
              <a:srgbClr val="1677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s5-num-6">
            <a:extLst>
              <a:ext uri="{FF2B5EF4-FFF2-40B4-BE49-F238E27FC236}">
                <a16:creationId xmlns:a16="http://schemas.microsoft.com/office/drawing/2014/main" id="{9D0DEBA9-592C-4AD2-A317-3615738AB220}"/>
              </a:ext>
            </a:extLst>
          </p:cNvPr>
          <p:cNvSpPr>
            <a:spLocks noGrp="1"/>
          </p:cNvSpPr>
          <p:nvPr/>
        </p:nvSpPr>
        <p:spPr>
          <a:xfrm>
            <a:off x="10515600" y="24955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1677D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77D2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8" name="s5-title-6">
            <a:extLst>
              <a:ext uri="{FF2B5EF4-FFF2-40B4-BE49-F238E27FC236}">
                <a16:creationId xmlns:a16="http://schemas.microsoft.com/office/drawing/2014/main" id="{2C31BC83-2711-4900-B8E0-483AF47E0DCE}"/>
              </a:ext>
            </a:extLst>
          </p:cNvPr>
          <p:cNvSpPr>
            <a:spLocks noGrp="1"/>
          </p:cNvSpPr>
          <p:nvPr/>
        </p:nvSpPr>
        <p:spPr>
          <a:xfrm>
            <a:off x="10515600" y="2876550"/>
            <a:ext cx="10668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8261"/>
          </a:bodyPr>
          <a:lstStyle/>
          <a:p>
            <a:pPr algn="ctr">
              <a:lnSpc>
                <a:spcPct val="105000"/>
              </a:lnSpc>
              <a:buNone/>
              <a:defRPr sz="15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Shutdown / Handoff</a:t>
            </a:r>
          </a:p>
        </p:txBody>
      </p:sp>
      <p:sp>
        <p:nvSpPr>
          <p:cNvPr id="39" name="s5-body-6">
            <a:extLst>
              <a:ext uri="{FF2B5EF4-FFF2-40B4-BE49-F238E27FC236}">
                <a16:creationId xmlns:a16="http://schemas.microsoft.com/office/drawing/2014/main" id="{A55B2D61-20D7-4F93-8825-881786793A04}"/>
              </a:ext>
            </a:extLst>
          </p:cNvPr>
          <p:cNvSpPr>
            <a:spLocks noGrp="1"/>
          </p:cNvSpPr>
          <p:nvPr/>
        </p:nvSpPr>
        <p:spPr>
          <a:xfrm>
            <a:off x="10496550" y="3476625"/>
            <a:ext cx="1104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保存 evidence</a:t>
            </a:r>
          </a:p>
        </p:txBody>
      </p:sp>
      <p:sp>
        <p:nvSpPr>
          <p:cNvPr id="40" name="s5-callout">
            <a:extLst>
              <a:ext uri="{FF2B5EF4-FFF2-40B4-BE49-F238E27FC236}">
                <a16:creationId xmlns:a16="http://schemas.microsoft.com/office/drawing/2014/main" id="{462C21AC-E19E-44DD-9967-6FFF0741E196}"/>
              </a:ext>
            </a:extLst>
          </p:cNvPr>
          <p:cNvSpPr>
            <a:spLocks noGrp="1"/>
          </p:cNvSpPr>
          <p:nvPr/>
        </p:nvSpPr>
        <p:spPr>
          <a:xfrm>
            <a:off x="1733550" y="4705350"/>
            <a:ext cx="8724900" cy="514350"/>
          </a:xfrm>
          <a:prstGeom prst="rect">
            <a:avLst/>
          </a:prstGeom>
          <a:solidFill>
            <a:srgbClr val="F1F4F7"/>
          </a:solidFill>
          <a:ln w="9525">
            <a:solidFill>
              <a:srgbClr val="C9D1D9"/>
            </a:solidFill>
            <a:prstDash val="solid"/>
          </a:ln>
        </p:spPr>
        <p:txBody>
          <a:bodyPr wrap="square" lIns="76200" tIns="38100" rIns="76200" bIns="3810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8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Approval 位於 plan 與 execution 之間；pipeline 不代表自動執行。</a:t>
            </a:r>
          </a:p>
        </p:txBody>
      </p:sp>
      <p:sp>
        <p:nvSpPr>
          <p:cNvPr id="41" name="s5-end-bg">
            <a:extLst>
              <a:ext uri="{FF2B5EF4-FFF2-40B4-BE49-F238E27FC236}">
                <a16:creationId xmlns:a16="http://schemas.microsoft.com/office/drawing/2014/main" id="{320915AD-E740-4718-98B9-40243EA928C3}"/>
              </a:ext>
            </a:extLst>
          </p:cNvPr>
          <p:cNvSpPr>
            <a:spLocks noGrp="1"/>
          </p:cNvSpPr>
          <p:nvPr/>
        </p:nvSpPr>
        <p:spPr>
          <a:xfrm>
            <a:off x="2857500" y="5524500"/>
            <a:ext cx="6477000" cy="400050"/>
          </a:xfrm>
          <a:prstGeom prst="roundRect">
            <a:avLst>
              <a:gd name="adj" fmla="val 19048"/>
            </a:avLst>
          </a:prstGeom>
          <a:solidFill>
            <a:srgbClr val="FFF0D5"/>
          </a:solidFill>
          <a:ln w="9525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s5-end-text">
            <a:extLst>
              <a:ext uri="{FF2B5EF4-FFF2-40B4-BE49-F238E27FC236}">
                <a16:creationId xmlns:a16="http://schemas.microsoft.com/office/drawing/2014/main" id="{D7838EC4-8CAC-4B98-845D-7222F3450133}"/>
              </a:ext>
            </a:extLst>
          </p:cNvPr>
          <p:cNvSpPr>
            <a:spLocks noGrp="1"/>
          </p:cNvSpPr>
          <p:nvPr/>
        </p:nvSpPr>
        <p:spPr>
          <a:xfrm>
            <a:off x="2857500" y="5524500"/>
            <a:ext cx="647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每次 handoff 後，下一項 runtime work 回到 NEEDS_APPROVAL</a:t>
            </a:r>
          </a:p>
        </p:txBody>
      </p:sp>
    </p:spTree>
    <p:extLst>
      <p:ext uri="{BB962C8B-B14F-4D97-AF65-F5344CB8AC3E}">
        <p14:creationId xmlns:p14="http://schemas.microsoft.com/office/powerpoint/2010/main" val="1733818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kicker-6">
            <a:extLst>
              <a:ext uri="{FF2B5EF4-FFF2-40B4-BE49-F238E27FC236}">
                <a16:creationId xmlns:a16="http://schemas.microsoft.com/office/drawing/2014/main" id="{6A75DA03-8050-4429-8349-471504E1D3C4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1677D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77D2"/>
                </a:solidFill>
                <a:latin typeface="Arial"/>
                <a:ea typeface="Arial"/>
                <a:cs typeface="Arial"/>
              </a:rPr>
              <a:t>2026.07.14</a:t>
            </a:r>
          </a:p>
        </p:txBody>
      </p:sp>
      <p:sp>
        <p:nvSpPr>
          <p:cNvPr id="2" name="title-6">
            <a:extLst>
              <a:ext uri="{FF2B5EF4-FFF2-40B4-BE49-F238E27FC236}">
                <a16:creationId xmlns:a16="http://schemas.microsoft.com/office/drawing/2014/main" id="{5C31F09C-1AFA-47BD-B1CE-E5EC2BA44F1B}"/>
              </a:ext>
            </a:extLst>
          </p:cNvPr>
          <p:cNvSpPr>
            <a:spLocks noGrp="1"/>
          </p:cNvSpPr>
          <p:nvPr/>
        </p:nvSpPr>
        <p:spPr>
          <a:xfrm>
            <a:off x="457200" y="533400"/>
            <a:ext cx="112776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34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Gate 讓每一步都能明確 go、stop、review</a:t>
            </a:r>
          </a:p>
        </p:txBody>
      </p:sp>
      <p:sp>
        <p:nvSpPr>
          <p:cNvPr id="3" name="header-rule-6">
            <a:extLst>
              <a:ext uri="{FF2B5EF4-FFF2-40B4-BE49-F238E27FC236}">
                <a16:creationId xmlns:a16="http://schemas.microsoft.com/office/drawing/2014/main" id="{9ACC42A3-1515-4B24-9348-DE56B54CC1C3}"/>
              </a:ext>
            </a:extLst>
          </p:cNvPr>
          <p:cNvSpPr>
            <a:spLocks noGrp="1"/>
          </p:cNvSpPr>
          <p:nvPr/>
        </p:nvSpPr>
        <p:spPr>
          <a:xfrm>
            <a:off x="457200" y="1200150"/>
            <a:ext cx="11277600" cy="19050"/>
          </a:xfrm>
          <a:prstGeom prst="rect">
            <a:avLst/>
          </a:prstGeom>
          <a:solidFill>
            <a:srgbClr val="1677D2"/>
          </a:solidFill>
          <a:ln w="0">
            <a:solidFill>
              <a:srgbClr val="1677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footer-label-6">
            <a:extLst>
              <a:ext uri="{FF2B5EF4-FFF2-40B4-BE49-F238E27FC236}">
                <a16:creationId xmlns:a16="http://schemas.microsoft.com/office/drawing/2014/main" id="{8584210A-C759-4C27-99FA-0F7BB9495670}"/>
              </a:ext>
            </a:extLst>
          </p:cNvPr>
          <p:cNvSpPr>
            <a:spLocks noGrp="1"/>
          </p:cNvSpPr>
          <p:nvPr/>
        </p:nvSpPr>
        <p:spPr>
          <a:xfrm>
            <a:off x="457200" y="6391275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LAB01 BASELINE RECOVERY</a:t>
            </a:r>
          </a:p>
        </p:txBody>
      </p:sp>
      <p:sp>
        <p:nvSpPr>
          <p:cNvPr id="5" name="footer-num-6">
            <a:extLst>
              <a:ext uri="{FF2B5EF4-FFF2-40B4-BE49-F238E27FC236}">
                <a16:creationId xmlns:a16="http://schemas.microsoft.com/office/drawing/2014/main" id="{1050D337-1DC6-46BB-8531-E71251723FB7}"/>
              </a:ext>
            </a:extLst>
          </p:cNvPr>
          <p:cNvSpPr>
            <a:spLocks noGrp="1"/>
          </p:cNvSpPr>
          <p:nvPr/>
        </p:nvSpPr>
        <p:spPr>
          <a:xfrm>
            <a:off x="11163300" y="6372225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05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s6-a1">
            <a:extLst>
              <a:ext uri="{FF2B5EF4-FFF2-40B4-BE49-F238E27FC236}">
                <a16:creationId xmlns:a16="http://schemas.microsoft.com/office/drawing/2014/main" id="{AEBDADC4-A807-4E75-8576-5E98C4B6ED7D}"/>
              </a:ext>
            </a:extLst>
          </p:cNvPr>
          <p:cNvSpPr>
            <a:spLocks noGrp="1"/>
          </p:cNvSpPr>
          <p:nvPr/>
        </p:nvSpPr>
        <p:spPr>
          <a:xfrm>
            <a:off x="2552700" y="2581275"/>
            <a:ext cx="819150" cy="266700"/>
          </a:xfrm>
          <a:prstGeom prst="rightArrow">
            <a:avLst/>
          </a:prstGeom>
          <a:solidFill>
            <a:srgbClr val="C9D1D9"/>
          </a:solidFill>
          <a:ln w="0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6-a2">
            <a:extLst>
              <a:ext uri="{FF2B5EF4-FFF2-40B4-BE49-F238E27FC236}">
                <a16:creationId xmlns:a16="http://schemas.microsoft.com/office/drawing/2014/main" id="{3DA527EF-BB4B-44CD-A5AC-FA5EACF67977}"/>
              </a:ext>
            </a:extLst>
          </p:cNvPr>
          <p:cNvSpPr>
            <a:spLocks noGrp="1"/>
          </p:cNvSpPr>
          <p:nvPr/>
        </p:nvSpPr>
        <p:spPr>
          <a:xfrm>
            <a:off x="5219700" y="2581275"/>
            <a:ext cx="819150" cy="266700"/>
          </a:xfrm>
          <a:prstGeom prst="rightArrow">
            <a:avLst/>
          </a:prstGeom>
          <a:solidFill>
            <a:srgbClr val="C9D1D9"/>
          </a:solidFill>
          <a:ln w="0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6-a3">
            <a:extLst>
              <a:ext uri="{FF2B5EF4-FFF2-40B4-BE49-F238E27FC236}">
                <a16:creationId xmlns:a16="http://schemas.microsoft.com/office/drawing/2014/main" id="{B9CD50F2-4F3A-4BA4-9332-977BC9278B16}"/>
              </a:ext>
            </a:extLst>
          </p:cNvPr>
          <p:cNvSpPr>
            <a:spLocks noGrp="1"/>
          </p:cNvSpPr>
          <p:nvPr/>
        </p:nvSpPr>
        <p:spPr>
          <a:xfrm>
            <a:off x="8324850" y="2581275"/>
            <a:ext cx="704850" cy="266700"/>
          </a:xfrm>
          <a:prstGeom prst="rightArrow">
            <a:avLst/>
          </a:prstGeom>
          <a:solidFill>
            <a:srgbClr val="C9D1D9"/>
          </a:solidFill>
          <a:ln w="0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6-pending-box">
            <a:extLst>
              <a:ext uri="{FF2B5EF4-FFF2-40B4-BE49-F238E27FC236}">
                <a16:creationId xmlns:a16="http://schemas.microsoft.com/office/drawing/2014/main" id="{5FE67933-671C-49C5-9696-CB3F8D422928}"/>
              </a:ext>
            </a:extLst>
          </p:cNvPr>
          <p:cNvSpPr>
            <a:spLocks noGrp="1"/>
          </p:cNvSpPr>
          <p:nvPr/>
        </p:nvSpPr>
        <p:spPr>
          <a:xfrm>
            <a:off x="514350" y="2114550"/>
            <a:ext cx="2038350" cy="1257300"/>
          </a:xfrm>
          <a:prstGeom prst="roundRect">
            <a:avLst>
              <a:gd name="adj" fmla="val 6061"/>
            </a:avLst>
          </a:prstGeom>
          <a:solidFill>
            <a:srgbClr val="F1F4F7"/>
          </a:solidFill>
          <a:ln w="14288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6-pending-title">
            <a:extLst>
              <a:ext uri="{FF2B5EF4-FFF2-40B4-BE49-F238E27FC236}">
                <a16:creationId xmlns:a16="http://schemas.microsoft.com/office/drawing/2014/main" id="{147196D3-DC60-4B1B-9547-E24BB7DC4F12}"/>
              </a:ext>
            </a:extLst>
          </p:cNvPr>
          <p:cNvSpPr>
            <a:spLocks noGrp="1"/>
          </p:cNvSpPr>
          <p:nvPr/>
        </p:nvSpPr>
        <p:spPr>
          <a:xfrm>
            <a:off x="647700" y="2228850"/>
            <a:ext cx="1771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875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B7280"/>
                </a:solidFill>
                <a:latin typeface="Arial"/>
                <a:ea typeface="Arial"/>
                <a:cs typeface="Arial"/>
              </a:rPr>
              <a:t>PENDING</a:t>
            </a:r>
          </a:p>
        </p:txBody>
      </p:sp>
      <p:sp>
        <p:nvSpPr>
          <p:cNvPr id="11" name="s6-pending-subtitle">
            <a:extLst>
              <a:ext uri="{FF2B5EF4-FFF2-40B4-BE49-F238E27FC236}">
                <a16:creationId xmlns:a16="http://schemas.microsoft.com/office/drawing/2014/main" id="{20148E0A-894B-4475-A4F5-2A63FCFAC4E9}"/>
              </a:ext>
            </a:extLst>
          </p:cNvPr>
          <p:cNvSpPr>
            <a:spLocks noGrp="1"/>
          </p:cNvSpPr>
          <p:nvPr/>
        </p:nvSpPr>
        <p:spPr>
          <a:xfrm>
            <a:off x="647700" y="2590800"/>
            <a:ext cx="17716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evidence package 完整</a:t>
            </a:r>
          </a:p>
        </p:txBody>
      </p:sp>
      <p:sp>
        <p:nvSpPr>
          <p:cNvPr id="12" name="s6-auth-box">
            <a:extLst>
              <a:ext uri="{FF2B5EF4-FFF2-40B4-BE49-F238E27FC236}">
                <a16:creationId xmlns:a16="http://schemas.microsoft.com/office/drawing/2014/main" id="{26FF048E-4879-4FF4-A283-E89EF530F656}"/>
              </a:ext>
            </a:extLst>
          </p:cNvPr>
          <p:cNvSpPr>
            <a:spLocks noGrp="1"/>
          </p:cNvSpPr>
          <p:nvPr/>
        </p:nvSpPr>
        <p:spPr>
          <a:xfrm>
            <a:off x="3371850" y="2114550"/>
            <a:ext cx="1847850" cy="1257300"/>
          </a:xfrm>
          <a:prstGeom prst="roundRect">
            <a:avLst>
              <a:gd name="adj" fmla="val 6061"/>
            </a:avLst>
          </a:prstGeom>
          <a:solidFill>
            <a:srgbClr val="FFF0D5"/>
          </a:solidFill>
          <a:ln w="14288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s6-auth-title">
            <a:extLst>
              <a:ext uri="{FF2B5EF4-FFF2-40B4-BE49-F238E27FC236}">
                <a16:creationId xmlns:a16="http://schemas.microsoft.com/office/drawing/2014/main" id="{BDD11A0E-A556-48A8-BCE8-568DA7D4168C}"/>
              </a:ext>
            </a:extLst>
          </p:cNvPr>
          <p:cNvSpPr>
            <a:spLocks noGrp="1"/>
          </p:cNvSpPr>
          <p:nvPr/>
        </p:nvSpPr>
        <p:spPr>
          <a:xfrm>
            <a:off x="3505200" y="2228850"/>
            <a:ext cx="1581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87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AUTHORIZED</a:t>
            </a:r>
          </a:p>
        </p:txBody>
      </p:sp>
      <p:sp>
        <p:nvSpPr>
          <p:cNvPr id="14" name="s6-auth-subtitle">
            <a:extLst>
              <a:ext uri="{FF2B5EF4-FFF2-40B4-BE49-F238E27FC236}">
                <a16:creationId xmlns:a16="http://schemas.microsoft.com/office/drawing/2014/main" id="{D2D9541D-59BB-4754-AA0A-3CEE3810C24C}"/>
              </a:ext>
            </a:extLst>
          </p:cNvPr>
          <p:cNvSpPr>
            <a:spLocks noGrp="1"/>
          </p:cNvSpPr>
          <p:nvPr/>
        </p:nvSpPr>
        <p:spPr>
          <a:xfrm>
            <a:off x="3505200" y="2590800"/>
            <a:ext cx="1581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scope-bound approval</a:t>
            </a:r>
          </a:p>
        </p:txBody>
      </p:sp>
      <p:sp>
        <p:nvSpPr>
          <p:cNvPr id="15" name="s6-pass-box">
            <a:extLst>
              <a:ext uri="{FF2B5EF4-FFF2-40B4-BE49-F238E27FC236}">
                <a16:creationId xmlns:a16="http://schemas.microsoft.com/office/drawing/2014/main" id="{BBB9F163-4663-4F4D-9710-CA02FB070069}"/>
              </a:ext>
            </a:extLst>
          </p:cNvPr>
          <p:cNvSpPr>
            <a:spLocks noGrp="1"/>
          </p:cNvSpPr>
          <p:nvPr/>
        </p:nvSpPr>
        <p:spPr>
          <a:xfrm>
            <a:off x="6038850" y="2114550"/>
            <a:ext cx="2286000" cy="1257300"/>
          </a:xfrm>
          <a:prstGeom prst="roundRect">
            <a:avLst>
              <a:gd name="adj" fmla="val 6061"/>
            </a:avLst>
          </a:prstGeom>
          <a:solidFill>
            <a:srgbClr val="DDF5EA"/>
          </a:solidFill>
          <a:ln w="14288">
            <a:solidFill>
              <a:srgbClr val="16865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s6-pass-title">
            <a:extLst>
              <a:ext uri="{FF2B5EF4-FFF2-40B4-BE49-F238E27FC236}">
                <a16:creationId xmlns:a16="http://schemas.microsoft.com/office/drawing/2014/main" id="{7251BFBF-094A-461F-AE05-C7DA49F3A7B7}"/>
              </a:ext>
            </a:extLst>
          </p:cNvPr>
          <p:cNvSpPr>
            <a:spLocks noGrp="1"/>
          </p:cNvSpPr>
          <p:nvPr/>
        </p:nvSpPr>
        <p:spPr>
          <a:xfrm>
            <a:off x="6172200" y="2228850"/>
            <a:ext cx="2019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875" b="1">
                <a:solidFill>
                  <a:srgbClr val="16865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865B"/>
                </a:solidFill>
                <a:latin typeface="Arial"/>
                <a:ea typeface="Arial"/>
                <a:cs typeface="Arial"/>
              </a:rPr>
              <a:t>PASS / CLOSED</a:t>
            </a:r>
          </a:p>
        </p:txBody>
      </p:sp>
      <p:sp>
        <p:nvSpPr>
          <p:cNvPr id="17" name="s6-pass-subtitle">
            <a:extLst>
              <a:ext uri="{FF2B5EF4-FFF2-40B4-BE49-F238E27FC236}">
                <a16:creationId xmlns:a16="http://schemas.microsoft.com/office/drawing/2014/main" id="{6BEA0029-CE32-4712-A6EE-D4A80FB68845}"/>
              </a:ext>
            </a:extLst>
          </p:cNvPr>
          <p:cNvSpPr>
            <a:spLocks noGrp="1"/>
          </p:cNvSpPr>
          <p:nvPr/>
        </p:nvSpPr>
        <p:spPr>
          <a:xfrm>
            <a:off x="6172200" y="2590800"/>
            <a:ext cx="20193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expected result 成立</a:t>
            </a:r>
          </a:p>
        </p:txBody>
      </p:sp>
      <p:sp>
        <p:nvSpPr>
          <p:cNvPr id="18" name="s6-need-box">
            <a:extLst>
              <a:ext uri="{FF2B5EF4-FFF2-40B4-BE49-F238E27FC236}">
                <a16:creationId xmlns:a16="http://schemas.microsoft.com/office/drawing/2014/main" id="{7B141C7E-37A6-4E16-ABA6-B0A9D6431599}"/>
              </a:ext>
            </a:extLst>
          </p:cNvPr>
          <p:cNvSpPr>
            <a:spLocks noGrp="1"/>
          </p:cNvSpPr>
          <p:nvPr/>
        </p:nvSpPr>
        <p:spPr>
          <a:xfrm>
            <a:off x="9029700" y="2114550"/>
            <a:ext cx="2571750" cy="1257300"/>
          </a:xfrm>
          <a:prstGeom prst="roundRect">
            <a:avLst>
              <a:gd name="adj" fmla="val 6061"/>
            </a:avLst>
          </a:prstGeom>
          <a:solidFill>
            <a:srgbClr val="FFF0D5"/>
          </a:solidFill>
          <a:ln w="14288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s6-need-title">
            <a:extLst>
              <a:ext uri="{FF2B5EF4-FFF2-40B4-BE49-F238E27FC236}">
                <a16:creationId xmlns:a16="http://schemas.microsoft.com/office/drawing/2014/main" id="{58564DE2-DBE9-4505-9883-3E122DB0484F}"/>
              </a:ext>
            </a:extLst>
          </p:cNvPr>
          <p:cNvSpPr>
            <a:spLocks noGrp="1"/>
          </p:cNvSpPr>
          <p:nvPr/>
        </p:nvSpPr>
        <p:spPr>
          <a:xfrm>
            <a:off x="9163050" y="2228850"/>
            <a:ext cx="2305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87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NEEDS_APPROVAL</a:t>
            </a:r>
          </a:p>
        </p:txBody>
      </p:sp>
      <p:sp>
        <p:nvSpPr>
          <p:cNvPr id="20" name="s6-need-subtitle">
            <a:extLst>
              <a:ext uri="{FF2B5EF4-FFF2-40B4-BE49-F238E27FC236}">
                <a16:creationId xmlns:a16="http://schemas.microsoft.com/office/drawing/2014/main" id="{70B49942-9933-4C6E-9D13-CB5C577543FA}"/>
              </a:ext>
            </a:extLst>
          </p:cNvPr>
          <p:cNvSpPr>
            <a:spLocks noGrp="1"/>
          </p:cNvSpPr>
          <p:nvPr/>
        </p:nvSpPr>
        <p:spPr>
          <a:xfrm>
            <a:off x="9163050" y="2590800"/>
            <a:ext cx="23050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下一項工作重新核准</a:t>
            </a:r>
          </a:p>
        </p:txBody>
      </p:sp>
      <p:sp>
        <p:nvSpPr>
          <p:cNvPr id="21" name="s6-stop-down">
            <a:extLst>
              <a:ext uri="{FF2B5EF4-FFF2-40B4-BE49-F238E27FC236}">
                <a16:creationId xmlns:a16="http://schemas.microsoft.com/office/drawing/2014/main" id="{1E533960-4AF9-4D5F-8119-E5C220F477E4}"/>
              </a:ext>
            </a:extLst>
          </p:cNvPr>
          <p:cNvSpPr>
            <a:spLocks noGrp="1"/>
          </p:cNvSpPr>
          <p:nvPr/>
        </p:nvSpPr>
        <p:spPr>
          <a:xfrm>
            <a:off x="6962775" y="3476625"/>
            <a:ext cx="266700" cy="590550"/>
          </a:xfrm>
          <a:prstGeom prst="downArrow">
            <a:avLst/>
          </a:prstGeom>
          <a:solidFill>
            <a:srgbClr val="C2413A"/>
          </a:solidFill>
          <a:ln w="0">
            <a:solidFill>
              <a:srgbClr val="C2413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s6-stop-box">
            <a:extLst>
              <a:ext uri="{FF2B5EF4-FFF2-40B4-BE49-F238E27FC236}">
                <a16:creationId xmlns:a16="http://schemas.microsoft.com/office/drawing/2014/main" id="{842115A8-EBFB-401B-A80F-2D8E2D7F643E}"/>
              </a:ext>
            </a:extLst>
          </p:cNvPr>
          <p:cNvSpPr>
            <a:spLocks noGrp="1"/>
          </p:cNvSpPr>
          <p:nvPr/>
        </p:nvSpPr>
        <p:spPr>
          <a:xfrm>
            <a:off x="4352925" y="4167187"/>
            <a:ext cx="2381250" cy="1181100"/>
          </a:xfrm>
          <a:prstGeom prst="roundRect">
            <a:avLst>
              <a:gd name="adj" fmla="val 6452"/>
            </a:avLst>
          </a:prstGeom>
          <a:solidFill>
            <a:srgbClr val="FCE7E5"/>
          </a:solidFill>
          <a:ln w="14288">
            <a:solidFill>
              <a:srgbClr val="C2413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s6-stop-title">
            <a:extLst>
              <a:ext uri="{FF2B5EF4-FFF2-40B4-BE49-F238E27FC236}">
                <a16:creationId xmlns:a16="http://schemas.microsoft.com/office/drawing/2014/main" id="{AD615327-A79A-4F23-99C5-323F26B386E8}"/>
              </a:ext>
            </a:extLst>
          </p:cNvPr>
          <p:cNvSpPr>
            <a:spLocks noGrp="1"/>
          </p:cNvSpPr>
          <p:nvPr/>
        </p:nvSpPr>
        <p:spPr>
          <a:xfrm>
            <a:off x="4486275" y="4281487"/>
            <a:ext cx="2114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875" b="1">
                <a:solidFill>
                  <a:srgbClr val="C2413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2413A"/>
                </a:solidFill>
                <a:latin typeface="Arial"/>
                <a:ea typeface="Arial"/>
                <a:cs typeface="Arial"/>
              </a:rPr>
              <a:t>STOP</a:t>
            </a:r>
          </a:p>
        </p:txBody>
      </p:sp>
      <p:sp>
        <p:nvSpPr>
          <p:cNvPr id="24" name="s6-stop-subtitle">
            <a:extLst>
              <a:ext uri="{FF2B5EF4-FFF2-40B4-BE49-F238E27FC236}">
                <a16:creationId xmlns:a16="http://schemas.microsoft.com/office/drawing/2014/main" id="{4673C96F-B4F2-4540-BC4C-C2F29186E6BC}"/>
              </a:ext>
            </a:extLst>
          </p:cNvPr>
          <p:cNvSpPr>
            <a:spLocks noGrp="1"/>
          </p:cNvSpPr>
          <p:nvPr/>
        </p:nvSpPr>
        <p:spPr>
          <a:xfrm>
            <a:off x="4486275" y="4643437"/>
            <a:ext cx="21145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conflict · unclear scope · unexpected result</a:t>
            </a:r>
          </a:p>
        </p:txBody>
      </p:sp>
      <p:sp>
        <p:nvSpPr>
          <p:cNvPr id="25" name="s6-rollback-a">
            <a:extLst>
              <a:ext uri="{FF2B5EF4-FFF2-40B4-BE49-F238E27FC236}">
                <a16:creationId xmlns:a16="http://schemas.microsoft.com/office/drawing/2014/main" id="{396617C1-14C9-49C6-9C17-EFE8164CFA76}"/>
              </a:ext>
            </a:extLst>
          </p:cNvPr>
          <p:cNvSpPr>
            <a:spLocks noGrp="1"/>
          </p:cNvSpPr>
          <p:nvPr/>
        </p:nvSpPr>
        <p:spPr>
          <a:xfrm>
            <a:off x="6744143" y="4614862"/>
            <a:ext cx="781050" cy="247650"/>
          </a:xfrm>
          <a:prstGeom prst="rightArrow">
            <a:avLst/>
          </a:prstGeom>
          <a:solidFill>
            <a:srgbClr val="C2413A"/>
          </a:solidFill>
          <a:ln w="0">
            <a:solidFill>
              <a:srgbClr val="C2413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s6-rollback-box">
            <a:extLst>
              <a:ext uri="{FF2B5EF4-FFF2-40B4-BE49-F238E27FC236}">
                <a16:creationId xmlns:a16="http://schemas.microsoft.com/office/drawing/2014/main" id="{4E11C971-E5B9-4B7A-8D8A-992042CA1D35}"/>
              </a:ext>
            </a:extLst>
          </p:cNvPr>
          <p:cNvSpPr>
            <a:spLocks noGrp="1"/>
          </p:cNvSpPr>
          <p:nvPr/>
        </p:nvSpPr>
        <p:spPr>
          <a:xfrm>
            <a:off x="7515225" y="4167187"/>
            <a:ext cx="3295650" cy="1181100"/>
          </a:xfrm>
          <a:prstGeom prst="roundRect">
            <a:avLst>
              <a:gd name="adj" fmla="val 6452"/>
            </a:avLst>
          </a:prstGeom>
          <a:solidFill>
            <a:srgbClr val="F1F4F7"/>
          </a:solidFill>
          <a:ln w="14288">
            <a:solidFill>
              <a:srgbClr val="C2413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s6-rollback-title">
            <a:extLst>
              <a:ext uri="{FF2B5EF4-FFF2-40B4-BE49-F238E27FC236}">
                <a16:creationId xmlns:a16="http://schemas.microsoft.com/office/drawing/2014/main" id="{29833FC9-821A-4A48-BF0F-9E3E151A7B94}"/>
              </a:ext>
            </a:extLst>
          </p:cNvPr>
          <p:cNvSpPr>
            <a:spLocks noGrp="1"/>
          </p:cNvSpPr>
          <p:nvPr/>
        </p:nvSpPr>
        <p:spPr>
          <a:xfrm>
            <a:off x="7648575" y="4281487"/>
            <a:ext cx="3028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875" b="1">
                <a:solidFill>
                  <a:srgbClr val="C2413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2413A"/>
                </a:solidFill>
                <a:latin typeface="Arial"/>
                <a:ea typeface="Arial"/>
                <a:cs typeface="Arial"/>
              </a:rPr>
              <a:t>Approved rollback</a:t>
            </a:r>
          </a:p>
        </p:txBody>
      </p:sp>
      <p:sp>
        <p:nvSpPr>
          <p:cNvPr id="28" name="s6-rollback-subtitle">
            <a:extLst>
              <a:ext uri="{FF2B5EF4-FFF2-40B4-BE49-F238E27FC236}">
                <a16:creationId xmlns:a16="http://schemas.microsoft.com/office/drawing/2014/main" id="{46687713-89E4-48D8-A8D7-223BFE603BB2}"/>
              </a:ext>
            </a:extLst>
          </p:cNvPr>
          <p:cNvSpPr>
            <a:spLocks noGrp="1"/>
          </p:cNvSpPr>
          <p:nvPr/>
        </p:nvSpPr>
        <p:spPr>
          <a:xfrm>
            <a:off x="7648575" y="4643437"/>
            <a:ext cx="30289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backup + mapping + validation</a:t>
            </a:r>
          </a:p>
          <a:p>
            <a:pPr algn="ctr">
              <a:lnSpc>
                <a:spcPct val="105000"/>
              </a:lnSpc>
              <a:buNone/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不是 Git reset</a:t>
            </a:r>
          </a:p>
        </p:txBody>
      </p:sp>
      <p:sp>
        <p:nvSpPr>
          <p:cNvPr id="29" name="s6-no-blanket-bg">
            <a:extLst>
              <a:ext uri="{FF2B5EF4-FFF2-40B4-BE49-F238E27FC236}">
                <a16:creationId xmlns:a16="http://schemas.microsoft.com/office/drawing/2014/main" id="{8F3BB246-77AF-41BB-8176-B79D207D8DC4}"/>
              </a:ext>
            </a:extLst>
          </p:cNvPr>
          <p:cNvSpPr>
            <a:spLocks noGrp="1"/>
          </p:cNvSpPr>
          <p:nvPr/>
        </p:nvSpPr>
        <p:spPr>
          <a:xfrm>
            <a:off x="1066800" y="5734050"/>
            <a:ext cx="6419850" cy="381000"/>
          </a:xfrm>
          <a:prstGeom prst="roundRect">
            <a:avLst>
              <a:gd name="adj" fmla="val 20000"/>
            </a:avLst>
          </a:prstGeom>
          <a:solidFill>
            <a:srgbClr val="ECEFF2"/>
          </a:solidFill>
          <a:ln w="9525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s6-no-blanket-text">
            <a:extLst>
              <a:ext uri="{FF2B5EF4-FFF2-40B4-BE49-F238E27FC236}">
                <a16:creationId xmlns:a16="http://schemas.microsoft.com/office/drawing/2014/main" id="{C4BE793F-F35E-4982-88C7-80057B7377D3}"/>
              </a:ext>
            </a:extLst>
          </p:cNvPr>
          <p:cNvSpPr>
            <a:spLocks noGrp="1"/>
          </p:cNvSpPr>
          <p:nvPr/>
        </p:nvSpPr>
        <p:spPr>
          <a:xfrm>
            <a:off x="1066800" y="5734050"/>
            <a:ext cx="6419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B7280"/>
                </a:solidFill>
                <a:latin typeface="Arial"/>
                <a:ea typeface="Arial"/>
                <a:cs typeface="Arial"/>
              </a:rPr>
              <a:t>PASS 不等於 future runtime 的 blanket approval</a:t>
            </a:r>
          </a:p>
        </p:txBody>
      </p:sp>
    </p:spTree>
    <p:extLst>
      <p:ext uri="{BB962C8B-B14F-4D97-AF65-F5344CB8AC3E}">
        <p14:creationId xmlns:p14="http://schemas.microsoft.com/office/powerpoint/2010/main" val="173360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kicker-7">
            <a:extLst>
              <a:ext uri="{FF2B5EF4-FFF2-40B4-BE49-F238E27FC236}">
                <a16:creationId xmlns:a16="http://schemas.microsoft.com/office/drawing/2014/main" id="{B891B106-2112-4319-88D6-CC2A00C22340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1677D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77D2"/>
                </a:solidFill>
                <a:latin typeface="Arial"/>
                <a:ea typeface="Arial"/>
                <a:cs typeface="Arial"/>
              </a:rPr>
              <a:t>2026.07.14</a:t>
            </a:r>
          </a:p>
        </p:txBody>
      </p:sp>
      <p:sp>
        <p:nvSpPr>
          <p:cNvPr id="2" name="title-7">
            <a:extLst>
              <a:ext uri="{FF2B5EF4-FFF2-40B4-BE49-F238E27FC236}">
                <a16:creationId xmlns:a16="http://schemas.microsoft.com/office/drawing/2014/main" id="{F1316168-2FD9-43DC-8976-7A02F16B4086}"/>
              </a:ext>
            </a:extLst>
          </p:cNvPr>
          <p:cNvSpPr>
            <a:spLocks noGrp="1"/>
          </p:cNvSpPr>
          <p:nvPr/>
        </p:nvSpPr>
        <p:spPr>
          <a:xfrm>
            <a:off x="457200" y="533400"/>
            <a:ext cx="112776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34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固定 dependency order，啟動與停止互為鏡像</a:t>
            </a:r>
          </a:p>
        </p:txBody>
      </p:sp>
      <p:sp>
        <p:nvSpPr>
          <p:cNvPr id="3" name="header-rule-7">
            <a:extLst>
              <a:ext uri="{FF2B5EF4-FFF2-40B4-BE49-F238E27FC236}">
                <a16:creationId xmlns:a16="http://schemas.microsoft.com/office/drawing/2014/main" id="{4B76B095-5026-46ED-93B2-BACEDAC45929}"/>
              </a:ext>
            </a:extLst>
          </p:cNvPr>
          <p:cNvSpPr>
            <a:spLocks noGrp="1"/>
          </p:cNvSpPr>
          <p:nvPr/>
        </p:nvSpPr>
        <p:spPr>
          <a:xfrm>
            <a:off x="457200" y="1200150"/>
            <a:ext cx="11277600" cy="19050"/>
          </a:xfrm>
          <a:prstGeom prst="rect">
            <a:avLst/>
          </a:prstGeom>
          <a:solidFill>
            <a:srgbClr val="1677D2"/>
          </a:solidFill>
          <a:ln w="0">
            <a:solidFill>
              <a:srgbClr val="1677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footer-label-7">
            <a:extLst>
              <a:ext uri="{FF2B5EF4-FFF2-40B4-BE49-F238E27FC236}">
                <a16:creationId xmlns:a16="http://schemas.microsoft.com/office/drawing/2014/main" id="{CC475F51-EC98-46B0-91E8-A3A0E418EA2D}"/>
              </a:ext>
            </a:extLst>
          </p:cNvPr>
          <p:cNvSpPr>
            <a:spLocks noGrp="1"/>
          </p:cNvSpPr>
          <p:nvPr/>
        </p:nvSpPr>
        <p:spPr>
          <a:xfrm>
            <a:off x="457200" y="6391275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LAB01 BASELINE RECOVERY</a:t>
            </a:r>
          </a:p>
        </p:txBody>
      </p:sp>
      <p:sp>
        <p:nvSpPr>
          <p:cNvPr id="5" name="footer-num-7">
            <a:extLst>
              <a:ext uri="{FF2B5EF4-FFF2-40B4-BE49-F238E27FC236}">
                <a16:creationId xmlns:a16="http://schemas.microsoft.com/office/drawing/2014/main" id="{2E374D21-305F-43AE-A3CC-CCBAC8A221D3}"/>
              </a:ext>
            </a:extLst>
          </p:cNvPr>
          <p:cNvSpPr>
            <a:spLocks noGrp="1"/>
          </p:cNvSpPr>
          <p:nvPr/>
        </p:nvSpPr>
        <p:spPr>
          <a:xfrm>
            <a:off x="11163300" y="6372225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05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s7-up-head">
            <a:extLst>
              <a:ext uri="{FF2B5EF4-FFF2-40B4-BE49-F238E27FC236}">
                <a16:creationId xmlns:a16="http://schemas.microsoft.com/office/drawing/2014/main" id="{D957A7AA-73AC-42ED-9403-CB6BFA883045}"/>
              </a:ext>
            </a:extLst>
          </p:cNvPr>
          <p:cNvSpPr>
            <a:spLocks noGrp="1"/>
          </p:cNvSpPr>
          <p:nvPr/>
        </p:nvSpPr>
        <p:spPr>
          <a:xfrm>
            <a:off x="514350" y="156210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1677D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677D2"/>
                </a:solidFill>
                <a:latin typeface="Arial"/>
                <a:ea typeface="Arial"/>
                <a:cs typeface="Arial"/>
              </a:rPr>
              <a:t>BRING-UP</a:t>
            </a:r>
          </a:p>
        </p:txBody>
      </p:sp>
      <p:sp>
        <p:nvSpPr>
          <p:cNvPr id="7" name="s7-down-head">
            <a:extLst>
              <a:ext uri="{FF2B5EF4-FFF2-40B4-BE49-F238E27FC236}">
                <a16:creationId xmlns:a16="http://schemas.microsoft.com/office/drawing/2014/main" id="{5CBE224E-8277-4A52-9D92-7E8C8004A21F}"/>
              </a:ext>
            </a:extLst>
          </p:cNvPr>
          <p:cNvSpPr>
            <a:spLocks noGrp="1"/>
          </p:cNvSpPr>
          <p:nvPr/>
        </p:nvSpPr>
        <p:spPr>
          <a:xfrm>
            <a:off x="514350" y="403860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6B7280"/>
                </a:solidFill>
                <a:latin typeface="Arial"/>
                <a:ea typeface="Arial"/>
                <a:cs typeface="Arial"/>
              </a:rPr>
              <a:t>SHUTDOWN</a:t>
            </a:r>
          </a:p>
        </p:txBody>
      </p:sp>
      <p:sp>
        <p:nvSpPr>
          <p:cNvPr id="8" name="s7-up-a-0">
            <a:extLst>
              <a:ext uri="{FF2B5EF4-FFF2-40B4-BE49-F238E27FC236}">
                <a16:creationId xmlns:a16="http://schemas.microsoft.com/office/drawing/2014/main" id="{927F8362-52AE-4231-9BD2-833CE6856458}"/>
              </a:ext>
            </a:extLst>
          </p:cNvPr>
          <p:cNvSpPr>
            <a:spLocks noGrp="1"/>
          </p:cNvSpPr>
          <p:nvPr/>
        </p:nvSpPr>
        <p:spPr>
          <a:xfrm>
            <a:off x="2781300" y="2657475"/>
            <a:ext cx="704850" cy="247650"/>
          </a:xfrm>
          <a:prstGeom prst="rightArrow">
            <a:avLst/>
          </a:prstGeom>
          <a:solidFill>
            <a:srgbClr val="1677D2"/>
          </a:solidFill>
          <a:ln w="0">
            <a:solidFill>
              <a:srgbClr val="1677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7-up-a-1">
            <a:extLst>
              <a:ext uri="{FF2B5EF4-FFF2-40B4-BE49-F238E27FC236}">
                <a16:creationId xmlns:a16="http://schemas.microsoft.com/office/drawing/2014/main" id="{F4446403-7BB5-4580-92D7-295982F12595}"/>
              </a:ext>
            </a:extLst>
          </p:cNvPr>
          <p:cNvSpPr>
            <a:spLocks noGrp="1"/>
          </p:cNvSpPr>
          <p:nvPr/>
        </p:nvSpPr>
        <p:spPr>
          <a:xfrm>
            <a:off x="5429250" y="2657475"/>
            <a:ext cx="704850" cy="247650"/>
          </a:xfrm>
          <a:prstGeom prst="rightArrow">
            <a:avLst/>
          </a:prstGeom>
          <a:solidFill>
            <a:srgbClr val="1677D2"/>
          </a:solidFill>
          <a:ln w="0">
            <a:solidFill>
              <a:srgbClr val="1677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7-up-a-2">
            <a:extLst>
              <a:ext uri="{FF2B5EF4-FFF2-40B4-BE49-F238E27FC236}">
                <a16:creationId xmlns:a16="http://schemas.microsoft.com/office/drawing/2014/main" id="{60F09F53-EA5A-4E2D-ADF0-69DCBB1CD8FC}"/>
              </a:ext>
            </a:extLst>
          </p:cNvPr>
          <p:cNvSpPr>
            <a:spLocks noGrp="1"/>
          </p:cNvSpPr>
          <p:nvPr/>
        </p:nvSpPr>
        <p:spPr>
          <a:xfrm>
            <a:off x="8077200" y="2657475"/>
            <a:ext cx="704850" cy="247650"/>
          </a:xfrm>
          <a:prstGeom prst="rightArrow">
            <a:avLst/>
          </a:prstGeom>
          <a:solidFill>
            <a:srgbClr val="1677D2"/>
          </a:solidFill>
          <a:ln w="0">
            <a:solidFill>
              <a:srgbClr val="1677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s7-up-0-box">
            <a:extLst>
              <a:ext uri="{FF2B5EF4-FFF2-40B4-BE49-F238E27FC236}">
                <a16:creationId xmlns:a16="http://schemas.microsoft.com/office/drawing/2014/main" id="{324300C3-BDF9-4BBC-914A-8D119463E8B9}"/>
              </a:ext>
            </a:extLst>
          </p:cNvPr>
          <p:cNvSpPr>
            <a:spLocks noGrp="1"/>
          </p:cNvSpPr>
          <p:nvPr/>
        </p:nvSpPr>
        <p:spPr>
          <a:xfrm>
            <a:off x="1066800" y="2190750"/>
            <a:ext cx="1714500" cy="1181100"/>
          </a:xfrm>
          <a:prstGeom prst="roundRect">
            <a:avLst>
              <a:gd name="adj" fmla="val 6452"/>
            </a:avLst>
          </a:prstGeom>
          <a:solidFill>
            <a:srgbClr val="FFF0D5"/>
          </a:solidFill>
          <a:ln w="14288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s7-up-0-title">
            <a:extLst>
              <a:ext uri="{FF2B5EF4-FFF2-40B4-BE49-F238E27FC236}">
                <a16:creationId xmlns:a16="http://schemas.microsoft.com/office/drawing/2014/main" id="{9726382D-3F18-4D2A-9CA6-95926A75A892}"/>
              </a:ext>
            </a:extLst>
          </p:cNvPr>
          <p:cNvSpPr>
            <a:spLocks noGrp="1"/>
          </p:cNvSpPr>
          <p:nvPr/>
        </p:nvSpPr>
        <p:spPr>
          <a:xfrm>
            <a:off x="1200150" y="2305050"/>
            <a:ext cx="1447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87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C0 Preflight</a:t>
            </a:r>
          </a:p>
        </p:txBody>
      </p:sp>
      <p:sp>
        <p:nvSpPr>
          <p:cNvPr id="13" name="s7-up-0-subtitle">
            <a:extLst>
              <a:ext uri="{FF2B5EF4-FFF2-40B4-BE49-F238E27FC236}">
                <a16:creationId xmlns:a16="http://schemas.microsoft.com/office/drawing/2014/main" id="{91C213A6-3977-4C7A-ABFD-23B1BC96F04A}"/>
              </a:ext>
            </a:extLst>
          </p:cNvPr>
          <p:cNvSpPr>
            <a:spLocks noGrp="1"/>
          </p:cNvSpPr>
          <p:nvPr/>
        </p:nvSpPr>
        <p:spPr>
          <a:xfrm>
            <a:off x="1200150" y="2667000"/>
            <a:ext cx="1447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核准 scope / prerequisites</a:t>
            </a:r>
          </a:p>
        </p:txBody>
      </p:sp>
      <p:sp>
        <p:nvSpPr>
          <p:cNvPr id="14" name="s7-up-1-box">
            <a:extLst>
              <a:ext uri="{FF2B5EF4-FFF2-40B4-BE49-F238E27FC236}">
                <a16:creationId xmlns:a16="http://schemas.microsoft.com/office/drawing/2014/main" id="{424F0F92-6820-4C42-946B-1215D00E9585}"/>
              </a:ext>
            </a:extLst>
          </p:cNvPr>
          <p:cNvSpPr>
            <a:spLocks noGrp="1"/>
          </p:cNvSpPr>
          <p:nvPr/>
        </p:nvSpPr>
        <p:spPr>
          <a:xfrm>
            <a:off x="3714750" y="2190750"/>
            <a:ext cx="1714500" cy="1181100"/>
          </a:xfrm>
          <a:prstGeom prst="roundRect">
            <a:avLst>
              <a:gd name="adj" fmla="val 6452"/>
            </a:avLst>
          </a:prstGeom>
          <a:solidFill>
            <a:srgbClr val="DCEEFF"/>
          </a:solidFill>
          <a:ln w="14288">
            <a:solidFill>
              <a:srgbClr val="1677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s7-up-1-title">
            <a:extLst>
              <a:ext uri="{FF2B5EF4-FFF2-40B4-BE49-F238E27FC236}">
                <a16:creationId xmlns:a16="http://schemas.microsoft.com/office/drawing/2014/main" id="{F6C95581-A9E7-4CCA-9541-A51FB89D8B38}"/>
              </a:ext>
            </a:extLst>
          </p:cNvPr>
          <p:cNvSpPr>
            <a:spLocks noGrp="1"/>
          </p:cNvSpPr>
          <p:nvPr/>
        </p:nvSpPr>
        <p:spPr>
          <a:xfrm>
            <a:off x="3848100" y="2305050"/>
            <a:ext cx="1447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875" b="1">
                <a:solidFill>
                  <a:srgbClr val="1677D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77D2"/>
                </a:solidFill>
                <a:latin typeface="Arial"/>
                <a:ea typeface="Arial"/>
                <a:cs typeface="Arial"/>
              </a:rPr>
              <a:t>EPC</a:t>
            </a:r>
          </a:p>
        </p:txBody>
      </p:sp>
      <p:sp>
        <p:nvSpPr>
          <p:cNvPr id="16" name="s7-up-1-subtitle">
            <a:extLst>
              <a:ext uri="{FF2B5EF4-FFF2-40B4-BE49-F238E27FC236}">
                <a16:creationId xmlns:a16="http://schemas.microsoft.com/office/drawing/2014/main" id="{F0E50EDF-EA76-4CBD-9C49-9A81BBD1FE78}"/>
              </a:ext>
            </a:extLst>
          </p:cNvPr>
          <p:cNvSpPr>
            <a:spLocks noGrp="1"/>
          </p:cNvSpPr>
          <p:nvPr/>
        </p:nvSpPr>
        <p:spPr>
          <a:xfrm>
            <a:off x="3848100" y="2667000"/>
            <a:ext cx="1447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srsepc</a:t>
            </a:r>
          </a:p>
        </p:txBody>
      </p:sp>
      <p:sp>
        <p:nvSpPr>
          <p:cNvPr id="17" name="s7-up-2-box">
            <a:extLst>
              <a:ext uri="{FF2B5EF4-FFF2-40B4-BE49-F238E27FC236}">
                <a16:creationId xmlns:a16="http://schemas.microsoft.com/office/drawing/2014/main" id="{C1E34352-A734-4C87-805A-F80BF5D9F0E2}"/>
              </a:ext>
            </a:extLst>
          </p:cNvPr>
          <p:cNvSpPr>
            <a:spLocks noGrp="1"/>
          </p:cNvSpPr>
          <p:nvPr/>
        </p:nvSpPr>
        <p:spPr>
          <a:xfrm>
            <a:off x="6362700" y="2190750"/>
            <a:ext cx="1714500" cy="1181100"/>
          </a:xfrm>
          <a:prstGeom prst="roundRect">
            <a:avLst>
              <a:gd name="adj" fmla="val 6452"/>
            </a:avLst>
          </a:prstGeom>
          <a:solidFill>
            <a:srgbClr val="DCEEFF"/>
          </a:solidFill>
          <a:ln w="14288">
            <a:solidFill>
              <a:srgbClr val="1677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s7-up-2-title">
            <a:extLst>
              <a:ext uri="{FF2B5EF4-FFF2-40B4-BE49-F238E27FC236}">
                <a16:creationId xmlns:a16="http://schemas.microsoft.com/office/drawing/2014/main" id="{97DA35FB-AE82-48CA-B958-562EED41B309}"/>
              </a:ext>
            </a:extLst>
          </p:cNvPr>
          <p:cNvSpPr>
            <a:spLocks noGrp="1"/>
          </p:cNvSpPr>
          <p:nvPr/>
        </p:nvSpPr>
        <p:spPr>
          <a:xfrm>
            <a:off x="6496050" y="2305050"/>
            <a:ext cx="1447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875" b="1">
                <a:solidFill>
                  <a:srgbClr val="1677D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77D2"/>
                </a:solidFill>
                <a:latin typeface="Arial"/>
                <a:ea typeface="Arial"/>
                <a:cs typeface="Arial"/>
              </a:rPr>
              <a:t>eNB</a:t>
            </a:r>
          </a:p>
        </p:txBody>
      </p:sp>
      <p:sp>
        <p:nvSpPr>
          <p:cNvPr id="19" name="s7-up-2-subtitle">
            <a:extLst>
              <a:ext uri="{FF2B5EF4-FFF2-40B4-BE49-F238E27FC236}">
                <a16:creationId xmlns:a16="http://schemas.microsoft.com/office/drawing/2014/main" id="{EE3FA345-74DD-4900-90C1-EFD989A2B1B3}"/>
              </a:ext>
            </a:extLst>
          </p:cNvPr>
          <p:cNvSpPr>
            <a:spLocks noGrp="1"/>
          </p:cNvSpPr>
          <p:nvPr/>
        </p:nvSpPr>
        <p:spPr>
          <a:xfrm>
            <a:off x="6496050" y="2667000"/>
            <a:ext cx="1447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srsenb</a:t>
            </a:r>
          </a:p>
        </p:txBody>
      </p:sp>
      <p:sp>
        <p:nvSpPr>
          <p:cNvPr id="20" name="s7-up-3-box">
            <a:extLst>
              <a:ext uri="{FF2B5EF4-FFF2-40B4-BE49-F238E27FC236}">
                <a16:creationId xmlns:a16="http://schemas.microsoft.com/office/drawing/2014/main" id="{6BE0EC57-628F-4EB2-A8E9-E95DEDC51FCC}"/>
              </a:ext>
            </a:extLst>
          </p:cNvPr>
          <p:cNvSpPr>
            <a:spLocks noGrp="1"/>
          </p:cNvSpPr>
          <p:nvPr/>
        </p:nvSpPr>
        <p:spPr>
          <a:xfrm>
            <a:off x="9010650" y="2190750"/>
            <a:ext cx="1714500" cy="1181100"/>
          </a:xfrm>
          <a:prstGeom prst="roundRect">
            <a:avLst>
              <a:gd name="adj" fmla="val 6452"/>
            </a:avLst>
          </a:prstGeom>
          <a:solidFill>
            <a:srgbClr val="DCEEFF"/>
          </a:solidFill>
          <a:ln w="14288">
            <a:solidFill>
              <a:srgbClr val="1677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s7-up-3-title">
            <a:extLst>
              <a:ext uri="{FF2B5EF4-FFF2-40B4-BE49-F238E27FC236}">
                <a16:creationId xmlns:a16="http://schemas.microsoft.com/office/drawing/2014/main" id="{34D07A98-BF48-446D-883D-D0FEEEFBE53A}"/>
              </a:ext>
            </a:extLst>
          </p:cNvPr>
          <p:cNvSpPr>
            <a:spLocks noGrp="1"/>
          </p:cNvSpPr>
          <p:nvPr/>
        </p:nvSpPr>
        <p:spPr>
          <a:xfrm>
            <a:off x="9144000" y="2305050"/>
            <a:ext cx="1447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875" b="1">
                <a:solidFill>
                  <a:srgbClr val="1677D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77D2"/>
                </a:solidFill>
                <a:latin typeface="Arial"/>
                <a:ea typeface="Arial"/>
                <a:cs typeface="Arial"/>
              </a:rPr>
              <a:t>UE</a:t>
            </a:r>
          </a:p>
        </p:txBody>
      </p:sp>
      <p:sp>
        <p:nvSpPr>
          <p:cNvPr id="22" name="s7-up-3-subtitle">
            <a:extLst>
              <a:ext uri="{FF2B5EF4-FFF2-40B4-BE49-F238E27FC236}">
                <a16:creationId xmlns:a16="http://schemas.microsoft.com/office/drawing/2014/main" id="{5F033D1C-AAE4-4F92-AA66-9CF8C022465A}"/>
              </a:ext>
            </a:extLst>
          </p:cNvPr>
          <p:cNvSpPr>
            <a:spLocks noGrp="1"/>
          </p:cNvSpPr>
          <p:nvPr/>
        </p:nvSpPr>
        <p:spPr>
          <a:xfrm>
            <a:off x="9144000" y="2667000"/>
            <a:ext cx="1447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srsue</a:t>
            </a:r>
          </a:p>
        </p:txBody>
      </p:sp>
      <p:sp>
        <p:nvSpPr>
          <p:cNvPr id="23" name="s7-down-a-0">
            <a:extLst>
              <a:ext uri="{FF2B5EF4-FFF2-40B4-BE49-F238E27FC236}">
                <a16:creationId xmlns:a16="http://schemas.microsoft.com/office/drawing/2014/main" id="{4EBD1652-0146-4795-8235-9E75FE6D4965}"/>
              </a:ext>
            </a:extLst>
          </p:cNvPr>
          <p:cNvSpPr>
            <a:spLocks noGrp="1"/>
          </p:cNvSpPr>
          <p:nvPr/>
        </p:nvSpPr>
        <p:spPr>
          <a:xfrm>
            <a:off x="8077200" y="4981575"/>
            <a:ext cx="704850" cy="247650"/>
          </a:xfrm>
          <a:prstGeom prst="leftArrow">
            <a:avLst/>
          </a:prstGeom>
          <a:solidFill>
            <a:srgbClr val="6B7280"/>
          </a:solidFill>
          <a:ln w="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s7-down-a-1">
            <a:extLst>
              <a:ext uri="{FF2B5EF4-FFF2-40B4-BE49-F238E27FC236}">
                <a16:creationId xmlns:a16="http://schemas.microsoft.com/office/drawing/2014/main" id="{82F69DD2-5E5C-4DBC-B918-137A9C886E68}"/>
              </a:ext>
            </a:extLst>
          </p:cNvPr>
          <p:cNvSpPr>
            <a:spLocks noGrp="1"/>
          </p:cNvSpPr>
          <p:nvPr/>
        </p:nvSpPr>
        <p:spPr>
          <a:xfrm>
            <a:off x="5429250" y="4981575"/>
            <a:ext cx="704850" cy="247650"/>
          </a:xfrm>
          <a:prstGeom prst="leftArrow">
            <a:avLst/>
          </a:prstGeom>
          <a:solidFill>
            <a:srgbClr val="6B7280"/>
          </a:solidFill>
          <a:ln w="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s7-down-0-box">
            <a:extLst>
              <a:ext uri="{FF2B5EF4-FFF2-40B4-BE49-F238E27FC236}">
                <a16:creationId xmlns:a16="http://schemas.microsoft.com/office/drawing/2014/main" id="{04D70803-94F1-488E-9C56-4D8BAF73C036}"/>
              </a:ext>
            </a:extLst>
          </p:cNvPr>
          <p:cNvSpPr>
            <a:spLocks noGrp="1"/>
          </p:cNvSpPr>
          <p:nvPr/>
        </p:nvSpPr>
        <p:spPr>
          <a:xfrm>
            <a:off x="9010650" y="4514850"/>
            <a:ext cx="1714500" cy="1181100"/>
          </a:xfrm>
          <a:prstGeom prst="roundRect">
            <a:avLst>
              <a:gd name="adj" fmla="val 6452"/>
            </a:avLst>
          </a:prstGeom>
          <a:solidFill>
            <a:srgbClr val="ECEFF2"/>
          </a:solidFill>
          <a:ln w="14288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s7-down-0-title">
            <a:extLst>
              <a:ext uri="{FF2B5EF4-FFF2-40B4-BE49-F238E27FC236}">
                <a16:creationId xmlns:a16="http://schemas.microsoft.com/office/drawing/2014/main" id="{2C32FEFB-AFF2-4AB0-8F20-406C1A1D1B3A}"/>
              </a:ext>
            </a:extLst>
          </p:cNvPr>
          <p:cNvSpPr>
            <a:spLocks noGrp="1"/>
          </p:cNvSpPr>
          <p:nvPr/>
        </p:nvSpPr>
        <p:spPr>
          <a:xfrm>
            <a:off x="9144000" y="4629150"/>
            <a:ext cx="1447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875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B7280"/>
                </a:solidFill>
                <a:latin typeface="Arial"/>
                <a:ea typeface="Arial"/>
                <a:cs typeface="Arial"/>
              </a:rPr>
              <a:t>UE stop</a:t>
            </a:r>
          </a:p>
        </p:txBody>
      </p:sp>
      <p:sp>
        <p:nvSpPr>
          <p:cNvPr id="27" name="s7-down-0-subtitle">
            <a:extLst>
              <a:ext uri="{FF2B5EF4-FFF2-40B4-BE49-F238E27FC236}">
                <a16:creationId xmlns:a16="http://schemas.microsoft.com/office/drawing/2014/main" id="{4C7C4B7C-E275-49EB-9E1C-3F8F8CE64D9A}"/>
              </a:ext>
            </a:extLst>
          </p:cNvPr>
          <p:cNvSpPr>
            <a:spLocks noGrp="1"/>
          </p:cNvSpPr>
          <p:nvPr/>
        </p:nvSpPr>
        <p:spPr>
          <a:xfrm>
            <a:off x="9144000" y="4991100"/>
            <a:ext cx="1447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dependency edge</a:t>
            </a:r>
          </a:p>
        </p:txBody>
      </p:sp>
      <p:sp>
        <p:nvSpPr>
          <p:cNvPr id="28" name="s7-down-1-box">
            <a:extLst>
              <a:ext uri="{FF2B5EF4-FFF2-40B4-BE49-F238E27FC236}">
                <a16:creationId xmlns:a16="http://schemas.microsoft.com/office/drawing/2014/main" id="{F0E71174-F955-403A-B211-47745AD65834}"/>
              </a:ext>
            </a:extLst>
          </p:cNvPr>
          <p:cNvSpPr>
            <a:spLocks noGrp="1"/>
          </p:cNvSpPr>
          <p:nvPr/>
        </p:nvSpPr>
        <p:spPr>
          <a:xfrm>
            <a:off x="6362700" y="4514850"/>
            <a:ext cx="1714500" cy="1181100"/>
          </a:xfrm>
          <a:prstGeom prst="roundRect">
            <a:avLst>
              <a:gd name="adj" fmla="val 6452"/>
            </a:avLst>
          </a:prstGeom>
          <a:solidFill>
            <a:srgbClr val="ECEFF2"/>
          </a:solidFill>
          <a:ln w="14288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s7-down-1-title">
            <a:extLst>
              <a:ext uri="{FF2B5EF4-FFF2-40B4-BE49-F238E27FC236}">
                <a16:creationId xmlns:a16="http://schemas.microsoft.com/office/drawing/2014/main" id="{1FEE7A1D-9803-410C-B3C0-A5A21E2EB642}"/>
              </a:ext>
            </a:extLst>
          </p:cNvPr>
          <p:cNvSpPr>
            <a:spLocks noGrp="1"/>
          </p:cNvSpPr>
          <p:nvPr/>
        </p:nvSpPr>
        <p:spPr>
          <a:xfrm>
            <a:off x="6496050" y="4629150"/>
            <a:ext cx="1447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875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B7280"/>
                </a:solidFill>
                <a:latin typeface="Arial"/>
                <a:ea typeface="Arial"/>
                <a:cs typeface="Arial"/>
              </a:rPr>
              <a:t>eNB stop</a:t>
            </a:r>
          </a:p>
        </p:txBody>
      </p:sp>
      <p:sp>
        <p:nvSpPr>
          <p:cNvPr id="30" name="s7-down-1-subtitle">
            <a:extLst>
              <a:ext uri="{FF2B5EF4-FFF2-40B4-BE49-F238E27FC236}">
                <a16:creationId xmlns:a16="http://schemas.microsoft.com/office/drawing/2014/main" id="{9A73A7E0-FBCC-4870-A8B0-206DB3C84AF5}"/>
              </a:ext>
            </a:extLst>
          </p:cNvPr>
          <p:cNvSpPr>
            <a:spLocks noGrp="1"/>
          </p:cNvSpPr>
          <p:nvPr/>
        </p:nvSpPr>
        <p:spPr>
          <a:xfrm>
            <a:off x="6496050" y="4991100"/>
            <a:ext cx="1447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middle layer</a:t>
            </a:r>
          </a:p>
        </p:txBody>
      </p:sp>
      <p:sp>
        <p:nvSpPr>
          <p:cNvPr id="31" name="s7-down-2-box">
            <a:extLst>
              <a:ext uri="{FF2B5EF4-FFF2-40B4-BE49-F238E27FC236}">
                <a16:creationId xmlns:a16="http://schemas.microsoft.com/office/drawing/2014/main" id="{2A1541FF-6754-41F1-BB63-640B52C903C2}"/>
              </a:ext>
            </a:extLst>
          </p:cNvPr>
          <p:cNvSpPr>
            <a:spLocks noGrp="1"/>
          </p:cNvSpPr>
          <p:nvPr/>
        </p:nvSpPr>
        <p:spPr>
          <a:xfrm>
            <a:off x="3714750" y="4514850"/>
            <a:ext cx="1714500" cy="1181100"/>
          </a:xfrm>
          <a:prstGeom prst="roundRect">
            <a:avLst>
              <a:gd name="adj" fmla="val 6452"/>
            </a:avLst>
          </a:prstGeom>
          <a:solidFill>
            <a:srgbClr val="ECEFF2"/>
          </a:solidFill>
          <a:ln w="14288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s7-down-2-title">
            <a:extLst>
              <a:ext uri="{FF2B5EF4-FFF2-40B4-BE49-F238E27FC236}">
                <a16:creationId xmlns:a16="http://schemas.microsoft.com/office/drawing/2014/main" id="{2B7A9AF1-EE6B-4A71-BED9-480D02FC07CD}"/>
              </a:ext>
            </a:extLst>
          </p:cNvPr>
          <p:cNvSpPr>
            <a:spLocks noGrp="1"/>
          </p:cNvSpPr>
          <p:nvPr/>
        </p:nvSpPr>
        <p:spPr>
          <a:xfrm>
            <a:off x="3848100" y="4629150"/>
            <a:ext cx="1447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875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B7280"/>
                </a:solidFill>
                <a:latin typeface="Arial"/>
                <a:ea typeface="Arial"/>
                <a:cs typeface="Arial"/>
              </a:rPr>
              <a:t>EPC stop</a:t>
            </a:r>
          </a:p>
        </p:txBody>
      </p:sp>
      <p:sp>
        <p:nvSpPr>
          <p:cNvPr id="33" name="s7-down-2-subtitle">
            <a:extLst>
              <a:ext uri="{FF2B5EF4-FFF2-40B4-BE49-F238E27FC236}">
                <a16:creationId xmlns:a16="http://schemas.microsoft.com/office/drawing/2014/main" id="{7DEAEFE5-D188-408D-85B2-261EF2F0EFAA}"/>
              </a:ext>
            </a:extLst>
          </p:cNvPr>
          <p:cNvSpPr>
            <a:spLocks noGrp="1"/>
          </p:cNvSpPr>
          <p:nvPr/>
        </p:nvSpPr>
        <p:spPr>
          <a:xfrm>
            <a:off x="3848100" y="4991100"/>
            <a:ext cx="1447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core last</a:t>
            </a:r>
          </a:p>
        </p:txBody>
      </p:sp>
      <p:sp>
        <p:nvSpPr>
          <p:cNvPr id="34" name="s7-final-bg">
            <a:extLst>
              <a:ext uri="{FF2B5EF4-FFF2-40B4-BE49-F238E27FC236}">
                <a16:creationId xmlns:a16="http://schemas.microsoft.com/office/drawing/2014/main" id="{39504744-AE6A-4C5A-8D81-979888BF31C4}"/>
              </a:ext>
            </a:extLst>
          </p:cNvPr>
          <p:cNvSpPr>
            <a:spLocks noGrp="1"/>
          </p:cNvSpPr>
          <p:nvPr/>
        </p:nvSpPr>
        <p:spPr>
          <a:xfrm>
            <a:off x="1066800" y="5924550"/>
            <a:ext cx="9658350" cy="342900"/>
          </a:xfrm>
          <a:prstGeom prst="roundRect">
            <a:avLst>
              <a:gd name="adj" fmla="val 22222"/>
            </a:avLst>
          </a:prstGeom>
          <a:solidFill>
            <a:srgbClr val="DDF5EA"/>
          </a:solidFill>
          <a:ln w="9525">
            <a:solidFill>
              <a:srgbClr val="16865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s7-final-text">
            <a:extLst>
              <a:ext uri="{FF2B5EF4-FFF2-40B4-BE49-F238E27FC236}">
                <a16:creationId xmlns:a16="http://schemas.microsoft.com/office/drawing/2014/main" id="{99FCD9FA-EF06-4A71-AEA0-5140875ED4B4}"/>
              </a:ext>
            </a:extLst>
          </p:cNvPr>
          <p:cNvSpPr>
            <a:spLocks noGrp="1"/>
          </p:cNvSpPr>
          <p:nvPr/>
        </p:nvSpPr>
        <p:spPr>
          <a:xfrm>
            <a:off x="1066800" y="5924550"/>
            <a:ext cx="9658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16865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865B"/>
                </a:solidFill>
                <a:latin typeface="Arial"/>
                <a:ea typeface="Arial"/>
                <a:cs typeface="Arial"/>
              </a:rPr>
              <a:t>Phase 4C 結束：services running = false</a:t>
            </a:r>
          </a:p>
        </p:txBody>
      </p:sp>
    </p:spTree>
    <p:extLst>
      <p:ext uri="{BB962C8B-B14F-4D97-AF65-F5344CB8AC3E}">
        <p14:creationId xmlns:p14="http://schemas.microsoft.com/office/powerpoint/2010/main" val="8733094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kicker-8">
            <a:extLst>
              <a:ext uri="{FF2B5EF4-FFF2-40B4-BE49-F238E27FC236}">
                <a16:creationId xmlns:a16="http://schemas.microsoft.com/office/drawing/2014/main" id="{BECA1F88-A066-4FEE-9058-E6508F06CE50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1677D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77D2"/>
                </a:solidFill>
                <a:latin typeface="Arial"/>
                <a:ea typeface="Arial"/>
                <a:cs typeface="Arial"/>
              </a:rPr>
              <a:t>2026.07.14</a:t>
            </a:r>
          </a:p>
        </p:txBody>
      </p:sp>
      <p:sp>
        <p:nvSpPr>
          <p:cNvPr id="2" name="title-8">
            <a:extLst>
              <a:ext uri="{FF2B5EF4-FFF2-40B4-BE49-F238E27FC236}">
                <a16:creationId xmlns:a16="http://schemas.microsoft.com/office/drawing/2014/main" id="{5DA92E47-C8E3-46E4-BC75-A68F3915738F}"/>
              </a:ext>
            </a:extLst>
          </p:cNvPr>
          <p:cNvSpPr>
            <a:spLocks noGrp="1"/>
          </p:cNvSpPr>
          <p:nvPr/>
        </p:nvSpPr>
        <p:spPr>
          <a:xfrm>
            <a:off x="457200" y="533400"/>
            <a:ext cx="112776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34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Validation 只報告直接 evidence 支持的結果</a:t>
            </a:r>
          </a:p>
        </p:txBody>
      </p:sp>
      <p:sp>
        <p:nvSpPr>
          <p:cNvPr id="3" name="header-rule-8">
            <a:extLst>
              <a:ext uri="{FF2B5EF4-FFF2-40B4-BE49-F238E27FC236}">
                <a16:creationId xmlns:a16="http://schemas.microsoft.com/office/drawing/2014/main" id="{68DD3BE0-FB0B-48C9-A80A-B52B53D241CF}"/>
              </a:ext>
            </a:extLst>
          </p:cNvPr>
          <p:cNvSpPr>
            <a:spLocks noGrp="1"/>
          </p:cNvSpPr>
          <p:nvPr/>
        </p:nvSpPr>
        <p:spPr>
          <a:xfrm>
            <a:off x="457200" y="1200150"/>
            <a:ext cx="11277600" cy="19050"/>
          </a:xfrm>
          <a:prstGeom prst="rect">
            <a:avLst/>
          </a:prstGeom>
          <a:solidFill>
            <a:srgbClr val="1677D2"/>
          </a:solidFill>
          <a:ln w="0">
            <a:solidFill>
              <a:srgbClr val="1677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footer-label-8">
            <a:extLst>
              <a:ext uri="{FF2B5EF4-FFF2-40B4-BE49-F238E27FC236}">
                <a16:creationId xmlns:a16="http://schemas.microsoft.com/office/drawing/2014/main" id="{0992B0B9-4CAE-4AC0-8208-903E0BC7BF13}"/>
              </a:ext>
            </a:extLst>
          </p:cNvPr>
          <p:cNvSpPr>
            <a:spLocks noGrp="1"/>
          </p:cNvSpPr>
          <p:nvPr/>
        </p:nvSpPr>
        <p:spPr>
          <a:xfrm>
            <a:off x="457200" y="6391275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LAB01 BASELINE RECOVERY</a:t>
            </a:r>
          </a:p>
        </p:txBody>
      </p:sp>
      <p:sp>
        <p:nvSpPr>
          <p:cNvPr id="5" name="footer-num-8">
            <a:extLst>
              <a:ext uri="{FF2B5EF4-FFF2-40B4-BE49-F238E27FC236}">
                <a16:creationId xmlns:a16="http://schemas.microsoft.com/office/drawing/2014/main" id="{55604957-F0E5-4A6E-A95D-A3FC03D9DEA7}"/>
              </a:ext>
            </a:extLst>
          </p:cNvPr>
          <p:cNvSpPr>
            <a:spLocks noGrp="1"/>
          </p:cNvSpPr>
          <p:nvPr/>
        </p:nvSpPr>
        <p:spPr>
          <a:xfrm>
            <a:off x="11163300" y="6372225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05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s8-card-0">
            <a:extLst>
              <a:ext uri="{FF2B5EF4-FFF2-40B4-BE49-F238E27FC236}">
                <a16:creationId xmlns:a16="http://schemas.microsoft.com/office/drawing/2014/main" id="{CF79CAEA-7FA4-4C3E-ACC0-D67C68AC1EF7}"/>
              </a:ext>
            </a:extLst>
          </p:cNvPr>
          <p:cNvSpPr>
            <a:spLocks noGrp="1"/>
          </p:cNvSpPr>
          <p:nvPr/>
        </p:nvSpPr>
        <p:spPr>
          <a:xfrm>
            <a:off x="457200" y="1524000"/>
            <a:ext cx="5334000" cy="1733550"/>
          </a:xfrm>
          <a:prstGeom prst="roundRect">
            <a:avLst>
              <a:gd name="adj" fmla="val 4396"/>
            </a:avLst>
          </a:prstGeom>
          <a:solidFill>
            <a:srgbClr val="DDF5EA"/>
          </a:solidFill>
          <a:ln w="14288">
            <a:solidFill>
              <a:srgbClr val="16865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8-title-0">
            <a:extLst>
              <a:ext uri="{FF2B5EF4-FFF2-40B4-BE49-F238E27FC236}">
                <a16:creationId xmlns:a16="http://schemas.microsoft.com/office/drawing/2014/main" id="{D94A8E27-BE6B-4B89-825B-FFF54C3AEB13}"/>
              </a:ext>
            </a:extLst>
          </p:cNvPr>
          <p:cNvSpPr>
            <a:spLocks noGrp="1"/>
          </p:cNvSpPr>
          <p:nvPr/>
        </p:nvSpPr>
        <p:spPr>
          <a:xfrm>
            <a:off x="666750" y="1695450"/>
            <a:ext cx="4914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941"/>
          </a:bodyPr>
          <a:lstStyle/>
          <a:p>
            <a:pPr algn="l">
              <a:lnSpc>
                <a:spcPct val="105000"/>
              </a:lnSpc>
              <a:buNone/>
              <a:defRPr sz="2025" b="1">
                <a:solidFill>
                  <a:srgbClr val="16865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6865B"/>
                </a:solidFill>
                <a:latin typeface="Arial"/>
                <a:ea typeface="Arial"/>
                <a:cs typeface="Arial"/>
              </a:rPr>
              <a:t>Network &amp; runtime</a:t>
            </a:r>
          </a:p>
        </p:txBody>
      </p:sp>
      <p:sp>
        <p:nvSpPr>
          <p:cNvPr id="8" name="s8-lines-0">
            <a:extLst>
              <a:ext uri="{FF2B5EF4-FFF2-40B4-BE49-F238E27FC236}">
                <a16:creationId xmlns:a16="http://schemas.microsoft.com/office/drawing/2014/main" id="{87457997-C813-4D55-A35D-43A9C2DD3E57}"/>
              </a:ext>
            </a:extLst>
          </p:cNvPr>
          <p:cNvSpPr>
            <a:spLocks noGrp="1"/>
          </p:cNvSpPr>
          <p:nvPr/>
        </p:nvSpPr>
        <p:spPr>
          <a:xfrm>
            <a:off x="666750" y="2190750"/>
            <a:ext cx="49149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6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Management / sample connectivity</a:t>
            </a:r>
          </a:p>
          <a:p>
            <a:pPr algn="l">
              <a:lnSpc>
                <a:spcPct val="115000"/>
              </a:lnSpc>
              <a:buNone/>
              <a:defRPr sz="16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3 services initialized</a:t>
            </a:r>
          </a:p>
          <a:p>
            <a:pPr algn="l">
              <a:lnSpc>
                <a:spcPct val="115000"/>
              </a:lnSpc>
              <a:buNone/>
              <a:defRPr sz="16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Controlled shutdown</a:t>
            </a:r>
          </a:p>
        </p:txBody>
      </p:sp>
      <p:sp>
        <p:nvSpPr>
          <p:cNvPr id="9" name="s8-card-1">
            <a:extLst>
              <a:ext uri="{FF2B5EF4-FFF2-40B4-BE49-F238E27FC236}">
                <a16:creationId xmlns:a16="http://schemas.microsoft.com/office/drawing/2014/main" id="{70258043-AA82-4474-9E2B-025E3E13048C}"/>
              </a:ext>
            </a:extLst>
          </p:cNvPr>
          <p:cNvSpPr>
            <a:spLocks noGrp="1"/>
          </p:cNvSpPr>
          <p:nvPr/>
        </p:nvSpPr>
        <p:spPr>
          <a:xfrm>
            <a:off x="5943600" y="1524000"/>
            <a:ext cx="5791200" cy="1733550"/>
          </a:xfrm>
          <a:prstGeom prst="roundRect">
            <a:avLst>
              <a:gd name="adj" fmla="val 4396"/>
            </a:avLst>
          </a:prstGeom>
          <a:solidFill>
            <a:srgbClr val="DDF5EA"/>
          </a:solidFill>
          <a:ln w="14288">
            <a:solidFill>
              <a:srgbClr val="16865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8-title-1">
            <a:extLst>
              <a:ext uri="{FF2B5EF4-FFF2-40B4-BE49-F238E27FC236}">
                <a16:creationId xmlns:a16="http://schemas.microsoft.com/office/drawing/2014/main" id="{CD555C5B-B7D5-4758-92C5-9974847DE443}"/>
              </a:ext>
            </a:extLst>
          </p:cNvPr>
          <p:cNvSpPr>
            <a:spLocks noGrp="1"/>
          </p:cNvSpPr>
          <p:nvPr/>
        </p:nvSpPr>
        <p:spPr>
          <a:xfrm>
            <a:off x="6153150" y="1695450"/>
            <a:ext cx="5372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941"/>
          </a:bodyPr>
          <a:lstStyle/>
          <a:p>
            <a:pPr algn="l">
              <a:lnSpc>
                <a:spcPct val="105000"/>
              </a:lnSpc>
              <a:buNone/>
              <a:defRPr sz="2025" b="1">
                <a:solidFill>
                  <a:srgbClr val="16865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6865B"/>
                </a:solidFill>
                <a:latin typeface="Arial"/>
                <a:ea typeface="Arial"/>
                <a:cs typeface="Arial"/>
              </a:rPr>
              <a:t>Attach &amp; protocol</a:t>
            </a:r>
          </a:p>
        </p:txBody>
      </p:sp>
      <p:sp>
        <p:nvSpPr>
          <p:cNvPr id="11" name="s8-lines-1">
            <a:extLst>
              <a:ext uri="{FF2B5EF4-FFF2-40B4-BE49-F238E27FC236}">
                <a16:creationId xmlns:a16="http://schemas.microsoft.com/office/drawing/2014/main" id="{8E3A32B7-5B62-48CB-913F-A03432FC5194}"/>
              </a:ext>
            </a:extLst>
          </p:cNvPr>
          <p:cNvSpPr>
            <a:spLocks noGrp="1"/>
          </p:cNvSpPr>
          <p:nvPr/>
        </p:nvSpPr>
        <p:spPr>
          <a:xfrm>
            <a:off x="6153150" y="2190750"/>
            <a:ext cx="53721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6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ZeroMQ · cell search · RA</a:t>
            </a:r>
          </a:p>
          <a:p>
            <a:pPr algn="l">
              <a:lnSpc>
                <a:spcPct val="115000"/>
              </a:lnSpc>
              <a:buNone/>
              <a:defRPr sz="16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RRC Connected · Network Attach</a:t>
            </a:r>
          </a:p>
        </p:txBody>
      </p:sp>
      <p:sp>
        <p:nvSpPr>
          <p:cNvPr id="12" name="s8-card-2">
            <a:extLst>
              <a:ext uri="{FF2B5EF4-FFF2-40B4-BE49-F238E27FC236}">
                <a16:creationId xmlns:a16="http://schemas.microsoft.com/office/drawing/2014/main" id="{5F59FF3E-D073-4060-972A-104396E1BA45}"/>
              </a:ext>
            </a:extLst>
          </p:cNvPr>
          <p:cNvSpPr>
            <a:spLocks noGrp="1"/>
          </p:cNvSpPr>
          <p:nvPr/>
        </p:nvSpPr>
        <p:spPr>
          <a:xfrm>
            <a:off x="457200" y="3448050"/>
            <a:ext cx="5334000" cy="1962150"/>
          </a:xfrm>
          <a:prstGeom prst="roundRect">
            <a:avLst>
              <a:gd name="adj" fmla="val 3883"/>
            </a:avLst>
          </a:prstGeom>
          <a:solidFill>
            <a:srgbClr val="DDF5EA"/>
          </a:solidFill>
          <a:ln w="14288">
            <a:solidFill>
              <a:srgbClr val="16865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s8-title-2">
            <a:extLst>
              <a:ext uri="{FF2B5EF4-FFF2-40B4-BE49-F238E27FC236}">
                <a16:creationId xmlns:a16="http://schemas.microsoft.com/office/drawing/2014/main" id="{1846CCA9-BBAE-4D87-BE42-76F69E4905EA}"/>
              </a:ext>
            </a:extLst>
          </p:cNvPr>
          <p:cNvSpPr>
            <a:spLocks noGrp="1"/>
          </p:cNvSpPr>
          <p:nvPr/>
        </p:nvSpPr>
        <p:spPr>
          <a:xfrm>
            <a:off x="666750" y="3619500"/>
            <a:ext cx="4914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941"/>
          </a:bodyPr>
          <a:lstStyle/>
          <a:p>
            <a:pPr algn="l">
              <a:lnSpc>
                <a:spcPct val="105000"/>
              </a:lnSpc>
              <a:buNone/>
              <a:defRPr sz="2025" b="1">
                <a:solidFill>
                  <a:srgbClr val="16865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6865B"/>
                </a:solidFill>
                <a:latin typeface="Arial"/>
                <a:ea typeface="Arial"/>
                <a:cs typeface="Arial"/>
              </a:rPr>
              <a:t>User plane</a:t>
            </a:r>
          </a:p>
        </p:txBody>
      </p:sp>
      <p:sp>
        <p:nvSpPr>
          <p:cNvPr id="14" name="s8-lines-2">
            <a:extLst>
              <a:ext uri="{FF2B5EF4-FFF2-40B4-BE49-F238E27FC236}">
                <a16:creationId xmlns:a16="http://schemas.microsoft.com/office/drawing/2014/main" id="{75DB49E1-7627-419E-99EB-D57D06A8EBBE}"/>
              </a:ext>
            </a:extLst>
          </p:cNvPr>
          <p:cNvSpPr>
            <a:spLocks noGrp="1"/>
          </p:cNvSpPr>
          <p:nvPr/>
        </p:nvSpPr>
        <p:spPr>
          <a:xfrm>
            <a:off x="666750" y="4114800"/>
            <a:ext cx="4914900" cy="1162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57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172.16.0.1 ↔ 172.16.0.2</a:t>
            </a:r>
          </a:p>
          <a:p>
            <a:pPr algn="l">
              <a:lnSpc>
                <a:spcPct val="115000"/>
              </a:lnSpc>
              <a:buNone/>
              <a:defRPr sz="157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Bidirectional ICMP · packet loss 0%</a:t>
            </a:r>
          </a:p>
          <a:p>
            <a:pPr algn="l">
              <a:lnSpc>
                <a:spcPct val="115000"/>
              </a:lnSpc>
              <a:buNone/>
              <a:defRPr sz="157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Observed average RTT ≈ 600–700 ms</a:t>
            </a:r>
          </a:p>
        </p:txBody>
      </p:sp>
      <p:sp>
        <p:nvSpPr>
          <p:cNvPr id="15" name="s8-card-3">
            <a:extLst>
              <a:ext uri="{FF2B5EF4-FFF2-40B4-BE49-F238E27FC236}">
                <a16:creationId xmlns:a16="http://schemas.microsoft.com/office/drawing/2014/main" id="{668E3D17-7764-4BE7-BE84-FE4804FF3883}"/>
              </a:ext>
            </a:extLst>
          </p:cNvPr>
          <p:cNvSpPr>
            <a:spLocks noGrp="1"/>
          </p:cNvSpPr>
          <p:nvPr/>
        </p:nvSpPr>
        <p:spPr>
          <a:xfrm>
            <a:off x="5943600" y="3448050"/>
            <a:ext cx="5791200" cy="1962150"/>
          </a:xfrm>
          <a:prstGeom prst="roundRect">
            <a:avLst>
              <a:gd name="adj" fmla="val 3883"/>
            </a:avLst>
          </a:prstGeom>
          <a:solidFill>
            <a:srgbClr val="ECEFF2"/>
          </a:solidFill>
          <a:ln w="14288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s8-title-3">
            <a:extLst>
              <a:ext uri="{FF2B5EF4-FFF2-40B4-BE49-F238E27FC236}">
                <a16:creationId xmlns:a16="http://schemas.microsoft.com/office/drawing/2014/main" id="{B0DAF993-3A05-4F69-BC23-3E09199A68AD}"/>
              </a:ext>
            </a:extLst>
          </p:cNvPr>
          <p:cNvSpPr>
            <a:spLocks noGrp="1"/>
          </p:cNvSpPr>
          <p:nvPr/>
        </p:nvSpPr>
        <p:spPr>
          <a:xfrm>
            <a:off x="6153150" y="3619500"/>
            <a:ext cx="5372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941"/>
          </a:bodyPr>
          <a:lstStyle/>
          <a:p>
            <a:pPr algn="l">
              <a:lnSpc>
                <a:spcPct val="105000"/>
              </a:lnSpc>
              <a:buNone/>
              <a:defRPr sz="2025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6B7280"/>
                </a:solidFill>
                <a:latin typeface="Arial"/>
                <a:ea typeface="Arial"/>
                <a:cs typeface="Arial"/>
              </a:rPr>
              <a:t>NOT TESTED</a:t>
            </a:r>
          </a:p>
        </p:txBody>
      </p:sp>
      <p:sp>
        <p:nvSpPr>
          <p:cNvPr id="17" name="s8-lines-3">
            <a:extLst>
              <a:ext uri="{FF2B5EF4-FFF2-40B4-BE49-F238E27FC236}">
                <a16:creationId xmlns:a16="http://schemas.microsoft.com/office/drawing/2014/main" id="{5455A30B-D876-4B86-9EB0-03B85C80BFED}"/>
              </a:ext>
            </a:extLst>
          </p:cNvPr>
          <p:cNvSpPr>
            <a:spLocks noGrp="1"/>
          </p:cNvSpPr>
          <p:nvPr/>
        </p:nvSpPr>
        <p:spPr>
          <a:xfrm>
            <a:off x="6153150" y="4114800"/>
            <a:ext cx="5372100" cy="1162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6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NAT · Internet · TCP / iperf3</a:t>
            </a:r>
          </a:p>
          <a:p>
            <a:pPr algn="l">
              <a:lnSpc>
                <a:spcPct val="115000"/>
              </a:lnSpc>
              <a:buNone/>
              <a:defRPr sz="16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Wireshark / PCAP</a:t>
            </a:r>
          </a:p>
          <a:p>
            <a:pPr algn="l">
              <a:lnSpc>
                <a:spcPct val="115000"/>
              </a:lnSpc>
              <a:buNone/>
              <a:defRPr sz="16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Controlled performance validation</a:t>
            </a:r>
          </a:p>
        </p:txBody>
      </p:sp>
      <p:sp>
        <p:nvSpPr>
          <p:cNvPr id="18" name="s8-boundary-bg">
            <a:extLst>
              <a:ext uri="{FF2B5EF4-FFF2-40B4-BE49-F238E27FC236}">
                <a16:creationId xmlns:a16="http://schemas.microsoft.com/office/drawing/2014/main" id="{814F4075-1C67-4CCA-B13F-BB4444C1D542}"/>
              </a:ext>
            </a:extLst>
          </p:cNvPr>
          <p:cNvSpPr>
            <a:spLocks noGrp="1"/>
          </p:cNvSpPr>
          <p:nvPr/>
        </p:nvSpPr>
        <p:spPr>
          <a:xfrm>
            <a:off x="895350" y="5638800"/>
            <a:ext cx="10401300" cy="457200"/>
          </a:xfrm>
          <a:prstGeom prst="roundRect">
            <a:avLst>
              <a:gd name="adj" fmla="val 16667"/>
            </a:avLst>
          </a:prstGeom>
          <a:solidFill>
            <a:srgbClr val="FFF0D5"/>
          </a:solidFill>
          <a:ln w="9525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s8-boundary-text">
            <a:extLst>
              <a:ext uri="{FF2B5EF4-FFF2-40B4-BE49-F238E27FC236}">
                <a16:creationId xmlns:a16="http://schemas.microsoft.com/office/drawing/2014/main" id="{CAA3B961-5C97-43B4-B6B6-E75AF46F4DB8}"/>
              </a:ext>
            </a:extLst>
          </p:cNvPr>
          <p:cNvSpPr>
            <a:spLocks noGrp="1"/>
          </p:cNvSpPr>
          <p:nvPr/>
        </p:nvSpPr>
        <p:spPr>
          <a:xfrm>
            <a:off x="895350" y="5638800"/>
            <a:ext cx="10401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RTT = connectivity observation · limited sample / duration / load / methodology · NOT A BENCHMARK</a:t>
            </a:r>
          </a:p>
        </p:txBody>
      </p:sp>
    </p:spTree>
    <p:extLst>
      <p:ext uri="{BB962C8B-B14F-4D97-AF65-F5344CB8AC3E}">
        <p14:creationId xmlns:p14="http://schemas.microsoft.com/office/powerpoint/2010/main" val="19094150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kicker-9">
            <a:extLst>
              <a:ext uri="{FF2B5EF4-FFF2-40B4-BE49-F238E27FC236}">
                <a16:creationId xmlns:a16="http://schemas.microsoft.com/office/drawing/2014/main" id="{FBABE1D1-9C06-40FB-8C94-8C7C53281236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1677D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77D2"/>
                </a:solidFill>
                <a:latin typeface="Arial"/>
                <a:ea typeface="Arial"/>
                <a:cs typeface="Arial"/>
              </a:rPr>
              <a:t>2026.07.14</a:t>
            </a:r>
          </a:p>
        </p:txBody>
      </p:sp>
      <p:sp>
        <p:nvSpPr>
          <p:cNvPr id="2" name="title-9">
            <a:extLst>
              <a:ext uri="{FF2B5EF4-FFF2-40B4-BE49-F238E27FC236}">
                <a16:creationId xmlns:a16="http://schemas.microsoft.com/office/drawing/2014/main" id="{BE8C7349-5355-483A-9E61-55762F40ADD4}"/>
              </a:ext>
            </a:extLst>
          </p:cNvPr>
          <p:cNvSpPr>
            <a:spLocks noGrp="1"/>
          </p:cNvSpPr>
          <p:nvPr/>
        </p:nvSpPr>
        <p:spPr>
          <a:xfrm>
            <a:off x="457200" y="533400"/>
            <a:ext cx="112776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34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問題先定位，再採最小且可稽核的處置</a:t>
            </a:r>
          </a:p>
        </p:txBody>
      </p:sp>
      <p:sp>
        <p:nvSpPr>
          <p:cNvPr id="3" name="header-rule-9">
            <a:extLst>
              <a:ext uri="{FF2B5EF4-FFF2-40B4-BE49-F238E27FC236}">
                <a16:creationId xmlns:a16="http://schemas.microsoft.com/office/drawing/2014/main" id="{F17D8591-976E-4C29-9CCF-618600FB8D9F}"/>
              </a:ext>
            </a:extLst>
          </p:cNvPr>
          <p:cNvSpPr>
            <a:spLocks noGrp="1"/>
          </p:cNvSpPr>
          <p:nvPr/>
        </p:nvSpPr>
        <p:spPr>
          <a:xfrm>
            <a:off x="457200" y="1200150"/>
            <a:ext cx="11277600" cy="19050"/>
          </a:xfrm>
          <a:prstGeom prst="rect">
            <a:avLst/>
          </a:prstGeom>
          <a:solidFill>
            <a:srgbClr val="1677D2"/>
          </a:solidFill>
          <a:ln w="0">
            <a:solidFill>
              <a:srgbClr val="1677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footer-label-9">
            <a:extLst>
              <a:ext uri="{FF2B5EF4-FFF2-40B4-BE49-F238E27FC236}">
                <a16:creationId xmlns:a16="http://schemas.microsoft.com/office/drawing/2014/main" id="{29214CB5-AA1E-4179-B132-31021201F288}"/>
              </a:ext>
            </a:extLst>
          </p:cNvPr>
          <p:cNvSpPr>
            <a:spLocks noGrp="1"/>
          </p:cNvSpPr>
          <p:nvPr/>
        </p:nvSpPr>
        <p:spPr>
          <a:xfrm>
            <a:off x="457200" y="6391275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LAB01 BASELINE RECOVERY</a:t>
            </a:r>
          </a:p>
        </p:txBody>
      </p:sp>
      <p:sp>
        <p:nvSpPr>
          <p:cNvPr id="5" name="footer-num-9">
            <a:extLst>
              <a:ext uri="{FF2B5EF4-FFF2-40B4-BE49-F238E27FC236}">
                <a16:creationId xmlns:a16="http://schemas.microsoft.com/office/drawing/2014/main" id="{5BB56B5C-1A9B-43AF-B103-689590CCC66F}"/>
              </a:ext>
            </a:extLst>
          </p:cNvPr>
          <p:cNvSpPr>
            <a:spLocks noGrp="1"/>
          </p:cNvSpPr>
          <p:nvPr/>
        </p:nvSpPr>
        <p:spPr>
          <a:xfrm>
            <a:off x="11163300" y="6372225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05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s9-h-0">
            <a:extLst>
              <a:ext uri="{FF2B5EF4-FFF2-40B4-BE49-F238E27FC236}">
                <a16:creationId xmlns:a16="http://schemas.microsoft.com/office/drawing/2014/main" id="{5A5FEF50-B08B-4D4B-9B40-9CFA4EEF353A}"/>
              </a:ext>
            </a:extLst>
          </p:cNvPr>
          <p:cNvSpPr>
            <a:spLocks noGrp="1"/>
          </p:cNvSpPr>
          <p:nvPr/>
        </p:nvSpPr>
        <p:spPr>
          <a:xfrm>
            <a:off x="457200" y="1504950"/>
            <a:ext cx="2438400" cy="381000"/>
          </a:xfrm>
          <a:prstGeom prst="rect">
            <a:avLst/>
          </a:prstGeom>
          <a:solidFill>
            <a:srgbClr val="0B1220"/>
          </a:solidFill>
          <a:ln w="9525">
            <a:solidFill>
              <a:srgbClr val="0B1220"/>
            </a:solidFill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Problem</a:t>
            </a:r>
          </a:p>
        </p:txBody>
      </p:sp>
      <p:sp>
        <p:nvSpPr>
          <p:cNvPr id="7" name="s9-h-1">
            <a:extLst>
              <a:ext uri="{FF2B5EF4-FFF2-40B4-BE49-F238E27FC236}">
                <a16:creationId xmlns:a16="http://schemas.microsoft.com/office/drawing/2014/main" id="{232A2FBE-43A0-4B57-9704-1250762CECC8}"/>
              </a:ext>
            </a:extLst>
          </p:cNvPr>
          <p:cNvSpPr>
            <a:spLocks noGrp="1"/>
          </p:cNvSpPr>
          <p:nvPr/>
        </p:nvSpPr>
        <p:spPr>
          <a:xfrm>
            <a:off x="3048000" y="1504950"/>
            <a:ext cx="2419350" cy="381000"/>
          </a:xfrm>
          <a:prstGeom prst="rect">
            <a:avLst/>
          </a:prstGeom>
          <a:solidFill>
            <a:srgbClr val="0B1220"/>
          </a:solidFill>
          <a:ln w="9525">
            <a:solidFill>
              <a:srgbClr val="0B1220"/>
            </a:solidFill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8" name="s9-h-2">
            <a:extLst>
              <a:ext uri="{FF2B5EF4-FFF2-40B4-BE49-F238E27FC236}">
                <a16:creationId xmlns:a16="http://schemas.microsoft.com/office/drawing/2014/main" id="{6CE5A42A-1921-460B-9B3B-A7180C7A220E}"/>
              </a:ext>
            </a:extLst>
          </p:cNvPr>
          <p:cNvSpPr>
            <a:spLocks noGrp="1"/>
          </p:cNvSpPr>
          <p:nvPr/>
        </p:nvSpPr>
        <p:spPr>
          <a:xfrm>
            <a:off x="5619750" y="1504950"/>
            <a:ext cx="2667000" cy="381000"/>
          </a:xfrm>
          <a:prstGeom prst="rect">
            <a:avLst/>
          </a:prstGeom>
          <a:solidFill>
            <a:srgbClr val="0B1220"/>
          </a:solidFill>
          <a:ln w="9525">
            <a:solidFill>
              <a:srgbClr val="0B1220"/>
            </a:solidFill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Minimal action</a:t>
            </a:r>
          </a:p>
        </p:txBody>
      </p:sp>
      <p:sp>
        <p:nvSpPr>
          <p:cNvPr id="9" name="s9-h-3">
            <a:extLst>
              <a:ext uri="{FF2B5EF4-FFF2-40B4-BE49-F238E27FC236}">
                <a16:creationId xmlns:a16="http://schemas.microsoft.com/office/drawing/2014/main" id="{893D2DBB-D48E-41C1-9E4B-D8007712CD11}"/>
              </a:ext>
            </a:extLst>
          </p:cNvPr>
          <p:cNvSpPr>
            <a:spLocks noGrp="1"/>
          </p:cNvSpPr>
          <p:nvPr/>
        </p:nvSpPr>
        <p:spPr>
          <a:xfrm>
            <a:off x="8439150" y="1504950"/>
            <a:ext cx="3295650" cy="381000"/>
          </a:xfrm>
          <a:prstGeom prst="rect">
            <a:avLst/>
          </a:prstGeom>
          <a:solidFill>
            <a:srgbClr val="0B1220"/>
          </a:solidFill>
          <a:ln w="9525">
            <a:solidFill>
              <a:srgbClr val="0B1220"/>
            </a:solidFill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Guardrail</a:t>
            </a:r>
          </a:p>
        </p:txBody>
      </p:sp>
      <p:sp>
        <p:nvSpPr>
          <p:cNvPr id="10" name="s9-r-0-0">
            <a:extLst>
              <a:ext uri="{FF2B5EF4-FFF2-40B4-BE49-F238E27FC236}">
                <a16:creationId xmlns:a16="http://schemas.microsoft.com/office/drawing/2014/main" id="{8DDDA7D8-B6D1-4094-9EC3-668294D466F0}"/>
              </a:ext>
            </a:extLst>
          </p:cNvPr>
          <p:cNvSpPr>
            <a:spLocks noGrp="1"/>
          </p:cNvSpPr>
          <p:nvPr/>
        </p:nvSpPr>
        <p:spPr>
          <a:xfrm>
            <a:off x="457200" y="1943100"/>
            <a:ext cx="2438400" cy="857250"/>
          </a:xfrm>
          <a:prstGeom prst="rect">
            <a:avLst/>
          </a:prstGeom>
          <a:solidFill>
            <a:srgbClr val="F1F4F7"/>
          </a:solidFill>
          <a:ln w="9525">
            <a:solidFill>
              <a:srgbClr val="C9D1D9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Lab02 residue</a:t>
            </a:r>
          </a:p>
        </p:txBody>
      </p:sp>
      <p:sp>
        <p:nvSpPr>
          <p:cNvPr id="11" name="s9-r-0-1">
            <a:extLst>
              <a:ext uri="{FF2B5EF4-FFF2-40B4-BE49-F238E27FC236}">
                <a16:creationId xmlns:a16="http://schemas.microsoft.com/office/drawing/2014/main" id="{4F2E46E1-755C-474E-8BEF-62394BCE5BDF}"/>
              </a:ext>
            </a:extLst>
          </p:cNvPr>
          <p:cNvSpPr>
            <a:spLocks noGrp="1"/>
          </p:cNvSpPr>
          <p:nvPr/>
        </p:nvSpPr>
        <p:spPr>
          <a:xfrm>
            <a:off x="3048000" y="1943100"/>
            <a:ext cx="2419350" cy="857250"/>
          </a:xfrm>
          <a:prstGeom prst="rect">
            <a:avLst/>
          </a:prstGeom>
          <a:solidFill>
            <a:srgbClr val="F1F4F7"/>
          </a:solidFill>
          <a:ln w="9525">
            <a:solidFill>
              <a:srgbClr val="C9D1D9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Paired field review</a:t>
            </a:r>
          </a:p>
        </p:txBody>
      </p:sp>
      <p:sp>
        <p:nvSpPr>
          <p:cNvPr id="12" name="s9-r-0-2">
            <a:extLst>
              <a:ext uri="{FF2B5EF4-FFF2-40B4-BE49-F238E27FC236}">
                <a16:creationId xmlns:a16="http://schemas.microsoft.com/office/drawing/2014/main" id="{37E05D8B-3401-4CB7-ABD5-7697D447BC35}"/>
              </a:ext>
            </a:extLst>
          </p:cNvPr>
          <p:cNvSpPr>
            <a:spLocks noGrp="1"/>
          </p:cNvSpPr>
          <p:nvPr/>
        </p:nvSpPr>
        <p:spPr>
          <a:xfrm>
            <a:off x="5619750" y="1943100"/>
            <a:ext cx="2667000" cy="857250"/>
          </a:xfrm>
          <a:prstGeom prst="rect">
            <a:avLst/>
          </a:prstGeom>
          <a:solidFill>
            <a:srgbClr val="F1F4F7"/>
          </a:solidFill>
          <a:ln w="9525">
            <a:solidFill>
              <a:srgbClr val="C9D1D9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保留 ZeroMQ</a:t>
            </a:r>
          </a:p>
          <a:p>
            <a:pPr algn="ctr">
              <a:lnSpc>
                <a:spcPct val="105000"/>
              </a:lnSpc>
              <a:buNone/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將 MBMS residue 標記為非 Lab01 scope</a:t>
            </a:r>
          </a:p>
        </p:txBody>
      </p:sp>
      <p:sp>
        <p:nvSpPr>
          <p:cNvPr id="13" name="s9-r-0-3">
            <a:extLst>
              <a:ext uri="{FF2B5EF4-FFF2-40B4-BE49-F238E27FC236}">
                <a16:creationId xmlns:a16="http://schemas.microsoft.com/office/drawing/2014/main" id="{BC5DEDEE-B2F6-42ED-8299-D13D6D08F3B1}"/>
              </a:ext>
            </a:extLst>
          </p:cNvPr>
          <p:cNvSpPr>
            <a:spLocks noGrp="1"/>
          </p:cNvSpPr>
          <p:nvPr/>
        </p:nvSpPr>
        <p:spPr>
          <a:xfrm>
            <a:off x="8439150" y="1943100"/>
            <a:ext cx="3295650" cy="857250"/>
          </a:xfrm>
          <a:prstGeom prst="rect">
            <a:avLst/>
          </a:prstGeom>
          <a:solidFill>
            <a:srgbClr val="F1F4F7"/>
          </a:solidFill>
          <a:ln w="9525">
            <a:solidFill>
              <a:srgbClr val="C9D1D9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不做 whole-file authority inference</a:t>
            </a:r>
          </a:p>
        </p:txBody>
      </p:sp>
      <p:sp>
        <p:nvSpPr>
          <p:cNvPr id="14" name="s9-r-1-0">
            <a:extLst>
              <a:ext uri="{FF2B5EF4-FFF2-40B4-BE49-F238E27FC236}">
                <a16:creationId xmlns:a16="http://schemas.microsoft.com/office/drawing/2014/main" id="{ACD4C3E0-D1A6-4CD5-BA05-98C8316A0057}"/>
              </a:ext>
            </a:extLst>
          </p:cNvPr>
          <p:cNvSpPr>
            <a:spLocks noGrp="1"/>
          </p:cNvSpPr>
          <p:nvPr/>
        </p:nvSpPr>
        <p:spPr>
          <a:xfrm>
            <a:off x="457200" y="2895600"/>
            <a:ext cx="2438400" cy="8572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9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Topology mismatch</a:t>
            </a:r>
          </a:p>
        </p:txBody>
      </p:sp>
      <p:sp>
        <p:nvSpPr>
          <p:cNvPr id="15" name="s9-r-1-1">
            <a:extLst>
              <a:ext uri="{FF2B5EF4-FFF2-40B4-BE49-F238E27FC236}">
                <a16:creationId xmlns:a16="http://schemas.microsoft.com/office/drawing/2014/main" id="{87C49EA2-6A56-4A58-A029-7A49336EB81E}"/>
              </a:ext>
            </a:extLst>
          </p:cNvPr>
          <p:cNvSpPr>
            <a:spLocks noGrp="1"/>
          </p:cNvSpPr>
          <p:nvPr/>
        </p:nvSpPr>
        <p:spPr>
          <a:xfrm>
            <a:off x="3048000" y="2895600"/>
            <a:ext cx="2419350" cy="8572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9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Historical ≠ current</a:t>
            </a:r>
          </a:p>
        </p:txBody>
      </p:sp>
      <p:sp>
        <p:nvSpPr>
          <p:cNvPr id="16" name="s9-r-1-2">
            <a:extLst>
              <a:ext uri="{FF2B5EF4-FFF2-40B4-BE49-F238E27FC236}">
                <a16:creationId xmlns:a16="http://schemas.microsoft.com/office/drawing/2014/main" id="{1DBC3C3A-D68A-4527-9548-380C9CB25128}"/>
              </a:ext>
            </a:extLst>
          </p:cNvPr>
          <p:cNvSpPr>
            <a:spLocks noGrp="1"/>
          </p:cNvSpPr>
          <p:nvPr/>
        </p:nvSpPr>
        <p:spPr>
          <a:xfrm>
            <a:off x="5619750" y="2895600"/>
            <a:ext cx="2667000" cy="8572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9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Controlled switched Ethernet</a:t>
            </a:r>
          </a:p>
        </p:txBody>
      </p:sp>
      <p:sp>
        <p:nvSpPr>
          <p:cNvPr id="17" name="s9-r-1-3">
            <a:extLst>
              <a:ext uri="{FF2B5EF4-FFF2-40B4-BE49-F238E27FC236}">
                <a16:creationId xmlns:a16="http://schemas.microsoft.com/office/drawing/2014/main" id="{14AD94EC-503B-42E8-A318-BE61F1229C15}"/>
              </a:ext>
            </a:extLst>
          </p:cNvPr>
          <p:cNvSpPr>
            <a:spLocks noGrp="1"/>
          </p:cNvSpPr>
          <p:nvPr/>
        </p:nvSpPr>
        <p:spPr>
          <a:xfrm>
            <a:off x="8439150" y="2895600"/>
            <a:ext cx="3295650" cy="8572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9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Historical USB / Wi-Fi = fallback</a:t>
            </a:r>
          </a:p>
        </p:txBody>
      </p:sp>
      <p:sp>
        <p:nvSpPr>
          <p:cNvPr id="18" name="s9-r-2-0">
            <a:extLst>
              <a:ext uri="{FF2B5EF4-FFF2-40B4-BE49-F238E27FC236}">
                <a16:creationId xmlns:a16="http://schemas.microsoft.com/office/drawing/2014/main" id="{786CC1ED-BA0A-4B2C-94D6-D504C439477A}"/>
              </a:ext>
            </a:extLst>
          </p:cNvPr>
          <p:cNvSpPr>
            <a:spLocks noGrp="1"/>
          </p:cNvSpPr>
          <p:nvPr/>
        </p:nvSpPr>
        <p:spPr>
          <a:xfrm>
            <a:off x="457200" y="3848100"/>
            <a:ext cx="2438400" cy="857250"/>
          </a:xfrm>
          <a:prstGeom prst="rect">
            <a:avLst/>
          </a:prstGeom>
          <a:solidFill>
            <a:srgbClr val="F1F4F7"/>
          </a:solidFill>
          <a:ln w="9525">
            <a:solidFill>
              <a:srgbClr val="C9D1D9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Sample path uncertainty</a:t>
            </a:r>
          </a:p>
        </p:txBody>
      </p:sp>
      <p:sp>
        <p:nvSpPr>
          <p:cNvPr id="19" name="s9-r-2-1">
            <a:extLst>
              <a:ext uri="{FF2B5EF4-FFF2-40B4-BE49-F238E27FC236}">
                <a16:creationId xmlns:a16="http://schemas.microsoft.com/office/drawing/2014/main" id="{701B4090-004A-4703-98B5-959B0E8BBBCB}"/>
              </a:ext>
            </a:extLst>
          </p:cNvPr>
          <p:cNvSpPr>
            <a:spLocks noGrp="1"/>
          </p:cNvSpPr>
          <p:nvPr/>
        </p:nvSpPr>
        <p:spPr>
          <a:xfrm>
            <a:off x="3048000" y="3848100"/>
            <a:ext cx="2419350" cy="857250"/>
          </a:xfrm>
          <a:prstGeom prst="rect">
            <a:avLst/>
          </a:prstGeom>
          <a:solidFill>
            <a:srgbClr val="F1F4F7"/>
          </a:solidFill>
          <a:ln w="9525">
            <a:solidFill>
              <a:srgbClr val="C9D1D9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Gate B evidence</a:t>
            </a:r>
          </a:p>
        </p:txBody>
      </p:sp>
      <p:sp>
        <p:nvSpPr>
          <p:cNvPr id="20" name="s9-r-2-2">
            <a:extLst>
              <a:ext uri="{FF2B5EF4-FFF2-40B4-BE49-F238E27FC236}">
                <a16:creationId xmlns:a16="http://schemas.microsoft.com/office/drawing/2014/main" id="{4F4259FB-6C6F-4C76-8DAA-0AC64AF3CD55}"/>
              </a:ext>
            </a:extLst>
          </p:cNvPr>
          <p:cNvSpPr>
            <a:spLocks noGrp="1"/>
          </p:cNvSpPr>
          <p:nvPr/>
        </p:nvSpPr>
        <p:spPr>
          <a:xfrm>
            <a:off x="5619750" y="3848100"/>
            <a:ext cx="2667000" cy="857250"/>
          </a:xfrm>
          <a:prstGeom prst="rect">
            <a:avLst/>
          </a:prstGeom>
          <a:solidFill>
            <a:srgbClr val="F1F4F7"/>
          </a:solidFill>
          <a:ln w="9525">
            <a:solidFill>
              <a:srgbClr val="C9D1D9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雙向 sample ping</a:t>
            </a:r>
          </a:p>
        </p:txBody>
      </p:sp>
      <p:sp>
        <p:nvSpPr>
          <p:cNvPr id="21" name="s9-r-2-3">
            <a:extLst>
              <a:ext uri="{FF2B5EF4-FFF2-40B4-BE49-F238E27FC236}">
                <a16:creationId xmlns:a16="http://schemas.microsoft.com/office/drawing/2014/main" id="{344C2A45-DB6A-47E3-A505-8C6B391293B5}"/>
              </a:ext>
            </a:extLst>
          </p:cNvPr>
          <p:cNvSpPr>
            <a:spLocks noGrp="1"/>
          </p:cNvSpPr>
          <p:nvPr/>
        </p:nvSpPr>
        <p:spPr>
          <a:xfrm>
            <a:off x="8439150" y="3848100"/>
            <a:ext cx="3295650" cy="857250"/>
          </a:xfrm>
          <a:prstGeom prst="rect">
            <a:avLst/>
          </a:prstGeom>
          <a:solidFill>
            <a:srgbClr val="F1F4F7"/>
          </a:solidFill>
          <a:ln w="9525">
            <a:solidFill>
              <a:srgbClr val="C9D1D9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Management session 同時確認</a:t>
            </a:r>
          </a:p>
        </p:txBody>
      </p:sp>
      <p:sp>
        <p:nvSpPr>
          <p:cNvPr id="22" name="s9-r-3-0">
            <a:extLst>
              <a:ext uri="{FF2B5EF4-FFF2-40B4-BE49-F238E27FC236}">
                <a16:creationId xmlns:a16="http://schemas.microsoft.com/office/drawing/2014/main" id="{D1597711-D975-46D9-ADF7-4DE12E780A26}"/>
              </a:ext>
            </a:extLst>
          </p:cNvPr>
          <p:cNvSpPr>
            <a:spLocks noGrp="1"/>
          </p:cNvSpPr>
          <p:nvPr/>
        </p:nvSpPr>
        <p:spPr>
          <a:xfrm>
            <a:off x="457200" y="4800600"/>
            <a:ext cx="2438400" cy="8572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9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EPC log ownership</a:t>
            </a:r>
          </a:p>
        </p:txBody>
      </p:sp>
      <p:sp>
        <p:nvSpPr>
          <p:cNvPr id="23" name="s9-r-3-1">
            <a:extLst>
              <a:ext uri="{FF2B5EF4-FFF2-40B4-BE49-F238E27FC236}">
                <a16:creationId xmlns:a16="http://schemas.microsoft.com/office/drawing/2014/main" id="{58385161-DE0E-46AF-ADF3-50AAE95C5166}"/>
              </a:ext>
            </a:extLst>
          </p:cNvPr>
          <p:cNvSpPr>
            <a:spLocks noGrp="1"/>
          </p:cNvSpPr>
          <p:nvPr/>
        </p:nvSpPr>
        <p:spPr>
          <a:xfrm>
            <a:off x="3048000" y="4800600"/>
            <a:ext cx="2419350" cy="8572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9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pre-existing user:user</a:t>
            </a:r>
          </a:p>
        </p:txBody>
      </p:sp>
      <p:sp>
        <p:nvSpPr>
          <p:cNvPr id="24" name="s9-r-3-2">
            <a:extLst>
              <a:ext uri="{FF2B5EF4-FFF2-40B4-BE49-F238E27FC236}">
                <a16:creationId xmlns:a16="http://schemas.microsoft.com/office/drawing/2014/main" id="{D565D9A6-1192-4ED6-B115-F83B2BD0E161}"/>
              </a:ext>
            </a:extLst>
          </p:cNvPr>
          <p:cNvSpPr>
            <a:spLocks noGrp="1"/>
          </p:cNvSpPr>
          <p:nvPr/>
        </p:nvSpPr>
        <p:spPr>
          <a:xfrm>
            <a:off x="5619750" y="4800600"/>
            <a:ext cx="2667000" cy="8572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9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Preserve old log → remove conflict → restart</a:t>
            </a:r>
          </a:p>
        </p:txBody>
      </p:sp>
      <p:sp>
        <p:nvSpPr>
          <p:cNvPr id="25" name="s9-r-3-3">
            <a:extLst>
              <a:ext uri="{FF2B5EF4-FFF2-40B4-BE49-F238E27FC236}">
                <a16:creationId xmlns:a16="http://schemas.microsoft.com/office/drawing/2014/main" id="{DAE3EDC5-A96D-4666-9F07-9BD0EA9514CF}"/>
              </a:ext>
            </a:extLst>
          </p:cNvPr>
          <p:cNvSpPr>
            <a:spLocks noGrp="1"/>
          </p:cNvSpPr>
          <p:nvPr/>
        </p:nvSpPr>
        <p:spPr>
          <a:xfrm>
            <a:off x="8439150" y="4800600"/>
            <a:ext cx="3295650" cy="8572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9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Recreated root:root；不外推其他原因</a:t>
            </a:r>
          </a:p>
        </p:txBody>
      </p:sp>
      <p:sp>
        <p:nvSpPr>
          <p:cNvPr id="26" name="s9-boundary-bg">
            <a:extLst>
              <a:ext uri="{FF2B5EF4-FFF2-40B4-BE49-F238E27FC236}">
                <a16:creationId xmlns:a16="http://schemas.microsoft.com/office/drawing/2014/main" id="{52CB80C1-4F80-4676-8E0D-7F52A320CAC4}"/>
              </a:ext>
            </a:extLst>
          </p:cNvPr>
          <p:cNvSpPr>
            <a:spLocks noGrp="1"/>
          </p:cNvSpPr>
          <p:nvPr/>
        </p:nvSpPr>
        <p:spPr>
          <a:xfrm>
            <a:off x="1771650" y="5905500"/>
            <a:ext cx="8648700" cy="361950"/>
          </a:xfrm>
          <a:prstGeom prst="roundRect">
            <a:avLst>
              <a:gd name="adj" fmla="val 21053"/>
            </a:avLst>
          </a:prstGeom>
          <a:solidFill>
            <a:srgbClr val="DDF5EA"/>
          </a:solidFill>
          <a:ln w="9525">
            <a:solidFill>
              <a:srgbClr val="16865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s9-boundary-text">
            <a:extLst>
              <a:ext uri="{FF2B5EF4-FFF2-40B4-BE49-F238E27FC236}">
                <a16:creationId xmlns:a16="http://schemas.microsoft.com/office/drawing/2014/main" id="{841BEB84-0872-4BD0-A4D7-4688012F09E9}"/>
              </a:ext>
            </a:extLst>
          </p:cNvPr>
          <p:cNvSpPr>
            <a:spLocks noGrp="1"/>
          </p:cNvSpPr>
          <p:nvPr/>
        </p:nvSpPr>
        <p:spPr>
          <a:xfrm>
            <a:off x="1771650" y="5905500"/>
            <a:ext cx="8648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16865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865B"/>
                </a:solidFill>
                <a:latin typeface="Arial"/>
                <a:ea typeface="Arial"/>
                <a:cs typeface="Arial"/>
              </a:rPr>
              <a:t>Phase 4C：未修改 /etc/srsran 或 persistent network configuration</a:t>
            </a:r>
          </a:p>
        </p:txBody>
      </p:sp>
    </p:spTree>
    <p:extLst>
      <p:ext uri="{BB962C8B-B14F-4D97-AF65-F5344CB8AC3E}">
        <p14:creationId xmlns:p14="http://schemas.microsoft.com/office/powerpoint/2010/main" val="15352159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kicker-10">
            <a:extLst>
              <a:ext uri="{FF2B5EF4-FFF2-40B4-BE49-F238E27FC236}">
                <a16:creationId xmlns:a16="http://schemas.microsoft.com/office/drawing/2014/main" id="{C905F3F5-E314-4F9E-977A-CE4A195EEC88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1677D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77D2"/>
                </a:solidFill>
                <a:latin typeface="Arial"/>
                <a:ea typeface="Arial"/>
                <a:cs typeface="Arial"/>
              </a:rPr>
              <a:t>2026.07.14</a:t>
            </a:r>
          </a:p>
        </p:txBody>
      </p:sp>
      <p:sp>
        <p:nvSpPr>
          <p:cNvPr id="2" name="title-10">
            <a:extLst>
              <a:ext uri="{FF2B5EF4-FFF2-40B4-BE49-F238E27FC236}">
                <a16:creationId xmlns:a16="http://schemas.microsoft.com/office/drawing/2014/main" id="{D4A3B431-BB86-4DBC-A864-339246C1D039}"/>
              </a:ext>
            </a:extLst>
          </p:cNvPr>
          <p:cNvSpPr>
            <a:spLocks noGrp="1"/>
          </p:cNvSpPr>
          <p:nvPr/>
        </p:nvSpPr>
        <p:spPr>
          <a:xfrm>
            <a:off x="457200" y="533400"/>
            <a:ext cx="112776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34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Agent 依規範執行，Human 保留決策與接受責任</a:t>
            </a:r>
          </a:p>
        </p:txBody>
      </p:sp>
      <p:sp>
        <p:nvSpPr>
          <p:cNvPr id="3" name="header-rule-10">
            <a:extLst>
              <a:ext uri="{FF2B5EF4-FFF2-40B4-BE49-F238E27FC236}">
                <a16:creationId xmlns:a16="http://schemas.microsoft.com/office/drawing/2014/main" id="{8BBB227C-70C6-4689-8AFC-EE834464EDC7}"/>
              </a:ext>
            </a:extLst>
          </p:cNvPr>
          <p:cNvSpPr>
            <a:spLocks noGrp="1"/>
          </p:cNvSpPr>
          <p:nvPr/>
        </p:nvSpPr>
        <p:spPr>
          <a:xfrm>
            <a:off x="457200" y="1200150"/>
            <a:ext cx="11277600" cy="19050"/>
          </a:xfrm>
          <a:prstGeom prst="rect">
            <a:avLst/>
          </a:prstGeom>
          <a:solidFill>
            <a:srgbClr val="1677D2"/>
          </a:solidFill>
          <a:ln w="0">
            <a:solidFill>
              <a:srgbClr val="1677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footer-label-10">
            <a:extLst>
              <a:ext uri="{FF2B5EF4-FFF2-40B4-BE49-F238E27FC236}">
                <a16:creationId xmlns:a16="http://schemas.microsoft.com/office/drawing/2014/main" id="{DA033F3A-C5A9-441E-A9F6-8FCDE06CC95B}"/>
              </a:ext>
            </a:extLst>
          </p:cNvPr>
          <p:cNvSpPr>
            <a:spLocks noGrp="1"/>
          </p:cNvSpPr>
          <p:nvPr/>
        </p:nvSpPr>
        <p:spPr>
          <a:xfrm>
            <a:off x="457200" y="6391275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LAB01 BASELINE RECOVERY</a:t>
            </a:r>
          </a:p>
        </p:txBody>
      </p:sp>
      <p:sp>
        <p:nvSpPr>
          <p:cNvPr id="5" name="footer-num-10">
            <a:extLst>
              <a:ext uri="{FF2B5EF4-FFF2-40B4-BE49-F238E27FC236}">
                <a16:creationId xmlns:a16="http://schemas.microsoft.com/office/drawing/2014/main" id="{64D27411-65AE-4CF7-A65C-8F82E9AD0123}"/>
              </a:ext>
            </a:extLst>
          </p:cNvPr>
          <p:cNvSpPr>
            <a:spLocks noGrp="1"/>
          </p:cNvSpPr>
          <p:nvPr/>
        </p:nvSpPr>
        <p:spPr>
          <a:xfrm>
            <a:off x="11163300" y="6372225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05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s10-a-0">
            <a:extLst>
              <a:ext uri="{FF2B5EF4-FFF2-40B4-BE49-F238E27FC236}">
                <a16:creationId xmlns:a16="http://schemas.microsoft.com/office/drawing/2014/main" id="{0B94F3D2-C9F6-4F10-97B5-7271BE97F0F3}"/>
              </a:ext>
            </a:extLst>
          </p:cNvPr>
          <p:cNvSpPr>
            <a:spLocks noGrp="1"/>
          </p:cNvSpPr>
          <p:nvPr/>
        </p:nvSpPr>
        <p:spPr>
          <a:xfrm>
            <a:off x="2343150" y="3009900"/>
            <a:ext cx="552450" cy="228600"/>
          </a:xfrm>
          <a:prstGeom prst="rightArrow">
            <a:avLst/>
          </a:prstGeom>
          <a:solidFill>
            <a:srgbClr val="C9D1D9"/>
          </a:solidFill>
          <a:ln w="0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10-a-1">
            <a:extLst>
              <a:ext uri="{FF2B5EF4-FFF2-40B4-BE49-F238E27FC236}">
                <a16:creationId xmlns:a16="http://schemas.microsoft.com/office/drawing/2014/main" id="{8388AE03-2103-4C03-9C03-6A5DA7112B0A}"/>
              </a:ext>
            </a:extLst>
          </p:cNvPr>
          <p:cNvSpPr>
            <a:spLocks noGrp="1"/>
          </p:cNvSpPr>
          <p:nvPr/>
        </p:nvSpPr>
        <p:spPr>
          <a:xfrm>
            <a:off x="4629150" y="3009900"/>
            <a:ext cx="552450" cy="228600"/>
          </a:xfrm>
          <a:prstGeom prst="rightArrow">
            <a:avLst/>
          </a:prstGeom>
          <a:solidFill>
            <a:srgbClr val="C9D1D9"/>
          </a:solidFill>
          <a:ln w="0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10-a-2">
            <a:extLst>
              <a:ext uri="{FF2B5EF4-FFF2-40B4-BE49-F238E27FC236}">
                <a16:creationId xmlns:a16="http://schemas.microsoft.com/office/drawing/2014/main" id="{ADF729E8-FF16-47E4-803A-ACD7CA6E9A63}"/>
              </a:ext>
            </a:extLst>
          </p:cNvPr>
          <p:cNvSpPr>
            <a:spLocks noGrp="1"/>
          </p:cNvSpPr>
          <p:nvPr/>
        </p:nvSpPr>
        <p:spPr>
          <a:xfrm>
            <a:off x="6915150" y="3009900"/>
            <a:ext cx="552450" cy="228600"/>
          </a:xfrm>
          <a:prstGeom prst="rightArrow">
            <a:avLst/>
          </a:prstGeom>
          <a:solidFill>
            <a:srgbClr val="C9D1D9"/>
          </a:solidFill>
          <a:ln w="0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10-a-3">
            <a:extLst>
              <a:ext uri="{FF2B5EF4-FFF2-40B4-BE49-F238E27FC236}">
                <a16:creationId xmlns:a16="http://schemas.microsoft.com/office/drawing/2014/main" id="{028706CA-3495-457D-8265-DDB1C367AC4B}"/>
              </a:ext>
            </a:extLst>
          </p:cNvPr>
          <p:cNvSpPr>
            <a:spLocks noGrp="1"/>
          </p:cNvSpPr>
          <p:nvPr/>
        </p:nvSpPr>
        <p:spPr>
          <a:xfrm>
            <a:off x="9201150" y="3009900"/>
            <a:ext cx="552450" cy="228600"/>
          </a:xfrm>
          <a:prstGeom prst="rightArrow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10-n-0-box">
            <a:extLst>
              <a:ext uri="{FF2B5EF4-FFF2-40B4-BE49-F238E27FC236}">
                <a16:creationId xmlns:a16="http://schemas.microsoft.com/office/drawing/2014/main" id="{0A208CAB-E33A-4E6A-B612-76FAE7E99A71}"/>
              </a:ext>
            </a:extLst>
          </p:cNvPr>
          <p:cNvSpPr>
            <a:spLocks noGrp="1"/>
          </p:cNvSpPr>
          <p:nvPr/>
        </p:nvSpPr>
        <p:spPr>
          <a:xfrm>
            <a:off x="457200" y="2324100"/>
            <a:ext cx="1885950" cy="1619250"/>
          </a:xfrm>
          <a:prstGeom prst="roundRect">
            <a:avLst>
              <a:gd name="adj" fmla="val 4706"/>
            </a:avLst>
          </a:prstGeom>
          <a:solidFill>
            <a:srgbClr val="F1F4F7"/>
          </a:solidFill>
          <a:ln w="14288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s10-n-0-title">
            <a:extLst>
              <a:ext uri="{FF2B5EF4-FFF2-40B4-BE49-F238E27FC236}">
                <a16:creationId xmlns:a16="http://schemas.microsoft.com/office/drawing/2014/main" id="{2DB688D5-DEFC-4A48-BCA1-BD13DE19F891}"/>
              </a:ext>
            </a:extLst>
          </p:cNvPr>
          <p:cNvSpPr>
            <a:spLocks noGrp="1"/>
          </p:cNvSpPr>
          <p:nvPr/>
        </p:nvSpPr>
        <p:spPr>
          <a:xfrm>
            <a:off x="590550" y="2438400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AGENTS.md</a:t>
            </a:r>
          </a:p>
        </p:txBody>
      </p:sp>
      <p:sp>
        <p:nvSpPr>
          <p:cNvPr id="12" name="s10-n-0-subtitle">
            <a:extLst>
              <a:ext uri="{FF2B5EF4-FFF2-40B4-BE49-F238E27FC236}">
                <a16:creationId xmlns:a16="http://schemas.microsoft.com/office/drawing/2014/main" id="{7E876C9E-513E-4B8B-B2D4-FFA035DAB1D6}"/>
              </a:ext>
            </a:extLst>
          </p:cNvPr>
          <p:cNvSpPr>
            <a:spLocks noGrp="1"/>
          </p:cNvSpPr>
          <p:nvPr/>
        </p:nvSpPr>
        <p:spPr>
          <a:xfrm>
            <a:off x="590550" y="2800350"/>
            <a:ext cx="16192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scope / safety</a:t>
            </a:r>
          </a:p>
        </p:txBody>
      </p:sp>
      <p:sp>
        <p:nvSpPr>
          <p:cNvPr id="13" name="s10-n-1-box">
            <a:extLst>
              <a:ext uri="{FF2B5EF4-FFF2-40B4-BE49-F238E27FC236}">
                <a16:creationId xmlns:a16="http://schemas.microsoft.com/office/drawing/2014/main" id="{7C6AB4CD-E0A8-4713-911C-13880DFD7A5C}"/>
              </a:ext>
            </a:extLst>
          </p:cNvPr>
          <p:cNvSpPr>
            <a:spLocks noGrp="1"/>
          </p:cNvSpPr>
          <p:nvPr/>
        </p:nvSpPr>
        <p:spPr>
          <a:xfrm>
            <a:off x="2743200" y="2324100"/>
            <a:ext cx="1885950" cy="1619250"/>
          </a:xfrm>
          <a:prstGeom prst="roundRect">
            <a:avLst>
              <a:gd name="adj" fmla="val 4706"/>
            </a:avLst>
          </a:prstGeom>
          <a:solidFill>
            <a:srgbClr val="F1F4F7"/>
          </a:solidFill>
          <a:ln w="14288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10-n-1-title">
            <a:extLst>
              <a:ext uri="{FF2B5EF4-FFF2-40B4-BE49-F238E27FC236}">
                <a16:creationId xmlns:a16="http://schemas.microsoft.com/office/drawing/2014/main" id="{54490C58-2207-4B7D-9296-86DF4FB0EABC}"/>
              </a:ext>
            </a:extLst>
          </p:cNvPr>
          <p:cNvSpPr>
            <a:spLocks noGrp="1"/>
          </p:cNvSpPr>
          <p:nvPr/>
        </p:nvSpPr>
        <p:spPr>
          <a:xfrm>
            <a:off x="2876550" y="2438400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SKILL.md</a:t>
            </a:r>
          </a:p>
        </p:txBody>
      </p:sp>
      <p:sp>
        <p:nvSpPr>
          <p:cNvPr id="15" name="s10-n-1-subtitle">
            <a:extLst>
              <a:ext uri="{FF2B5EF4-FFF2-40B4-BE49-F238E27FC236}">
                <a16:creationId xmlns:a16="http://schemas.microsoft.com/office/drawing/2014/main" id="{D1CE4609-142A-4CD8-A180-2F457355CF98}"/>
              </a:ext>
            </a:extLst>
          </p:cNvPr>
          <p:cNvSpPr>
            <a:spLocks noGrp="1"/>
          </p:cNvSpPr>
          <p:nvPr/>
        </p:nvSpPr>
        <p:spPr>
          <a:xfrm>
            <a:off x="2876550" y="2800350"/>
            <a:ext cx="16192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procedure / stops</a:t>
            </a:r>
          </a:p>
        </p:txBody>
      </p:sp>
      <p:sp>
        <p:nvSpPr>
          <p:cNvPr id="16" name="s10-n-2-box">
            <a:extLst>
              <a:ext uri="{FF2B5EF4-FFF2-40B4-BE49-F238E27FC236}">
                <a16:creationId xmlns:a16="http://schemas.microsoft.com/office/drawing/2014/main" id="{A128306E-6DB6-45F5-B98D-74B16A01F350}"/>
              </a:ext>
            </a:extLst>
          </p:cNvPr>
          <p:cNvSpPr>
            <a:spLocks noGrp="1"/>
          </p:cNvSpPr>
          <p:nvPr/>
        </p:nvSpPr>
        <p:spPr>
          <a:xfrm>
            <a:off x="5029200" y="2324100"/>
            <a:ext cx="1885950" cy="1619250"/>
          </a:xfrm>
          <a:prstGeom prst="roundRect">
            <a:avLst>
              <a:gd name="adj" fmla="val 4706"/>
            </a:avLst>
          </a:prstGeom>
          <a:solidFill>
            <a:srgbClr val="F1F4F7"/>
          </a:solidFill>
          <a:ln w="14288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s10-n-2-title">
            <a:extLst>
              <a:ext uri="{FF2B5EF4-FFF2-40B4-BE49-F238E27FC236}">
                <a16:creationId xmlns:a16="http://schemas.microsoft.com/office/drawing/2014/main" id="{E3B86C89-116A-4812-A3D9-17BDBB60ECD9}"/>
              </a:ext>
            </a:extLst>
          </p:cNvPr>
          <p:cNvSpPr>
            <a:spLocks noGrp="1"/>
          </p:cNvSpPr>
          <p:nvPr/>
        </p:nvSpPr>
        <p:spPr>
          <a:xfrm>
            <a:off x="5162550" y="2438400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5127"/>
          </a:bodyPr>
          <a:lstStyle/>
          <a:p>
            <a:pPr algn="ctr">
              <a:lnSpc>
                <a:spcPct val="105000"/>
              </a:lnSpc>
              <a:buNone/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PROGRESS.md</a:t>
            </a:r>
          </a:p>
        </p:txBody>
      </p:sp>
      <p:sp>
        <p:nvSpPr>
          <p:cNvPr id="18" name="s10-n-2-subtitle">
            <a:extLst>
              <a:ext uri="{FF2B5EF4-FFF2-40B4-BE49-F238E27FC236}">
                <a16:creationId xmlns:a16="http://schemas.microsoft.com/office/drawing/2014/main" id="{CDDA2381-6031-4CEC-922E-440DC3806F19}"/>
              </a:ext>
            </a:extLst>
          </p:cNvPr>
          <p:cNvSpPr>
            <a:spLocks noGrp="1"/>
          </p:cNvSpPr>
          <p:nvPr/>
        </p:nvSpPr>
        <p:spPr>
          <a:xfrm>
            <a:off x="5162550" y="2800350"/>
            <a:ext cx="16192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state / gates</a:t>
            </a:r>
          </a:p>
        </p:txBody>
      </p:sp>
      <p:sp>
        <p:nvSpPr>
          <p:cNvPr id="19" name="s10-n-3-box">
            <a:extLst>
              <a:ext uri="{FF2B5EF4-FFF2-40B4-BE49-F238E27FC236}">
                <a16:creationId xmlns:a16="http://schemas.microsoft.com/office/drawing/2014/main" id="{DEF867B3-A9E6-4297-99AC-3763169E674E}"/>
              </a:ext>
            </a:extLst>
          </p:cNvPr>
          <p:cNvSpPr>
            <a:spLocks noGrp="1"/>
          </p:cNvSpPr>
          <p:nvPr/>
        </p:nvSpPr>
        <p:spPr>
          <a:xfrm>
            <a:off x="7315200" y="2324100"/>
            <a:ext cx="1885950" cy="1619250"/>
          </a:xfrm>
          <a:prstGeom prst="roundRect">
            <a:avLst>
              <a:gd name="adj" fmla="val 4706"/>
            </a:avLst>
          </a:prstGeom>
          <a:solidFill>
            <a:srgbClr val="DCEEFF"/>
          </a:solidFill>
          <a:ln w="14288">
            <a:solidFill>
              <a:srgbClr val="1677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s10-n-3-title">
            <a:extLst>
              <a:ext uri="{FF2B5EF4-FFF2-40B4-BE49-F238E27FC236}">
                <a16:creationId xmlns:a16="http://schemas.microsoft.com/office/drawing/2014/main" id="{FF0655A4-C915-4E57-9DC4-F2E6E07785C1}"/>
              </a:ext>
            </a:extLst>
          </p:cNvPr>
          <p:cNvSpPr>
            <a:spLocks noGrp="1"/>
          </p:cNvSpPr>
          <p:nvPr/>
        </p:nvSpPr>
        <p:spPr>
          <a:xfrm>
            <a:off x="7448550" y="2438400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800" b="1">
                <a:solidFill>
                  <a:srgbClr val="1677D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77D2"/>
                </a:solidFill>
                <a:latin typeface="Arial"/>
                <a:ea typeface="Arial"/>
                <a:cs typeface="Arial"/>
              </a:rPr>
              <a:t>Codex task</a:t>
            </a:r>
          </a:p>
        </p:txBody>
      </p:sp>
      <p:sp>
        <p:nvSpPr>
          <p:cNvPr id="21" name="s10-n-3-subtitle">
            <a:extLst>
              <a:ext uri="{FF2B5EF4-FFF2-40B4-BE49-F238E27FC236}">
                <a16:creationId xmlns:a16="http://schemas.microsoft.com/office/drawing/2014/main" id="{15864C1D-8FFD-4922-AD57-CDD88D7395BF}"/>
              </a:ext>
            </a:extLst>
          </p:cNvPr>
          <p:cNvSpPr>
            <a:spLocks noGrp="1"/>
          </p:cNvSpPr>
          <p:nvPr/>
        </p:nvSpPr>
        <p:spPr>
          <a:xfrm>
            <a:off x="7448550" y="2800350"/>
            <a:ext cx="16192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minimum scoped work</a:t>
            </a:r>
          </a:p>
        </p:txBody>
      </p:sp>
      <p:sp>
        <p:nvSpPr>
          <p:cNvPr id="22" name="s10-n-4-box">
            <a:extLst>
              <a:ext uri="{FF2B5EF4-FFF2-40B4-BE49-F238E27FC236}">
                <a16:creationId xmlns:a16="http://schemas.microsoft.com/office/drawing/2014/main" id="{FCDFBA32-B0AB-47BF-A866-ECFD7AD79BAB}"/>
              </a:ext>
            </a:extLst>
          </p:cNvPr>
          <p:cNvSpPr>
            <a:spLocks noGrp="1"/>
          </p:cNvSpPr>
          <p:nvPr/>
        </p:nvSpPr>
        <p:spPr>
          <a:xfrm>
            <a:off x="9601200" y="2324100"/>
            <a:ext cx="1885950" cy="1619250"/>
          </a:xfrm>
          <a:prstGeom prst="roundRect">
            <a:avLst>
              <a:gd name="adj" fmla="val 4706"/>
            </a:avLst>
          </a:prstGeom>
          <a:solidFill>
            <a:srgbClr val="FFF0D5"/>
          </a:solidFill>
          <a:ln w="14288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s10-n-4-title">
            <a:extLst>
              <a:ext uri="{FF2B5EF4-FFF2-40B4-BE49-F238E27FC236}">
                <a16:creationId xmlns:a16="http://schemas.microsoft.com/office/drawing/2014/main" id="{9B81E168-2736-4DCA-931D-BEF2AF0EA976}"/>
              </a:ext>
            </a:extLst>
          </p:cNvPr>
          <p:cNvSpPr>
            <a:spLocks noGrp="1"/>
          </p:cNvSpPr>
          <p:nvPr/>
        </p:nvSpPr>
        <p:spPr>
          <a:xfrm>
            <a:off x="9734550" y="2438400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9569"/>
          </a:bodyPr>
          <a:lstStyle/>
          <a:p>
            <a:pPr algn="ctr">
              <a:lnSpc>
                <a:spcPct val="105000"/>
              </a:lnSpc>
              <a:buNone/>
              <a:defRPr sz="180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Human Review</a:t>
            </a:r>
          </a:p>
        </p:txBody>
      </p:sp>
      <p:sp>
        <p:nvSpPr>
          <p:cNvPr id="24" name="s10-n-4-subtitle">
            <a:extLst>
              <a:ext uri="{FF2B5EF4-FFF2-40B4-BE49-F238E27FC236}">
                <a16:creationId xmlns:a16="http://schemas.microsoft.com/office/drawing/2014/main" id="{C6B98409-6DC2-4A0B-8704-A00BDB749043}"/>
              </a:ext>
            </a:extLst>
          </p:cNvPr>
          <p:cNvSpPr>
            <a:spLocks noGrp="1"/>
          </p:cNvSpPr>
          <p:nvPr/>
        </p:nvSpPr>
        <p:spPr>
          <a:xfrm>
            <a:off x="9734550" y="2800350"/>
            <a:ext cx="16192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approve / reject / revise</a:t>
            </a:r>
          </a:p>
        </p:txBody>
      </p:sp>
      <p:sp>
        <p:nvSpPr>
          <p:cNvPr id="25" name="s10-input">
            <a:extLst>
              <a:ext uri="{FF2B5EF4-FFF2-40B4-BE49-F238E27FC236}">
                <a16:creationId xmlns:a16="http://schemas.microsoft.com/office/drawing/2014/main" id="{9297827E-0FB6-44CA-9496-F2A73BF69E8E}"/>
              </a:ext>
            </a:extLst>
          </p:cNvPr>
          <p:cNvSpPr>
            <a:spLocks noGrp="1"/>
          </p:cNvSpPr>
          <p:nvPr/>
        </p:nvSpPr>
        <p:spPr>
          <a:xfrm>
            <a:off x="457200" y="186690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Policy</a:t>
            </a:r>
          </a:p>
        </p:txBody>
      </p:sp>
      <p:sp>
        <p:nvSpPr>
          <p:cNvPr id="26" name="s10-owner">
            <a:extLst>
              <a:ext uri="{FF2B5EF4-FFF2-40B4-BE49-F238E27FC236}">
                <a16:creationId xmlns:a16="http://schemas.microsoft.com/office/drawing/2014/main" id="{4B9B89C1-B2D3-4919-AF02-7FEDC0F051E3}"/>
              </a:ext>
            </a:extLst>
          </p:cNvPr>
          <p:cNvSpPr>
            <a:spLocks noGrp="1"/>
          </p:cNvSpPr>
          <p:nvPr/>
        </p:nvSpPr>
        <p:spPr>
          <a:xfrm>
            <a:off x="9601200" y="1866900"/>
            <a:ext cx="2133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3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Human-owned</a:t>
            </a:r>
          </a:p>
        </p:txBody>
      </p:sp>
      <p:sp>
        <p:nvSpPr>
          <p:cNvPr id="27" name="s10-boundary-bg">
            <a:extLst>
              <a:ext uri="{FF2B5EF4-FFF2-40B4-BE49-F238E27FC236}">
                <a16:creationId xmlns:a16="http://schemas.microsoft.com/office/drawing/2014/main" id="{5C471EA8-DBB3-4C0C-A816-52421E39B20B}"/>
              </a:ext>
            </a:extLst>
          </p:cNvPr>
          <p:cNvSpPr>
            <a:spLocks noGrp="1"/>
          </p:cNvSpPr>
          <p:nvPr/>
        </p:nvSpPr>
        <p:spPr>
          <a:xfrm>
            <a:off x="1619250" y="4686300"/>
            <a:ext cx="8953500" cy="495300"/>
          </a:xfrm>
          <a:prstGeom prst="roundRect">
            <a:avLst>
              <a:gd name="adj" fmla="val 15385"/>
            </a:avLst>
          </a:prstGeom>
          <a:solidFill>
            <a:srgbClr val="ECEFF2"/>
          </a:solidFill>
          <a:ln w="9525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s10-boundary-text">
            <a:extLst>
              <a:ext uri="{FF2B5EF4-FFF2-40B4-BE49-F238E27FC236}">
                <a16:creationId xmlns:a16="http://schemas.microsoft.com/office/drawing/2014/main" id="{45F004DF-184A-461A-8310-C663DC0D2BF6}"/>
              </a:ext>
            </a:extLst>
          </p:cNvPr>
          <p:cNvSpPr>
            <a:spLocks noGrp="1"/>
          </p:cNvSpPr>
          <p:nvPr/>
        </p:nvSpPr>
        <p:spPr>
          <a:xfrm>
            <a:off x="1619250" y="4686300"/>
            <a:ext cx="8953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B7280"/>
                </a:solidFill>
                <a:latin typeface="Arial"/>
                <a:ea typeface="Arial"/>
                <a:cs typeface="Arial"/>
              </a:rPr>
              <a:t>Codex 不是 final authority · 未授權不得改 runtime、啟動服務或直接 push main</a:t>
            </a:r>
          </a:p>
        </p:txBody>
      </p:sp>
      <p:sp>
        <p:nvSpPr>
          <p:cNvPr id="29" name="s10-loop">
            <a:extLst>
              <a:ext uri="{FF2B5EF4-FFF2-40B4-BE49-F238E27FC236}">
                <a16:creationId xmlns:a16="http://schemas.microsoft.com/office/drawing/2014/main" id="{95B0C99F-2397-45BD-9817-8F905CAB23ED}"/>
              </a:ext>
            </a:extLst>
          </p:cNvPr>
          <p:cNvSpPr>
            <a:spLocks noGrp="1"/>
          </p:cNvSpPr>
          <p:nvPr/>
        </p:nvSpPr>
        <p:spPr>
          <a:xfrm>
            <a:off x="2667000" y="5562600"/>
            <a:ext cx="685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7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Review 結果可回到 revise，而不是自動進入 execution。</a:t>
            </a:r>
          </a:p>
        </p:txBody>
      </p:sp>
    </p:spTree>
    <p:extLst>
      <p:ext uri="{BB962C8B-B14F-4D97-AF65-F5344CB8AC3E}">
        <p14:creationId xmlns:p14="http://schemas.microsoft.com/office/powerpoint/2010/main" val="6967319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kicker-11">
            <a:extLst>
              <a:ext uri="{FF2B5EF4-FFF2-40B4-BE49-F238E27FC236}">
                <a16:creationId xmlns:a16="http://schemas.microsoft.com/office/drawing/2014/main" id="{62E8A318-6F84-48A9-B588-4FFF3D0E8FD1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1677D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77D2"/>
                </a:solidFill>
                <a:latin typeface="Arial"/>
                <a:ea typeface="Arial"/>
                <a:cs typeface="Arial"/>
              </a:rPr>
              <a:t>2026.07.14</a:t>
            </a:r>
          </a:p>
        </p:txBody>
      </p:sp>
      <p:sp>
        <p:nvSpPr>
          <p:cNvPr id="2" name="title-11">
            <a:extLst>
              <a:ext uri="{FF2B5EF4-FFF2-40B4-BE49-F238E27FC236}">
                <a16:creationId xmlns:a16="http://schemas.microsoft.com/office/drawing/2014/main" id="{FC55D434-40E0-4FE7-BC22-1C6E351FED5C}"/>
              </a:ext>
            </a:extLst>
          </p:cNvPr>
          <p:cNvSpPr>
            <a:spLocks noGrp="1"/>
          </p:cNvSpPr>
          <p:nvPr/>
        </p:nvSpPr>
        <p:spPr>
          <a:xfrm>
            <a:off x="457200" y="533400"/>
            <a:ext cx="112776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34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正常 Git／PR 流程把變更變成可審查 checkpoint</a:t>
            </a:r>
          </a:p>
        </p:txBody>
      </p:sp>
      <p:sp>
        <p:nvSpPr>
          <p:cNvPr id="3" name="header-rule-11">
            <a:extLst>
              <a:ext uri="{FF2B5EF4-FFF2-40B4-BE49-F238E27FC236}">
                <a16:creationId xmlns:a16="http://schemas.microsoft.com/office/drawing/2014/main" id="{329BB2F9-4740-4159-93D1-D1D3C32E3D8B}"/>
              </a:ext>
            </a:extLst>
          </p:cNvPr>
          <p:cNvSpPr>
            <a:spLocks noGrp="1"/>
          </p:cNvSpPr>
          <p:nvPr/>
        </p:nvSpPr>
        <p:spPr>
          <a:xfrm>
            <a:off x="457200" y="1200150"/>
            <a:ext cx="11277600" cy="19050"/>
          </a:xfrm>
          <a:prstGeom prst="rect">
            <a:avLst/>
          </a:prstGeom>
          <a:solidFill>
            <a:srgbClr val="1677D2"/>
          </a:solidFill>
          <a:ln w="0">
            <a:solidFill>
              <a:srgbClr val="1677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footer-label-11">
            <a:extLst>
              <a:ext uri="{FF2B5EF4-FFF2-40B4-BE49-F238E27FC236}">
                <a16:creationId xmlns:a16="http://schemas.microsoft.com/office/drawing/2014/main" id="{BCB50C81-2186-4AA3-AF0E-702BB1FB5077}"/>
              </a:ext>
            </a:extLst>
          </p:cNvPr>
          <p:cNvSpPr>
            <a:spLocks noGrp="1"/>
          </p:cNvSpPr>
          <p:nvPr/>
        </p:nvSpPr>
        <p:spPr>
          <a:xfrm>
            <a:off x="457200" y="6391275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LAB01 BASELINE RECOVERY</a:t>
            </a:r>
          </a:p>
        </p:txBody>
      </p:sp>
      <p:sp>
        <p:nvSpPr>
          <p:cNvPr id="5" name="footer-num-11">
            <a:extLst>
              <a:ext uri="{FF2B5EF4-FFF2-40B4-BE49-F238E27FC236}">
                <a16:creationId xmlns:a16="http://schemas.microsoft.com/office/drawing/2014/main" id="{DEE4A37F-591C-4A29-9944-79D485015055}"/>
              </a:ext>
            </a:extLst>
          </p:cNvPr>
          <p:cNvSpPr>
            <a:spLocks noGrp="1"/>
          </p:cNvSpPr>
          <p:nvPr/>
        </p:nvSpPr>
        <p:spPr>
          <a:xfrm>
            <a:off x="11163300" y="6372225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05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s11-n-0-box">
            <a:extLst>
              <a:ext uri="{FF2B5EF4-FFF2-40B4-BE49-F238E27FC236}">
                <a16:creationId xmlns:a16="http://schemas.microsoft.com/office/drawing/2014/main" id="{365E23CF-FE91-4BB5-9989-E62EA25F5D2E}"/>
              </a:ext>
            </a:extLst>
          </p:cNvPr>
          <p:cNvSpPr>
            <a:spLocks noGrp="1"/>
          </p:cNvSpPr>
          <p:nvPr/>
        </p:nvSpPr>
        <p:spPr>
          <a:xfrm>
            <a:off x="457200" y="2381250"/>
            <a:ext cx="1066800" cy="1352550"/>
          </a:xfrm>
          <a:prstGeom prst="roundRect">
            <a:avLst>
              <a:gd name="adj" fmla="val 7143"/>
            </a:avLst>
          </a:prstGeom>
          <a:solidFill>
            <a:srgbClr val="F1F4F7"/>
          </a:solidFill>
          <a:ln w="14288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11-n-0-title">
            <a:extLst>
              <a:ext uri="{FF2B5EF4-FFF2-40B4-BE49-F238E27FC236}">
                <a16:creationId xmlns:a16="http://schemas.microsoft.com/office/drawing/2014/main" id="{FB6206FF-3F73-4DDD-B9C1-7B15B582D3B9}"/>
              </a:ext>
            </a:extLst>
          </p:cNvPr>
          <p:cNvSpPr>
            <a:spLocks noGrp="1"/>
          </p:cNvSpPr>
          <p:nvPr/>
        </p:nvSpPr>
        <p:spPr>
          <a:xfrm>
            <a:off x="590550" y="2495550"/>
            <a:ext cx="800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branch</a:t>
            </a:r>
          </a:p>
        </p:txBody>
      </p:sp>
      <p:sp>
        <p:nvSpPr>
          <p:cNvPr id="8" name="s11-n-0-subtitle">
            <a:extLst>
              <a:ext uri="{FF2B5EF4-FFF2-40B4-BE49-F238E27FC236}">
                <a16:creationId xmlns:a16="http://schemas.microsoft.com/office/drawing/2014/main" id="{C21906A8-65F0-445A-A175-3F435B2673B0}"/>
              </a:ext>
            </a:extLst>
          </p:cNvPr>
          <p:cNvSpPr>
            <a:spLocks noGrp="1"/>
          </p:cNvSpPr>
          <p:nvPr/>
        </p:nvSpPr>
        <p:spPr>
          <a:xfrm>
            <a:off x="590550" y="2857500"/>
            <a:ext cx="8001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scoped topic</a:t>
            </a:r>
          </a:p>
        </p:txBody>
      </p:sp>
      <p:sp>
        <p:nvSpPr>
          <p:cNvPr id="9" name="s11-a-1">
            <a:extLst>
              <a:ext uri="{FF2B5EF4-FFF2-40B4-BE49-F238E27FC236}">
                <a16:creationId xmlns:a16="http://schemas.microsoft.com/office/drawing/2014/main" id="{27853F76-AC55-4BFC-AE71-6B1A9BDEDFBE}"/>
              </a:ext>
            </a:extLst>
          </p:cNvPr>
          <p:cNvSpPr>
            <a:spLocks noGrp="1"/>
          </p:cNvSpPr>
          <p:nvPr/>
        </p:nvSpPr>
        <p:spPr>
          <a:xfrm>
            <a:off x="1571625" y="2857500"/>
            <a:ext cx="285750" cy="190500"/>
          </a:xfrm>
          <a:prstGeom prst="rightArrow">
            <a:avLst/>
          </a:prstGeom>
          <a:solidFill>
            <a:srgbClr val="C9D1D9"/>
          </a:solidFill>
          <a:ln w="0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11-n-1-box">
            <a:extLst>
              <a:ext uri="{FF2B5EF4-FFF2-40B4-BE49-F238E27FC236}">
                <a16:creationId xmlns:a16="http://schemas.microsoft.com/office/drawing/2014/main" id="{68418977-4AAC-41B7-A9F3-A1CA4C534A8A}"/>
              </a:ext>
            </a:extLst>
          </p:cNvPr>
          <p:cNvSpPr>
            <a:spLocks noGrp="1"/>
          </p:cNvSpPr>
          <p:nvPr/>
        </p:nvSpPr>
        <p:spPr>
          <a:xfrm>
            <a:off x="1933575" y="2381250"/>
            <a:ext cx="1066800" cy="1352550"/>
          </a:xfrm>
          <a:prstGeom prst="roundRect">
            <a:avLst>
              <a:gd name="adj" fmla="val 7143"/>
            </a:avLst>
          </a:prstGeom>
          <a:solidFill>
            <a:srgbClr val="F1F4F7"/>
          </a:solidFill>
          <a:ln w="14288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s11-n-1-title">
            <a:extLst>
              <a:ext uri="{FF2B5EF4-FFF2-40B4-BE49-F238E27FC236}">
                <a16:creationId xmlns:a16="http://schemas.microsoft.com/office/drawing/2014/main" id="{655A96A2-D8AE-4348-B201-280519FC1761}"/>
              </a:ext>
            </a:extLst>
          </p:cNvPr>
          <p:cNvSpPr>
            <a:spLocks noGrp="1"/>
          </p:cNvSpPr>
          <p:nvPr/>
        </p:nvSpPr>
        <p:spPr>
          <a:xfrm>
            <a:off x="2066925" y="2495550"/>
            <a:ext cx="800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commit</a:t>
            </a:r>
          </a:p>
        </p:txBody>
      </p:sp>
      <p:sp>
        <p:nvSpPr>
          <p:cNvPr id="12" name="s11-a-2">
            <a:extLst>
              <a:ext uri="{FF2B5EF4-FFF2-40B4-BE49-F238E27FC236}">
                <a16:creationId xmlns:a16="http://schemas.microsoft.com/office/drawing/2014/main" id="{7765A769-6932-4A61-9D90-92F81D23901B}"/>
              </a:ext>
            </a:extLst>
          </p:cNvPr>
          <p:cNvSpPr>
            <a:spLocks noGrp="1"/>
          </p:cNvSpPr>
          <p:nvPr/>
        </p:nvSpPr>
        <p:spPr>
          <a:xfrm>
            <a:off x="3048000" y="2857500"/>
            <a:ext cx="285750" cy="190500"/>
          </a:xfrm>
          <a:prstGeom prst="rightArrow">
            <a:avLst/>
          </a:prstGeom>
          <a:solidFill>
            <a:srgbClr val="C9D1D9"/>
          </a:solidFill>
          <a:ln w="0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s11-n-2-box">
            <a:extLst>
              <a:ext uri="{FF2B5EF4-FFF2-40B4-BE49-F238E27FC236}">
                <a16:creationId xmlns:a16="http://schemas.microsoft.com/office/drawing/2014/main" id="{39F59212-46AC-4E0F-9DA0-1466B11C6D46}"/>
              </a:ext>
            </a:extLst>
          </p:cNvPr>
          <p:cNvSpPr>
            <a:spLocks noGrp="1"/>
          </p:cNvSpPr>
          <p:nvPr/>
        </p:nvSpPr>
        <p:spPr>
          <a:xfrm>
            <a:off x="3409950" y="2381250"/>
            <a:ext cx="971550" cy="1352550"/>
          </a:xfrm>
          <a:prstGeom prst="roundRect">
            <a:avLst>
              <a:gd name="adj" fmla="val 7843"/>
            </a:avLst>
          </a:prstGeom>
          <a:solidFill>
            <a:srgbClr val="F1F4F7"/>
          </a:solidFill>
          <a:ln w="14288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11-n-2-title">
            <a:extLst>
              <a:ext uri="{FF2B5EF4-FFF2-40B4-BE49-F238E27FC236}">
                <a16:creationId xmlns:a16="http://schemas.microsoft.com/office/drawing/2014/main" id="{76E58024-04A6-4226-B511-3B9005BC2CE2}"/>
              </a:ext>
            </a:extLst>
          </p:cNvPr>
          <p:cNvSpPr>
            <a:spLocks noGrp="1"/>
          </p:cNvSpPr>
          <p:nvPr/>
        </p:nvSpPr>
        <p:spPr>
          <a:xfrm>
            <a:off x="3543300" y="2495550"/>
            <a:ext cx="704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push</a:t>
            </a:r>
          </a:p>
        </p:txBody>
      </p:sp>
      <p:sp>
        <p:nvSpPr>
          <p:cNvPr id="15" name="s11-a-3">
            <a:extLst>
              <a:ext uri="{FF2B5EF4-FFF2-40B4-BE49-F238E27FC236}">
                <a16:creationId xmlns:a16="http://schemas.microsoft.com/office/drawing/2014/main" id="{946BCBDE-7815-4C1B-BD82-DD36C1F43888}"/>
              </a:ext>
            </a:extLst>
          </p:cNvPr>
          <p:cNvSpPr>
            <a:spLocks noGrp="1"/>
          </p:cNvSpPr>
          <p:nvPr/>
        </p:nvSpPr>
        <p:spPr>
          <a:xfrm>
            <a:off x="4429125" y="2857500"/>
            <a:ext cx="285750" cy="190500"/>
          </a:xfrm>
          <a:prstGeom prst="rightArrow">
            <a:avLst/>
          </a:prstGeom>
          <a:solidFill>
            <a:srgbClr val="C9D1D9"/>
          </a:solidFill>
          <a:ln w="0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s11-n-3-box">
            <a:extLst>
              <a:ext uri="{FF2B5EF4-FFF2-40B4-BE49-F238E27FC236}">
                <a16:creationId xmlns:a16="http://schemas.microsoft.com/office/drawing/2014/main" id="{EA06C286-CF3E-4351-91C0-E32557BAA51D}"/>
              </a:ext>
            </a:extLst>
          </p:cNvPr>
          <p:cNvSpPr>
            <a:spLocks noGrp="1"/>
          </p:cNvSpPr>
          <p:nvPr/>
        </p:nvSpPr>
        <p:spPr>
          <a:xfrm>
            <a:off x="4791075" y="2381250"/>
            <a:ext cx="895350" cy="1352550"/>
          </a:xfrm>
          <a:prstGeom prst="roundRect">
            <a:avLst>
              <a:gd name="adj" fmla="val 8511"/>
            </a:avLst>
          </a:prstGeom>
          <a:solidFill>
            <a:srgbClr val="F1F4F7"/>
          </a:solidFill>
          <a:ln w="14288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s11-n-3-title">
            <a:extLst>
              <a:ext uri="{FF2B5EF4-FFF2-40B4-BE49-F238E27FC236}">
                <a16:creationId xmlns:a16="http://schemas.microsoft.com/office/drawing/2014/main" id="{DB9274D9-CF0D-413E-80B8-6A1E1BE701E1}"/>
              </a:ext>
            </a:extLst>
          </p:cNvPr>
          <p:cNvSpPr>
            <a:spLocks noGrp="1"/>
          </p:cNvSpPr>
          <p:nvPr/>
        </p:nvSpPr>
        <p:spPr>
          <a:xfrm>
            <a:off x="4924425" y="2495550"/>
            <a:ext cx="628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PR</a:t>
            </a:r>
          </a:p>
        </p:txBody>
      </p:sp>
      <p:sp>
        <p:nvSpPr>
          <p:cNvPr id="18" name="s11-a-4">
            <a:extLst>
              <a:ext uri="{FF2B5EF4-FFF2-40B4-BE49-F238E27FC236}">
                <a16:creationId xmlns:a16="http://schemas.microsoft.com/office/drawing/2014/main" id="{E6E9C302-F609-4ECE-BB4E-10B10BED27BB}"/>
              </a:ext>
            </a:extLst>
          </p:cNvPr>
          <p:cNvSpPr>
            <a:spLocks noGrp="1"/>
          </p:cNvSpPr>
          <p:nvPr/>
        </p:nvSpPr>
        <p:spPr>
          <a:xfrm>
            <a:off x="5734050" y="2857500"/>
            <a:ext cx="285750" cy="190500"/>
          </a:xfrm>
          <a:prstGeom prst="rightArrow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s11-n-4-box">
            <a:extLst>
              <a:ext uri="{FF2B5EF4-FFF2-40B4-BE49-F238E27FC236}">
                <a16:creationId xmlns:a16="http://schemas.microsoft.com/office/drawing/2014/main" id="{9A7053C7-FACB-45F7-A10F-2E0BD80A690E}"/>
              </a:ext>
            </a:extLst>
          </p:cNvPr>
          <p:cNvSpPr>
            <a:spLocks noGrp="1"/>
          </p:cNvSpPr>
          <p:nvPr/>
        </p:nvSpPr>
        <p:spPr>
          <a:xfrm>
            <a:off x="6096000" y="2381250"/>
            <a:ext cx="1581150" cy="1352550"/>
          </a:xfrm>
          <a:prstGeom prst="roundRect">
            <a:avLst>
              <a:gd name="adj" fmla="val 5634"/>
            </a:avLst>
          </a:prstGeom>
          <a:solidFill>
            <a:srgbClr val="FFF0D5"/>
          </a:solidFill>
          <a:ln w="14288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s11-n-4-title">
            <a:extLst>
              <a:ext uri="{FF2B5EF4-FFF2-40B4-BE49-F238E27FC236}">
                <a16:creationId xmlns:a16="http://schemas.microsoft.com/office/drawing/2014/main" id="{3B3C9A90-0296-4F44-A122-963E6FA4066D}"/>
              </a:ext>
            </a:extLst>
          </p:cNvPr>
          <p:cNvSpPr>
            <a:spLocks noGrp="1"/>
          </p:cNvSpPr>
          <p:nvPr/>
        </p:nvSpPr>
        <p:spPr>
          <a:xfrm>
            <a:off x="6229350" y="2495550"/>
            <a:ext cx="1314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8037"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Review / Checks</a:t>
            </a:r>
          </a:p>
        </p:txBody>
      </p:sp>
      <p:sp>
        <p:nvSpPr>
          <p:cNvPr id="21" name="s11-n-4-subtitle">
            <a:extLst>
              <a:ext uri="{FF2B5EF4-FFF2-40B4-BE49-F238E27FC236}">
                <a16:creationId xmlns:a16="http://schemas.microsoft.com/office/drawing/2014/main" id="{7D00D276-A26A-4927-865B-2F90FAD36996}"/>
              </a:ext>
            </a:extLst>
          </p:cNvPr>
          <p:cNvSpPr>
            <a:spLocks noGrp="1"/>
          </p:cNvSpPr>
          <p:nvPr/>
        </p:nvSpPr>
        <p:spPr>
          <a:xfrm>
            <a:off x="6229350" y="2857500"/>
            <a:ext cx="13144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diff · privacy · claims</a:t>
            </a:r>
          </a:p>
        </p:txBody>
      </p:sp>
      <p:sp>
        <p:nvSpPr>
          <p:cNvPr id="22" name="s11-a-5">
            <a:extLst>
              <a:ext uri="{FF2B5EF4-FFF2-40B4-BE49-F238E27FC236}">
                <a16:creationId xmlns:a16="http://schemas.microsoft.com/office/drawing/2014/main" id="{92168293-E510-4EB9-905C-846AA4700FD0}"/>
              </a:ext>
            </a:extLst>
          </p:cNvPr>
          <p:cNvSpPr>
            <a:spLocks noGrp="1"/>
          </p:cNvSpPr>
          <p:nvPr/>
        </p:nvSpPr>
        <p:spPr>
          <a:xfrm>
            <a:off x="7724775" y="2857500"/>
            <a:ext cx="285750" cy="190500"/>
          </a:xfrm>
          <a:prstGeom prst="rightArrow">
            <a:avLst/>
          </a:prstGeom>
          <a:solidFill>
            <a:srgbClr val="C9D1D9"/>
          </a:solidFill>
          <a:ln w="0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s11-n-5-box">
            <a:extLst>
              <a:ext uri="{FF2B5EF4-FFF2-40B4-BE49-F238E27FC236}">
                <a16:creationId xmlns:a16="http://schemas.microsoft.com/office/drawing/2014/main" id="{E5A81D9E-61EB-4FB7-84B5-9BAF8A7CCBE7}"/>
              </a:ext>
            </a:extLst>
          </p:cNvPr>
          <p:cNvSpPr>
            <a:spLocks noGrp="1"/>
          </p:cNvSpPr>
          <p:nvPr/>
        </p:nvSpPr>
        <p:spPr>
          <a:xfrm>
            <a:off x="8086725" y="2381250"/>
            <a:ext cx="1485900" cy="1352550"/>
          </a:xfrm>
          <a:prstGeom prst="roundRect">
            <a:avLst>
              <a:gd name="adj" fmla="val 5634"/>
            </a:avLst>
          </a:prstGeom>
          <a:solidFill>
            <a:srgbClr val="DDF5EA"/>
          </a:solidFill>
          <a:ln w="14288">
            <a:solidFill>
              <a:srgbClr val="16865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s11-n-5-title">
            <a:extLst>
              <a:ext uri="{FF2B5EF4-FFF2-40B4-BE49-F238E27FC236}">
                <a16:creationId xmlns:a16="http://schemas.microsoft.com/office/drawing/2014/main" id="{2BBDDC9E-8C0D-48E6-B56E-AC63D6DA0B4A}"/>
              </a:ext>
            </a:extLst>
          </p:cNvPr>
          <p:cNvSpPr>
            <a:spLocks noGrp="1"/>
          </p:cNvSpPr>
          <p:nvPr/>
        </p:nvSpPr>
        <p:spPr>
          <a:xfrm>
            <a:off x="8220075" y="2495550"/>
            <a:ext cx="1219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3637"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16865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865B"/>
                </a:solidFill>
                <a:latin typeface="Arial"/>
                <a:ea typeface="Arial"/>
                <a:cs typeface="Arial"/>
              </a:rPr>
              <a:t>Squash Merge</a:t>
            </a:r>
          </a:p>
        </p:txBody>
      </p:sp>
      <p:sp>
        <p:nvSpPr>
          <p:cNvPr id="25" name="s11-n-5-subtitle">
            <a:extLst>
              <a:ext uri="{FF2B5EF4-FFF2-40B4-BE49-F238E27FC236}">
                <a16:creationId xmlns:a16="http://schemas.microsoft.com/office/drawing/2014/main" id="{ACEDA2D0-AE3A-4B12-B164-789E383BF3AE}"/>
              </a:ext>
            </a:extLst>
          </p:cNvPr>
          <p:cNvSpPr>
            <a:spLocks noGrp="1"/>
          </p:cNvSpPr>
          <p:nvPr/>
        </p:nvSpPr>
        <p:spPr>
          <a:xfrm>
            <a:off x="8220075" y="2857500"/>
            <a:ext cx="12192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single checkpoint</a:t>
            </a:r>
          </a:p>
        </p:txBody>
      </p:sp>
      <p:sp>
        <p:nvSpPr>
          <p:cNvPr id="26" name="s11-a-6">
            <a:extLst>
              <a:ext uri="{FF2B5EF4-FFF2-40B4-BE49-F238E27FC236}">
                <a16:creationId xmlns:a16="http://schemas.microsoft.com/office/drawing/2014/main" id="{BEC85B97-8DEE-4713-B868-5AD17869603F}"/>
              </a:ext>
            </a:extLst>
          </p:cNvPr>
          <p:cNvSpPr>
            <a:spLocks noGrp="1"/>
          </p:cNvSpPr>
          <p:nvPr/>
        </p:nvSpPr>
        <p:spPr>
          <a:xfrm>
            <a:off x="9620250" y="2857500"/>
            <a:ext cx="285750" cy="190500"/>
          </a:xfrm>
          <a:prstGeom prst="rightArrow">
            <a:avLst/>
          </a:prstGeom>
          <a:solidFill>
            <a:srgbClr val="C9D1D9"/>
          </a:solidFill>
          <a:ln w="0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s11-n-6-box">
            <a:extLst>
              <a:ext uri="{FF2B5EF4-FFF2-40B4-BE49-F238E27FC236}">
                <a16:creationId xmlns:a16="http://schemas.microsoft.com/office/drawing/2014/main" id="{1B4FB3E3-C046-4854-BA0E-508A96400995}"/>
              </a:ext>
            </a:extLst>
          </p:cNvPr>
          <p:cNvSpPr>
            <a:spLocks noGrp="1"/>
          </p:cNvSpPr>
          <p:nvPr/>
        </p:nvSpPr>
        <p:spPr>
          <a:xfrm>
            <a:off x="9982200" y="2381250"/>
            <a:ext cx="1200150" cy="1352550"/>
          </a:xfrm>
          <a:prstGeom prst="roundRect">
            <a:avLst>
              <a:gd name="adj" fmla="val 6349"/>
            </a:avLst>
          </a:prstGeom>
          <a:solidFill>
            <a:srgbClr val="F1F4F7"/>
          </a:solidFill>
          <a:ln w="14288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s11-n-6-title">
            <a:extLst>
              <a:ext uri="{FF2B5EF4-FFF2-40B4-BE49-F238E27FC236}">
                <a16:creationId xmlns:a16="http://schemas.microsoft.com/office/drawing/2014/main" id="{C99A988F-5534-458E-988B-5AE223F91311}"/>
              </a:ext>
            </a:extLst>
          </p:cNvPr>
          <p:cNvSpPr>
            <a:spLocks noGrp="1"/>
          </p:cNvSpPr>
          <p:nvPr/>
        </p:nvSpPr>
        <p:spPr>
          <a:xfrm>
            <a:off x="10115550" y="2495550"/>
            <a:ext cx="933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1070"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sync main</a:t>
            </a:r>
          </a:p>
        </p:txBody>
      </p:sp>
      <p:sp>
        <p:nvSpPr>
          <p:cNvPr id="29" name="s11-history-bg">
            <a:extLst>
              <a:ext uri="{FF2B5EF4-FFF2-40B4-BE49-F238E27FC236}">
                <a16:creationId xmlns:a16="http://schemas.microsoft.com/office/drawing/2014/main" id="{7BF36CA7-9AFF-4FC8-9FF8-D407DA300C46}"/>
              </a:ext>
            </a:extLst>
          </p:cNvPr>
          <p:cNvSpPr>
            <a:spLocks noGrp="1"/>
          </p:cNvSpPr>
          <p:nvPr/>
        </p:nvSpPr>
        <p:spPr>
          <a:xfrm>
            <a:off x="2724150" y="4305300"/>
            <a:ext cx="6743700" cy="419100"/>
          </a:xfrm>
          <a:prstGeom prst="roundRect">
            <a:avLst>
              <a:gd name="adj" fmla="val 18182"/>
            </a:avLst>
          </a:prstGeom>
          <a:solidFill>
            <a:srgbClr val="DCEEFF"/>
          </a:solidFill>
          <a:ln w="9525">
            <a:solidFill>
              <a:srgbClr val="1677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s11-history-text">
            <a:extLst>
              <a:ext uri="{FF2B5EF4-FFF2-40B4-BE49-F238E27FC236}">
                <a16:creationId xmlns:a16="http://schemas.microsoft.com/office/drawing/2014/main" id="{440524CE-4686-4774-BCC4-3BB3C53D01EC}"/>
              </a:ext>
            </a:extLst>
          </p:cNvPr>
          <p:cNvSpPr>
            <a:spLocks noGrp="1"/>
          </p:cNvSpPr>
          <p:nvPr/>
        </p:nvSpPr>
        <p:spPr>
          <a:xfrm>
            <a:off x="2724150" y="4305300"/>
            <a:ext cx="6743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1677D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77D2"/>
                </a:solidFill>
                <a:latin typeface="Arial"/>
                <a:ea typeface="Arial"/>
                <a:cs typeface="Arial"/>
              </a:rPr>
              <a:t>Checkpoint examples · PR #8 · #10 · #12 · #13</a:t>
            </a:r>
          </a:p>
        </p:txBody>
      </p:sp>
      <p:sp>
        <p:nvSpPr>
          <p:cNvPr id="31" name="s11-value">
            <a:extLst>
              <a:ext uri="{FF2B5EF4-FFF2-40B4-BE49-F238E27FC236}">
                <a16:creationId xmlns:a16="http://schemas.microsoft.com/office/drawing/2014/main" id="{29F7CB51-FEE8-4FB1-B382-683825C5FF6D}"/>
              </a:ext>
            </a:extLst>
          </p:cNvPr>
          <p:cNvSpPr>
            <a:spLocks noGrp="1"/>
          </p:cNvSpPr>
          <p:nvPr/>
        </p:nvSpPr>
        <p:spPr>
          <a:xfrm>
            <a:off x="1466850" y="5124450"/>
            <a:ext cx="9258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20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小範圍 branch + Pull Request = 可追溯 diff、review 與合併決策</a:t>
            </a:r>
          </a:p>
        </p:txBody>
      </p:sp>
      <p:sp>
        <p:nvSpPr>
          <p:cNvPr id="32" name="s11-appendix">
            <a:extLst>
              <a:ext uri="{FF2B5EF4-FFF2-40B4-BE49-F238E27FC236}">
                <a16:creationId xmlns:a16="http://schemas.microsoft.com/office/drawing/2014/main" id="{9AF7F0BB-3C09-4AFD-A401-BBAE95311FBE}"/>
              </a:ext>
            </a:extLst>
          </p:cNvPr>
          <p:cNvSpPr>
            <a:spLocks noGrp="1"/>
          </p:cNvSpPr>
          <p:nvPr/>
        </p:nvSpPr>
        <p:spPr>
          <a:xfrm>
            <a:off x="7315200" y="59055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120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進階 Git recovery 與 branch cleanup → Appendix</a:t>
            </a:r>
          </a:p>
        </p:txBody>
      </p:sp>
    </p:spTree>
    <p:extLst>
      <p:ext uri="{BB962C8B-B14F-4D97-AF65-F5344CB8AC3E}">
        <p14:creationId xmlns:p14="http://schemas.microsoft.com/office/powerpoint/2010/main" val="6648958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kicker-12">
            <a:extLst>
              <a:ext uri="{FF2B5EF4-FFF2-40B4-BE49-F238E27FC236}">
                <a16:creationId xmlns:a16="http://schemas.microsoft.com/office/drawing/2014/main" id="{502DE0E4-7F7D-422B-AB96-75146D074BA5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1677D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77D2"/>
                </a:solidFill>
                <a:latin typeface="Arial"/>
                <a:ea typeface="Arial"/>
                <a:cs typeface="Arial"/>
              </a:rPr>
              <a:t>2026.07.14</a:t>
            </a:r>
          </a:p>
        </p:txBody>
      </p:sp>
      <p:sp>
        <p:nvSpPr>
          <p:cNvPr id="2" name="title-12">
            <a:extLst>
              <a:ext uri="{FF2B5EF4-FFF2-40B4-BE49-F238E27FC236}">
                <a16:creationId xmlns:a16="http://schemas.microsoft.com/office/drawing/2014/main" id="{360BE172-9BF7-4576-9737-D68F7195340F}"/>
              </a:ext>
            </a:extLst>
          </p:cNvPr>
          <p:cNvSpPr>
            <a:spLocks noGrp="1"/>
          </p:cNvSpPr>
          <p:nvPr/>
        </p:nvSpPr>
        <p:spPr>
          <a:xfrm>
            <a:off x="457200" y="533400"/>
            <a:ext cx="112776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34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清楚標出沒有測的項目，避免把 ICMP PASS 外推</a:t>
            </a:r>
          </a:p>
        </p:txBody>
      </p:sp>
      <p:sp>
        <p:nvSpPr>
          <p:cNvPr id="3" name="header-rule-12">
            <a:extLst>
              <a:ext uri="{FF2B5EF4-FFF2-40B4-BE49-F238E27FC236}">
                <a16:creationId xmlns:a16="http://schemas.microsoft.com/office/drawing/2014/main" id="{A3223F97-9AEE-4464-AAFE-46832D865DFA}"/>
              </a:ext>
            </a:extLst>
          </p:cNvPr>
          <p:cNvSpPr>
            <a:spLocks noGrp="1"/>
          </p:cNvSpPr>
          <p:nvPr/>
        </p:nvSpPr>
        <p:spPr>
          <a:xfrm>
            <a:off x="457200" y="1200150"/>
            <a:ext cx="11277600" cy="19050"/>
          </a:xfrm>
          <a:prstGeom prst="rect">
            <a:avLst/>
          </a:prstGeom>
          <a:solidFill>
            <a:srgbClr val="1677D2"/>
          </a:solidFill>
          <a:ln w="0">
            <a:solidFill>
              <a:srgbClr val="1677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footer-label-12">
            <a:extLst>
              <a:ext uri="{FF2B5EF4-FFF2-40B4-BE49-F238E27FC236}">
                <a16:creationId xmlns:a16="http://schemas.microsoft.com/office/drawing/2014/main" id="{2B7B5005-52B9-423A-A6D6-2B350AF2D0F2}"/>
              </a:ext>
            </a:extLst>
          </p:cNvPr>
          <p:cNvSpPr>
            <a:spLocks noGrp="1"/>
          </p:cNvSpPr>
          <p:nvPr/>
        </p:nvSpPr>
        <p:spPr>
          <a:xfrm>
            <a:off x="457200" y="6391275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LAB01 BASELINE RECOVERY</a:t>
            </a:r>
          </a:p>
        </p:txBody>
      </p:sp>
      <p:sp>
        <p:nvSpPr>
          <p:cNvPr id="5" name="footer-num-12">
            <a:extLst>
              <a:ext uri="{FF2B5EF4-FFF2-40B4-BE49-F238E27FC236}">
                <a16:creationId xmlns:a16="http://schemas.microsoft.com/office/drawing/2014/main" id="{EE2AA626-BF00-44DA-853B-1C4595DE8B4F}"/>
              </a:ext>
            </a:extLst>
          </p:cNvPr>
          <p:cNvSpPr>
            <a:spLocks noGrp="1"/>
          </p:cNvSpPr>
          <p:nvPr/>
        </p:nvSpPr>
        <p:spPr>
          <a:xfrm>
            <a:off x="11163300" y="6372225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05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s12-0-box">
            <a:extLst>
              <a:ext uri="{FF2B5EF4-FFF2-40B4-BE49-F238E27FC236}">
                <a16:creationId xmlns:a16="http://schemas.microsoft.com/office/drawing/2014/main" id="{311496F6-193A-42E2-B018-FED1D7B03D94}"/>
              </a:ext>
            </a:extLst>
          </p:cNvPr>
          <p:cNvSpPr>
            <a:spLocks noGrp="1"/>
          </p:cNvSpPr>
          <p:nvPr/>
        </p:nvSpPr>
        <p:spPr>
          <a:xfrm>
            <a:off x="457200" y="1828800"/>
            <a:ext cx="3505200" cy="2876550"/>
          </a:xfrm>
          <a:prstGeom prst="roundRect">
            <a:avLst>
              <a:gd name="adj" fmla="val 2649"/>
            </a:avLst>
          </a:prstGeom>
          <a:solidFill>
            <a:srgbClr val="ECEFF2"/>
          </a:solidFill>
          <a:ln w="14288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12-0-title">
            <a:extLst>
              <a:ext uri="{FF2B5EF4-FFF2-40B4-BE49-F238E27FC236}">
                <a16:creationId xmlns:a16="http://schemas.microsoft.com/office/drawing/2014/main" id="{2F448C15-0F44-48D3-AE61-68E00A971C09}"/>
              </a:ext>
            </a:extLst>
          </p:cNvPr>
          <p:cNvSpPr>
            <a:spLocks noGrp="1"/>
          </p:cNvSpPr>
          <p:nvPr/>
        </p:nvSpPr>
        <p:spPr>
          <a:xfrm>
            <a:off x="590550" y="1943100"/>
            <a:ext cx="323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875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B7280"/>
                </a:solidFill>
                <a:latin typeface="Arial"/>
                <a:ea typeface="Arial"/>
                <a:cs typeface="Arial"/>
              </a:rPr>
              <a:t>Connectivity extensions</a:t>
            </a:r>
          </a:p>
        </p:txBody>
      </p:sp>
      <p:sp>
        <p:nvSpPr>
          <p:cNvPr id="8" name="s12-0-subtitle">
            <a:extLst>
              <a:ext uri="{FF2B5EF4-FFF2-40B4-BE49-F238E27FC236}">
                <a16:creationId xmlns:a16="http://schemas.microsoft.com/office/drawing/2014/main" id="{D5DF91EB-481D-4136-BF6E-19A8132F00AB}"/>
              </a:ext>
            </a:extLst>
          </p:cNvPr>
          <p:cNvSpPr>
            <a:spLocks noGrp="1"/>
          </p:cNvSpPr>
          <p:nvPr/>
        </p:nvSpPr>
        <p:spPr>
          <a:xfrm>
            <a:off x="590550" y="2305050"/>
            <a:ext cx="3238500" cy="2324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6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NAT</a:t>
            </a:r>
          </a:p>
          <a:p>
            <a:pPr algn="ctr">
              <a:lnSpc>
                <a:spcPct val="105000"/>
              </a:lnSpc>
              <a:buNone/>
              <a:defRPr sz="16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Internet route / 外連</a:t>
            </a:r>
          </a:p>
          <a:p>
            <a:pPr algn="ctr">
              <a:lnSpc>
                <a:spcPct val="105000"/>
              </a:lnSpc>
              <a:buNone/>
              <a:defRPr sz="16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TCP · iperf3</a:t>
            </a:r>
          </a:p>
        </p:txBody>
      </p:sp>
      <p:sp>
        <p:nvSpPr>
          <p:cNvPr id="9" name="s12-b-0-bg">
            <a:extLst>
              <a:ext uri="{FF2B5EF4-FFF2-40B4-BE49-F238E27FC236}">
                <a16:creationId xmlns:a16="http://schemas.microsoft.com/office/drawing/2014/main" id="{C54BF4A8-A732-446D-8783-02C2BFC42CD5}"/>
              </a:ext>
            </a:extLst>
          </p:cNvPr>
          <p:cNvSpPr>
            <a:spLocks noGrp="1"/>
          </p:cNvSpPr>
          <p:nvPr/>
        </p:nvSpPr>
        <p:spPr>
          <a:xfrm>
            <a:off x="838200" y="4210050"/>
            <a:ext cx="2743200" cy="342900"/>
          </a:xfrm>
          <a:prstGeom prst="roundRect">
            <a:avLst>
              <a:gd name="adj" fmla="val 22222"/>
            </a:avLst>
          </a:prstGeom>
          <a:solidFill>
            <a:srgbClr val="ECEFF2"/>
          </a:solidFill>
          <a:ln w="9525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12-b-0-text">
            <a:extLst>
              <a:ext uri="{FF2B5EF4-FFF2-40B4-BE49-F238E27FC236}">
                <a16:creationId xmlns:a16="http://schemas.microsoft.com/office/drawing/2014/main" id="{C860CE05-512F-486B-A719-810EC4D3997B}"/>
              </a:ext>
            </a:extLst>
          </p:cNvPr>
          <p:cNvSpPr>
            <a:spLocks noGrp="1"/>
          </p:cNvSpPr>
          <p:nvPr/>
        </p:nvSpPr>
        <p:spPr>
          <a:xfrm>
            <a:off x="838200" y="4210050"/>
            <a:ext cx="2743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B7280"/>
                </a:solidFill>
                <a:latin typeface="Arial"/>
                <a:ea typeface="Arial"/>
                <a:cs typeface="Arial"/>
              </a:rPr>
              <a:t>NOT TESTED / NOT COMPLETED</a:t>
            </a:r>
          </a:p>
        </p:txBody>
      </p:sp>
      <p:sp>
        <p:nvSpPr>
          <p:cNvPr id="11" name="s12-1-box">
            <a:extLst>
              <a:ext uri="{FF2B5EF4-FFF2-40B4-BE49-F238E27FC236}">
                <a16:creationId xmlns:a16="http://schemas.microsoft.com/office/drawing/2014/main" id="{BA7E47AA-5958-4163-BBB6-01A866F51A0E}"/>
              </a:ext>
            </a:extLst>
          </p:cNvPr>
          <p:cNvSpPr>
            <a:spLocks noGrp="1"/>
          </p:cNvSpPr>
          <p:nvPr/>
        </p:nvSpPr>
        <p:spPr>
          <a:xfrm>
            <a:off x="4267200" y="1828800"/>
            <a:ext cx="3505200" cy="2876550"/>
          </a:xfrm>
          <a:prstGeom prst="roundRect">
            <a:avLst>
              <a:gd name="adj" fmla="val 2649"/>
            </a:avLst>
          </a:prstGeom>
          <a:solidFill>
            <a:srgbClr val="ECEFF2"/>
          </a:solidFill>
          <a:ln w="14288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s12-1-title">
            <a:extLst>
              <a:ext uri="{FF2B5EF4-FFF2-40B4-BE49-F238E27FC236}">
                <a16:creationId xmlns:a16="http://schemas.microsoft.com/office/drawing/2014/main" id="{372DA548-2C0E-4FD6-BF45-CAB51F7E4D52}"/>
              </a:ext>
            </a:extLst>
          </p:cNvPr>
          <p:cNvSpPr>
            <a:spLocks noGrp="1"/>
          </p:cNvSpPr>
          <p:nvPr/>
        </p:nvSpPr>
        <p:spPr>
          <a:xfrm>
            <a:off x="4400550" y="1943100"/>
            <a:ext cx="323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9486"/>
          </a:bodyPr>
          <a:lstStyle/>
          <a:p>
            <a:pPr algn="ctr">
              <a:lnSpc>
                <a:spcPct val="105000"/>
              </a:lnSpc>
              <a:buNone/>
              <a:defRPr sz="1875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B7280"/>
                </a:solidFill>
                <a:latin typeface="Arial"/>
                <a:ea typeface="Arial"/>
                <a:cs typeface="Arial"/>
              </a:rPr>
              <a:t>Observability &amp; performance</a:t>
            </a:r>
          </a:p>
        </p:txBody>
      </p:sp>
      <p:sp>
        <p:nvSpPr>
          <p:cNvPr id="13" name="s12-1-subtitle">
            <a:extLst>
              <a:ext uri="{FF2B5EF4-FFF2-40B4-BE49-F238E27FC236}">
                <a16:creationId xmlns:a16="http://schemas.microsoft.com/office/drawing/2014/main" id="{8AB01D56-7A79-4DB9-A39C-3B1529FF24DA}"/>
              </a:ext>
            </a:extLst>
          </p:cNvPr>
          <p:cNvSpPr>
            <a:spLocks noGrp="1"/>
          </p:cNvSpPr>
          <p:nvPr/>
        </p:nvSpPr>
        <p:spPr>
          <a:xfrm>
            <a:off x="4400550" y="2305050"/>
            <a:ext cx="3238500" cy="2324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6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Wireshark / PCAP</a:t>
            </a:r>
          </a:p>
          <a:p>
            <a:pPr algn="ctr">
              <a:lnSpc>
                <a:spcPct val="105000"/>
              </a:lnSpc>
              <a:buNone/>
              <a:defRPr sz="16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Throughput</a:t>
            </a:r>
          </a:p>
          <a:p>
            <a:pPr algn="ctr">
              <a:lnSpc>
                <a:spcPct val="105000"/>
              </a:lnSpc>
              <a:buNone/>
              <a:defRPr sz="16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Controlled performance methodology</a:t>
            </a:r>
          </a:p>
        </p:txBody>
      </p:sp>
      <p:sp>
        <p:nvSpPr>
          <p:cNvPr id="14" name="s12-b-1-bg">
            <a:extLst>
              <a:ext uri="{FF2B5EF4-FFF2-40B4-BE49-F238E27FC236}">
                <a16:creationId xmlns:a16="http://schemas.microsoft.com/office/drawing/2014/main" id="{90393960-8D5E-4EA6-8C77-9A29EF738598}"/>
              </a:ext>
            </a:extLst>
          </p:cNvPr>
          <p:cNvSpPr>
            <a:spLocks noGrp="1"/>
          </p:cNvSpPr>
          <p:nvPr/>
        </p:nvSpPr>
        <p:spPr>
          <a:xfrm>
            <a:off x="4648200" y="4210050"/>
            <a:ext cx="2743200" cy="342900"/>
          </a:xfrm>
          <a:prstGeom prst="roundRect">
            <a:avLst>
              <a:gd name="adj" fmla="val 22222"/>
            </a:avLst>
          </a:prstGeom>
          <a:solidFill>
            <a:srgbClr val="ECEFF2"/>
          </a:solidFill>
          <a:ln w="9525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s12-b-1-text">
            <a:extLst>
              <a:ext uri="{FF2B5EF4-FFF2-40B4-BE49-F238E27FC236}">
                <a16:creationId xmlns:a16="http://schemas.microsoft.com/office/drawing/2014/main" id="{EE63F4D4-863B-480C-8B57-4A334B442EDB}"/>
              </a:ext>
            </a:extLst>
          </p:cNvPr>
          <p:cNvSpPr>
            <a:spLocks noGrp="1"/>
          </p:cNvSpPr>
          <p:nvPr/>
        </p:nvSpPr>
        <p:spPr>
          <a:xfrm>
            <a:off x="4648200" y="4210050"/>
            <a:ext cx="2743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B7280"/>
                </a:solidFill>
                <a:latin typeface="Arial"/>
                <a:ea typeface="Arial"/>
                <a:cs typeface="Arial"/>
              </a:rPr>
              <a:t>NOT TESTED / NOT COMPLETED</a:t>
            </a:r>
          </a:p>
        </p:txBody>
      </p:sp>
      <p:sp>
        <p:nvSpPr>
          <p:cNvPr id="16" name="s12-2-box">
            <a:extLst>
              <a:ext uri="{FF2B5EF4-FFF2-40B4-BE49-F238E27FC236}">
                <a16:creationId xmlns:a16="http://schemas.microsoft.com/office/drawing/2014/main" id="{6403FF9D-EF59-42A7-8C99-C6CD6D3FF178}"/>
              </a:ext>
            </a:extLst>
          </p:cNvPr>
          <p:cNvSpPr>
            <a:spLocks noGrp="1"/>
          </p:cNvSpPr>
          <p:nvPr/>
        </p:nvSpPr>
        <p:spPr>
          <a:xfrm>
            <a:off x="8077200" y="1828800"/>
            <a:ext cx="3505200" cy="2876550"/>
          </a:xfrm>
          <a:prstGeom prst="roundRect">
            <a:avLst>
              <a:gd name="adj" fmla="val 2649"/>
            </a:avLst>
          </a:prstGeom>
          <a:solidFill>
            <a:srgbClr val="ECEFF2"/>
          </a:solidFill>
          <a:ln w="14288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s12-2-title">
            <a:extLst>
              <a:ext uri="{FF2B5EF4-FFF2-40B4-BE49-F238E27FC236}">
                <a16:creationId xmlns:a16="http://schemas.microsoft.com/office/drawing/2014/main" id="{4D514E44-B72D-4BEC-A0D9-423826B886C0}"/>
              </a:ext>
            </a:extLst>
          </p:cNvPr>
          <p:cNvSpPr>
            <a:spLocks noGrp="1"/>
          </p:cNvSpPr>
          <p:nvPr/>
        </p:nvSpPr>
        <p:spPr>
          <a:xfrm>
            <a:off x="8210550" y="1943100"/>
            <a:ext cx="323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875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B7280"/>
                </a:solidFill>
                <a:latin typeface="Arial"/>
                <a:ea typeface="Arial"/>
                <a:cs typeface="Arial"/>
              </a:rPr>
              <a:t>Parked research</a:t>
            </a:r>
          </a:p>
        </p:txBody>
      </p:sp>
      <p:sp>
        <p:nvSpPr>
          <p:cNvPr id="18" name="s12-2-subtitle">
            <a:extLst>
              <a:ext uri="{FF2B5EF4-FFF2-40B4-BE49-F238E27FC236}">
                <a16:creationId xmlns:a16="http://schemas.microsoft.com/office/drawing/2014/main" id="{13FACC86-0B8E-4D20-AE69-F574D93CD6CD}"/>
              </a:ext>
            </a:extLst>
          </p:cNvPr>
          <p:cNvSpPr>
            <a:spLocks noGrp="1"/>
          </p:cNvSpPr>
          <p:nvPr/>
        </p:nvSpPr>
        <p:spPr>
          <a:xfrm>
            <a:off x="8210550" y="2305050"/>
            <a:ext cx="3238500" cy="2324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6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MBMS · SIB13 · URLLC</a:t>
            </a:r>
          </a:p>
          <a:p>
            <a:pPr algn="ctr">
              <a:lnSpc>
                <a:spcPct val="105000"/>
              </a:lnSpc>
              <a:buNone/>
              <a:defRPr sz="16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B210 OTA · 2×2 MIMO</a:t>
            </a:r>
          </a:p>
          <a:p>
            <a:pPr algn="ctr">
              <a:lnSpc>
                <a:spcPct val="105000"/>
              </a:lnSpc>
              <a:buNone/>
              <a:defRPr sz="16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6G LEO / NTN</a:t>
            </a:r>
          </a:p>
        </p:txBody>
      </p:sp>
      <p:sp>
        <p:nvSpPr>
          <p:cNvPr id="19" name="s12-b-2-bg">
            <a:extLst>
              <a:ext uri="{FF2B5EF4-FFF2-40B4-BE49-F238E27FC236}">
                <a16:creationId xmlns:a16="http://schemas.microsoft.com/office/drawing/2014/main" id="{207654E8-9A38-4511-B08C-848CFCF82808}"/>
              </a:ext>
            </a:extLst>
          </p:cNvPr>
          <p:cNvSpPr>
            <a:spLocks noGrp="1"/>
          </p:cNvSpPr>
          <p:nvPr/>
        </p:nvSpPr>
        <p:spPr>
          <a:xfrm>
            <a:off x="8458200" y="4210050"/>
            <a:ext cx="2743200" cy="342900"/>
          </a:xfrm>
          <a:prstGeom prst="roundRect">
            <a:avLst>
              <a:gd name="adj" fmla="val 22222"/>
            </a:avLst>
          </a:prstGeom>
          <a:solidFill>
            <a:srgbClr val="ECEFF2"/>
          </a:solidFill>
          <a:ln w="9525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s12-b-2-text">
            <a:extLst>
              <a:ext uri="{FF2B5EF4-FFF2-40B4-BE49-F238E27FC236}">
                <a16:creationId xmlns:a16="http://schemas.microsoft.com/office/drawing/2014/main" id="{27BF64D6-ED07-4166-B27D-37DB67FCD335}"/>
              </a:ext>
            </a:extLst>
          </p:cNvPr>
          <p:cNvSpPr>
            <a:spLocks noGrp="1"/>
          </p:cNvSpPr>
          <p:nvPr/>
        </p:nvSpPr>
        <p:spPr>
          <a:xfrm>
            <a:off x="8458200" y="4210050"/>
            <a:ext cx="2743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B7280"/>
                </a:solidFill>
                <a:latin typeface="Arial"/>
                <a:ea typeface="Arial"/>
                <a:cs typeface="Arial"/>
              </a:rPr>
              <a:t>NOT TESTED / NOT COMPLETED</a:t>
            </a:r>
          </a:p>
        </p:txBody>
      </p:sp>
      <p:sp>
        <p:nvSpPr>
          <p:cNvPr id="21" name="s12-rtt-bg">
            <a:extLst>
              <a:ext uri="{FF2B5EF4-FFF2-40B4-BE49-F238E27FC236}">
                <a16:creationId xmlns:a16="http://schemas.microsoft.com/office/drawing/2014/main" id="{54B57A9B-79CE-4851-A5AB-00966C8CC699}"/>
              </a:ext>
            </a:extLst>
          </p:cNvPr>
          <p:cNvSpPr>
            <a:spLocks noGrp="1"/>
          </p:cNvSpPr>
          <p:nvPr/>
        </p:nvSpPr>
        <p:spPr>
          <a:xfrm>
            <a:off x="971550" y="5067300"/>
            <a:ext cx="10248900" cy="457200"/>
          </a:xfrm>
          <a:prstGeom prst="roundRect">
            <a:avLst>
              <a:gd name="adj" fmla="val 16667"/>
            </a:avLst>
          </a:prstGeom>
          <a:solidFill>
            <a:srgbClr val="FFF0D5"/>
          </a:solidFill>
          <a:ln w="9525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s12-rtt-text">
            <a:extLst>
              <a:ext uri="{FF2B5EF4-FFF2-40B4-BE49-F238E27FC236}">
                <a16:creationId xmlns:a16="http://schemas.microsoft.com/office/drawing/2014/main" id="{F9202FBC-FEC4-47FC-9209-8ECB9062BA00}"/>
              </a:ext>
            </a:extLst>
          </p:cNvPr>
          <p:cNvSpPr>
            <a:spLocks noGrp="1"/>
          </p:cNvSpPr>
          <p:nvPr/>
        </p:nvSpPr>
        <p:spPr>
          <a:xfrm>
            <a:off x="971550" y="5067300"/>
            <a:ext cx="10248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600–700 ms observed ICMP RTT = connectivity evidence only · 非 low latency / URLLC validation</a:t>
            </a:r>
          </a:p>
        </p:txBody>
      </p:sp>
      <p:sp>
        <p:nvSpPr>
          <p:cNvPr id="23" name="s12-mbms">
            <a:extLst>
              <a:ext uri="{FF2B5EF4-FFF2-40B4-BE49-F238E27FC236}">
                <a16:creationId xmlns:a16="http://schemas.microsoft.com/office/drawing/2014/main" id="{24E4C1B2-9128-4855-9632-12A25B420EF2}"/>
              </a:ext>
            </a:extLst>
          </p:cNvPr>
          <p:cNvSpPr>
            <a:spLocks noGrp="1"/>
          </p:cNvSpPr>
          <p:nvPr/>
        </p:nvSpPr>
        <p:spPr>
          <a:xfrm>
            <a:off x="1943100" y="5791200"/>
            <a:ext cx="8305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725" b="1">
                <a:solidFill>
                  <a:srgbClr val="C241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C2413A"/>
                </a:solidFill>
                <a:latin typeface="Arial"/>
                <a:ea typeface="Arial"/>
                <a:cs typeface="Arial"/>
              </a:rPr>
              <a:t>MBMS service startup ≠ MBMS / multicast / SIB13 validation</a:t>
            </a:r>
          </a:p>
        </p:txBody>
      </p:sp>
    </p:spTree>
    <p:extLst>
      <p:ext uri="{BB962C8B-B14F-4D97-AF65-F5344CB8AC3E}">
        <p14:creationId xmlns:p14="http://schemas.microsoft.com/office/powerpoint/2010/main" val="7746970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kicker-13">
            <a:extLst>
              <a:ext uri="{FF2B5EF4-FFF2-40B4-BE49-F238E27FC236}">
                <a16:creationId xmlns:a16="http://schemas.microsoft.com/office/drawing/2014/main" id="{674E27B0-DEEC-4351-A5BF-5643475BA40E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1677D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77D2"/>
                </a:solidFill>
                <a:latin typeface="Arial"/>
                <a:ea typeface="Arial"/>
                <a:cs typeface="Arial"/>
              </a:rPr>
              <a:t>2026.07.14</a:t>
            </a:r>
          </a:p>
        </p:txBody>
      </p:sp>
      <p:sp>
        <p:nvSpPr>
          <p:cNvPr id="2" name="title-13">
            <a:extLst>
              <a:ext uri="{FF2B5EF4-FFF2-40B4-BE49-F238E27FC236}">
                <a16:creationId xmlns:a16="http://schemas.microsoft.com/office/drawing/2014/main" id="{45125143-2C67-4F43-A656-752C4B702EB0}"/>
              </a:ext>
            </a:extLst>
          </p:cNvPr>
          <p:cNvSpPr>
            <a:spLocks noGrp="1"/>
          </p:cNvSpPr>
          <p:nvPr/>
        </p:nvSpPr>
        <p:spPr>
          <a:xfrm>
            <a:off x="457200" y="533400"/>
            <a:ext cx="112776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34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工程價值來自治理能力，不來自未量測 KPI</a:t>
            </a:r>
          </a:p>
        </p:txBody>
      </p:sp>
      <p:sp>
        <p:nvSpPr>
          <p:cNvPr id="3" name="header-rule-13">
            <a:extLst>
              <a:ext uri="{FF2B5EF4-FFF2-40B4-BE49-F238E27FC236}">
                <a16:creationId xmlns:a16="http://schemas.microsoft.com/office/drawing/2014/main" id="{FF9F91A0-FFFE-47E0-9AA6-D78A940C9464}"/>
              </a:ext>
            </a:extLst>
          </p:cNvPr>
          <p:cNvSpPr>
            <a:spLocks noGrp="1"/>
          </p:cNvSpPr>
          <p:nvPr/>
        </p:nvSpPr>
        <p:spPr>
          <a:xfrm>
            <a:off x="457200" y="1200150"/>
            <a:ext cx="11277600" cy="19050"/>
          </a:xfrm>
          <a:prstGeom prst="rect">
            <a:avLst/>
          </a:prstGeom>
          <a:solidFill>
            <a:srgbClr val="1677D2"/>
          </a:solidFill>
          <a:ln w="0">
            <a:solidFill>
              <a:srgbClr val="1677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footer-label-13">
            <a:extLst>
              <a:ext uri="{FF2B5EF4-FFF2-40B4-BE49-F238E27FC236}">
                <a16:creationId xmlns:a16="http://schemas.microsoft.com/office/drawing/2014/main" id="{CDBD976F-940E-4985-8782-6429F013AF14}"/>
              </a:ext>
            </a:extLst>
          </p:cNvPr>
          <p:cNvSpPr>
            <a:spLocks noGrp="1"/>
          </p:cNvSpPr>
          <p:nvPr/>
        </p:nvSpPr>
        <p:spPr>
          <a:xfrm>
            <a:off x="457200" y="6391275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LAB01 BASELINE RECOVERY</a:t>
            </a:r>
          </a:p>
        </p:txBody>
      </p:sp>
      <p:sp>
        <p:nvSpPr>
          <p:cNvPr id="5" name="footer-num-13">
            <a:extLst>
              <a:ext uri="{FF2B5EF4-FFF2-40B4-BE49-F238E27FC236}">
                <a16:creationId xmlns:a16="http://schemas.microsoft.com/office/drawing/2014/main" id="{584694DE-5493-4907-896E-555414E4B9DF}"/>
              </a:ext>
            </a:extLst>
          </p:cNvPr>
          <p:cNvSpPr>
            <a:spLocks noGrp="1"/>
          </p:cNvSpPr>
          <p:nvPr/>
        </p:nvSpPr>
        <p:spPr>
          <a:xfrm>
            <a:off x="11163300" y="6372225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05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6" name="s13-pillar-0">
            <a:extLst>
              <a:ext uri="{FF2B5EF4-FFF2-40B4-BE49-F238E27FC236}">
                <a16:creationId xmlns:a16="http://schemas.microsoft.com/office/drawing/2014/main" id="{5C27997E-C2E1-48B9-A229-933C23D25426}"/>
              </a:ext>
            </a:extLst>
          </p:cNvPr>
          <p:cNvSpPr>
            <a:spLocks noGrp="1"/>
          </p:cNvSpPr>
          <p:nvPr/>
        </p:nvSpPr>
        <p:spPr>
          <a:xfrm>
            <a:off x="457200" y="2247900"/>
            <a:ext cx="1981200" cy="2800350"/>
          </a:xfrm>
          <a:prstGeom prst="rect">
            <a:avLst/>
          </a:prstGeom>
          <a:solidFill>
            <a:srgbClr val="DCEEFF"/>
          </a:solidFill>
          <a:ln w="14288">
            <a:solidFill>
              <a:srgbClr val="1677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13-title-0">
            <a:extLst>
              <a:ext uri="{FF2B5EF4-FFF2-40B4-BE49-F238E27FC236}">
                <a16:creationId xmlns:a16="http://schemas.microsoft.com/office/drawing/2014/main" id="{5724902B-36EA-4B0A-97B8-AB63B510CCDE}"/>
              </a:ext>
            </a:extLst>
          </p:cNvPr>
          <p:cNvSpPr>
            <a:spLocks noGrp="1"/>
          </p:cNvSpPr>
          <p:nvPr/>
        </p:nvSpPr>
        <p:spPr>
          <a:xfrm>
            <a:off x="590550" y="2476500"/>
            <a:ext cx="1714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875" b="1">
                <a:solidFill>
                  <a:srgbClr val="1677D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77D2"/>
                </a:solidFill>
                <a:latin typeface="Arial"/>
                <a:ea typeface="Arial"/>
                <a:cs typeface="Arial"/>
              </a:rPr>
              <a:t>Isolation</a:t>
            </a:r>
          </a:p>
        </p:txBody>
      </p:sp>
      <p:sp>
        <p:nvSpPr>
          <p:cNvPr id="8" name="s13-mid-0">
            <a:extLst>
              <a:ext uri="{FF2B5EF4-FFF2-40B4-BE49-F238E27FC236}">
                <a16:creationId xmlns:a16="http://schemas.microsoft.com/office/drawing/2014/main" id="{5993B26B-43D3-47CB-8ADE-176A766FE94B}"/>
              </a:ext>
            </a:extLst>
          </p:cNvPr>
          <p:cNvSpPr>
            <a:spLocks noGrp="1"/>
          </p:cNvSpPr>
          <p:nvPr/>
        </p:nvSpPr>
        <p:spPr>
          <a:xfrm>
            <a:off x="590550" y="3219450"/>
            <a:ext cx="1714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三平面分離</a:t>
            </a:r>
          </a:p>
        </p:txBody>
      </p:sp>
      <p:sp>
        <p:nvSpPr>
          <p:cNvPr id="9" name="s13-sub-0">
            <a:extLst>
              <a:ext uri="{FF2B5EF4-FFF2-40B4-BE49-F238E27FC236}">
                <a16:creationId xmlns:a16="http://schemas.microsoft.com/office/drawing/2014/main" id="{948AD083-AB3E-42CB-B0A9-B1E227D23FA8}"/>
              </a:ext>
            </a:extLst>
          </p:cNvPr>
          <p:cNvSpPr>
            <a:spLocks noGrp="1"/>
          </p:cNvSpPr>
          <p:nvPr/>
        </p:nvSpPr>
        <p:spPr>
          <a:xfrm>
            <a:off x="590550" y="3943350"/>
            <a:ext cx="1714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責任與故障域</a:t>
            </a:r>
          </a:p>
        </p:txBody>
      </p:sp>
      <p:sp>
        <p:nvSpPr>
          <p:cNvPr id="10" name="s13-pillar-1">
            <a:extLst>
              <a:ext uri="{FF2B5EF4-FFF2-40B4-BE49-F238E27FC236}">
                <a16:creationId xmlns:a16="http://schemas.microsoft.com/office/drawing/2014/main" id="{5D074D49-9EC3-428C-A61D-F430603EB317}"/>
              </a:ext>
            </a:extLst>
          </p:cNvPr>
          <p:cNvSpPr>
            <a:spLocks noGrp="1"/>
          </p:cNvSpPr>
          <p:nvPr/>
        </p:nvSpPr>
        <p:spPr>
          <a:xfrm>
            <a:off x="2743200" y="2247900"/>
            <a:ext cx="1981200" cy="2800350"/>
          </a:xfrm>
          <a:prstGeom prst="rect">
            <a:avLst/>
          </a:prstGeom>
          <a:solidFill>
            <a:srgbClr val="F1F4F7"/>
          </a:solidFill>
          <a:ln w="14288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s13-title-1">
            <a:extLst>
              <a:ext uri="{FF2B5EF4-FFF2-40B4-BE49-F238E27FC236}">
                <a16:creationId xmlns:a16="http://schemas.microsoft.com/office/drawing/2014/main" id="{FBCCCED1-77A9-462E-8BB6-CA8627905771}"/>
              </a:ext>
            </a:extLst>
          </p:cNvPr>
          <p:cNvSpPr>
            <a:spLocks noGrp="1"/>
          </p:cNvSpPr>
          <p:nvPr/>
        </p:nvSpPr>
        <p:spPr>
          <a:xfrm>
            <a:off x="2876550" y="2476500"/>
            <a:ext cx="1714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8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Traceability</a:t>
            </a:r>
          </a:p>
        </p:txBody>
      </p:sp>
      <p:sp>
        <p:nvSpPr>
          <p:cNvPr id="12" name="s13-mid-1">
            <a:extLst>
              <a:ext uri="{FF2B5EF4-FFF2-40B4-BE49-F238E27FC236}">
                <a16:creationId xmlns:a16="http://schemas.microsoft.com/office/drawing/2014/main" id="{FB5E913B-B233-4A10-905E-6D8AFCE414B3}"/>
              </a:ext>
            </a:extLst>
          </p:cNvPr>
          <p:cNvSpPr>
            <a:spLocks noGrp="1"/>
          </p:cNvSpPr>
          <p:nvPr/>
        </p:nvSpPr>
        <p:spPr>
          <a:xfrm>
            <a:off x="2876550" y="3219450"/>
            <a:ext cx="1714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成對 evidence</a:t>
            </a:r>
          </a:p>
        </p:txBody>
      </p:sp>
      <p:sp>
        <p:nvSpPr>
          <p:cNvPr id="13" name="s13-sub-1">
            <a:extLst>
              <a:ext uri="{FF2B5EF4-FFF2-40B4-BE49-F238E27FC236}">
                <a16:creationId xmlns:a16="http://schemas.microsoft.com/office/drawing/2014/main" id="{EAEF428E-D8FE-4A8D-B22B-C568381B3D3B}"/>
              </a:ext>
            </a:extLst>
          </p:cNvPr>
          <p:cNvSpPr>
            <a:spLocks noGrp="1"/>
          </p:cNvSpPr>
          <p:nvPr/>
        </p:nvSpPr>
        <p:spPr>
          <a:xfrm>
            <a:off x="2876550" y="3943350"/>
            <a:ext cx="1714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可追溯、可反駁</a:t>
            </a:r>
          </a:p>
        </p:txBody>
      </p:sp>
      <p:sp>
        <p:nvSpPr>
          <p:cNvPr id="14" name="s13-pillar-2">
            <a:extLst>
              <a:ext uri="{FF2B5EF4-FFF2-40B4-BE49-F238E27FC236}">
                <a16:creationId xmlns:a16="http://schemas.microsoft.com/office/drawing/2014/main" id="{388C7B3A-5666-469A-9E01-1ABCAE116626}"/>
              </a:ext>
            </a:extLst>
          </p:cNvPr>
          <p:cNvSpPr>
            <a:spLocks noGrp="1"/>
          </p:cNvSpPr>
          <p:nvPr/>
        </p:nvSpPr>
        <p:spPr>
          <a:xfrm>
            <a:off x="5029200" y="2247900"/>
            <a:ext cx="1981200" cy="2800350"/>
          </a:xfrm>
          <a:prstGeom prst="rect">
            <a:avLst/>
          </a:prstGeom>
          <a:solidFill>
            <a:srgbClr val="DCEEFF"/>
          </a:solidFill>
          <a:ln w="14288">
            <a:solidFill>
              <a:srgbClr val="1677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s13-title-2">
            <a:extLst>
              <a:ext uri="{FF2B5EF4-FFF2-40B4-BE49-F238E27FC236}">
                <a16:creationId xmlns:a16="http://schemas.microsoft.com/office/drawing/2014/main" id="{8A62BE7F-2F12-4FBB-8B38-F58492CE8E7F}"/>
              </a:ext>
            </a:extLst>
          </p:cNvPr>
          <p:cNvSpPr>
            <a:spLocks noGrp="1"/>
          </p:cNvSpPr>
          <p:nvPr/>
        </p:nvSpPr>
        <p:spPr>
          <a:xfrm>
            <a:off x="5162550" y="2476500"/>
            <a:ext cx="1714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875" b="1">
                <a:solidFill>
                  <a:srgbClr val="1677D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77D2"/>
                </a:solidFill>
                <a:latin typeface="Arial"/>
                <a:ea typeface="Arial"/>
                <a:cs typeface="Arial"/>
              </a:rPr>
              <a:t>Safety</a:t>
            </a:r>
          </a:p>
        </p:txBody>
      </p:sp>
      <p:sp>
        <p:nvSpPr>
          <p:cNvPr id="16" name="s13-mid-2">
            <a:extLst>
              <a:ext uri="{FF2B5EF4-FFF2-40B4-BE49-F238E27FC236}">
                <a16:creationId xmlns:a16="http://schemas.microsoft.com/office/drawing/2014/main" id="{C8210C13-07E2-4A4E-9CE9-E2F89E3875E1}"/>
              </a:ext>
            </a:extLst>
          </p:cNvPr>
          <p:cNvSpPr>
            <a:spLocks noGrp="1"/>
          </p:cNvSpPr>
          <p:nvPr/>
        </p:nvSpPr>
        <p:spPr>
          <a:xfrm>
            <a:off x="5162550" y="3219450"/>
            <a:ext cx="1714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Gates + STOP</a:t>
            </a:r>
          </a:p>
        </p:txBody>
      </p:sp>
      <p:sp>
        <p:nvSpPr>
          <p:cNvPr id="17" name="s13-sub-2">
            <a:extLst>
              <a:ext uri="{FF2B5EF4-FFF2-40B4-BE49-F238E27FC236}">
                <a16:creationId xmlns:a16="http://schemas.microsoft.com/office/drawing/2014/main" id="{50C27494-9893-431A-870E-2AAB923D4C66}"/>
              </a:ext>
            </a:extLst>
          </p:cNvPr>
          <p:cNvSpPr>
            <a:spLocks noGrp="1"/>
          </p:cNvSpPr>
          <p:nvPr/>
        </p:nvSpPr>
        <p:spPr>
          <a:xfrm>
            <a:off x="5162550" y="3943350"/>
            <a:ext cx="1714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最小核准步驟</a:t>
            </a:r>
          </a:p>
        </p:txBody>
      </p:sp>
      <p:sp>
        <p:nvSpPr>
          <p:cNvPr id="18" name="s13-pillar-3">
            <a:extLst>
              <a:ext uri="{FF2B5EF4-FFF2-40B4-BE49-F238E27FC236}">
                <a16:creationId xmlns:a16="http://schemas.microsoft.com/office/drawing/2014/main" id="{D133F573-4E3C-4735-8944-263B841BB459}"/>
              </a:ext>
            </a:extLst>
          </p:cNvPr>
          <p:cNvSpPr>
            <a:spLocks noGrp="1"/>
          </p:cNvSpPr>
          <p:nvPr/>
        </p:nvSpPr>
        <p:spPr>
          <a:xfrm>
            <a:off x="7315200" y="2247900"/>
            <a:ext cx="1981200" cy="2800350"/>
          </a:xfrm>
          <a:prstGeom prst="rect">
            <a:avLst/>
          </a:prstGeom>
          <a:solidFill>
            <a:srgbClr val="F1F4F7"/>
          </a:solidFill>
          <a:ln w="14288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s13-title-3">
            <a:extLst>
              <a:ext uri="{FF2B5EF4-FFF2-40B4-BE49-F238E27FC236}">
                <a16:creationId xmlns:a16="http://schemas.microsoft.com/office/drawing/2014/main" id="{53FD6D50-A67B-4C7A-A6D9-930E6069B33C}"/>
              </a:ext>
            </a:extLst>
          </p:cNvPr>
          <p:cNvSpPr>
            <a:spLocks noGrp="1"/>
          </p:cNvSpPr>
          <p:nvPr/>
        </p:nvSpPr>
        <p:spPr>
          <a:xfrm>
            <a:off x="7448550" y="2476500"/>
            <a:ext cx="1714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8930"/>
          </a:bodyPr>
          <a:lstStyle/>
          <a:p>
            <a:pPr algn="ctr">
              <a:lnSpc>
                <a:spcPct val="105000"/>
              </a:lnSpc>
              <a:buNone/>
              <a:defRPr sz="18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Reproducibility</a:t>
            </a:r>
          </a:p>
        </p:txBody>
      </p:sp>
      <p:sp>
        <p:nvSpPr>
          <p:cNvPr id="20" name="s13-mid-3">
            <a:extLst>
              <a:ext uri="{FF2B5EF4-FFF2-40B4-BE49-F238E27FC236}">
                <a16:creationId xmlns:a16="http://schemas.microsoft.com/office/drawing/2014/main" id="{FAA1F1C5-999E-4DE5-B1A3-A8BF0C0FC3CB}"/>
              </a:ext>
            </a:extLst>
          </p:cNvPr>
          <p:cNvSpPr>
            <a:spLocks noGrp="1"/>
          </p:cNvSpPr>
          <p:nvPr/>
        </p:nvSpPr>
        <p:spPr>
          <a:xfrm>
            <a:off x="7448550" y="3219450"/>
            <a:ext cx="1714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固定 invariants</a:t>
            </a:r>
          </a:p>
        </p:txBody>
      </p:sp>
      <p:sp>
        <p:nvSpPr>
          <p:cNvPr id="21" name="s13-sub-3">
            <a:extLst>
              <a:ext uri="{FF2B5EF4-FFF2-40B4-BE49-F238E27FC236}">
                <a16:creationId xmlns:a16="http://schemas.microsoft.com/office/drawing/2014/main" id="{3521B3CA-3D78-4057-A53B-1F02E21B6FCC}"/>
              </a:ext>
            </a:extLst>
          </p:cNvPr>
          <p:cNvSpPr>
            <a:spLocks noGrp="1"/>
          </p:cNvSpPr>
          <p:nvPr/>
        </p:nvSpPr>
        <p:spPr>
          <a:xfrm>
            <a:off x="7448550" y="3943350"/>
            <a:ext cx="1714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一致 bring-up / shutdown</a:t>
            </a:r>
          </a:p>
        </p:txBody>
      </p:sp>
      <p:sp>
        <p:nvSpPr>
          <p:cNvPr id="22" name="s13-pillar-4">
            <a:extLst>
              <a:ext uri="{FF2B5EF4-FFF2-40B4-BE49-F238E27FC236}">
                <a16:creationId xmlns:a16="http://schemas.microsoft.com/office/drawing/2014/main" id="{578B1F74-69D7-4184-BCBC-42CCD7C3938F}"/>
              </a:ext>
            </a:extLst>
          </p:cNvPr>
          <p:cNvSpPr>
            <a:spLocks noGrp="1"/>
          </p:cNvSpPr>
          <p:nvPr/>
        </p:nvSpPr>
        <p:spPr>
          <a:xfrm>
            <a:off x="9601200" y="2247900"/>
            <a:ext cx="1981200" cy="2800350"/>
          </a:xfrm>
          <a:prstGeom prst="rect">
            <a:avLst/>
          </a:prstGeom>
          <a:solidFill>
            <a:srgbClr val="DCEEFF"/>
          </a:solidFill>
          <a:ln w="14288">
            <a:solidFill>
              <a:srgbClr val="1677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s13-title-4">
            <a:extLst>
              <a:ext uri="{FF2B5EF4-FFF2-40B4-BE49-F238E27FC236}">
                <a16:creationId xmlns:a16="http://schemas.microsoft.com/office/drawing/2014/main" id="{52B98B40-905B-4736-A507-607F995E44E0}"/>
              </a:ext>
            </a:extLst>
          </p:cNvPr>
          <p:cNvSpPr>
            <a:spLocks noGrp="1"/>
          </p:cNvSpPr>
          <p:nvPr/>
        </p:nvSpPr>
        <p:spPr>
          <a:xfrm>
            <a:off x="9734550" y="2476500"/>
            <a:ext cx="1714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875" b="1">
                <a:solidFill>
                  <a:srgbClr val="1677D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77D2"/>
                </a:solidFill>
                <a:latin typeface="Arial"/>
                <a:ea typeface="Arial"/>
                <a:cs typeface="Arial"/>
              </a:rPr>
              <a:t>Handoff</a:t>
            </a:r>
          </a:p>
        </p:txBody>
      </p:sp>
      <p:sp>
        <p:nvSpPr>
          <p:cNvPr id="24" name="s13-mid-4">
            <a:extLst>
              <a:ext uri="{FF2B5EF4-FFF2-40B4-BE49-F238E27FC236}">
                <a16:creationId xmlns:a16="http://schemas.microsoft.com/office/drawing/2014/main" id="{DA484816-3F3A-4753-9EC7-FB71D4964D1B}"/>
              </a:ext>
            </a:extLst>
          </p:cNvPr>
          <p:cNvSpPr>
            <a:spLocks noGrp="1"/>
          </p:cNvSpPr>
          <p:nvPr/>
        </p:nvSpPr>
        <p:spPr>
          <a:xfrm>
            <a:off x="9734550" y="3219450"/>
            <a:ext cx="1714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PR checkpoints</a:t>
            </a:r>
          </a:p>
        </p:txBody>
      </p:sp>
      <p:sp>
        <p:nvSpPr>
          <p:cNvPr id="25" name="s13-sub-4">
            <a:extLst>
              <a:ext uri="{FF2B5EF4-FFF2-40B4-BE49-F238E27FC236}">
                <a16:creationId xmlns:a16="http://schemas.microsoft.com/office/drawing/2014/main" id="{17CA0576-3780-41A5-ABD3-5E8ED9E6BFF5}"/>
              </a:ext>
            </a:extLst>
          </p:cNvPr>
          <p:cNvSpPr>
            <a:spLocks noGrp="1"/>
          </p:cNvSpPr>
          <p:nvPr/>
        </p:nvSpPr>
        <p:spPr>
          <a:xfrm>
            <a:off x="9734550" y="3943350"/>
            <a:ext cx="1714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不依賴私人記憶</a:t>
            </a:r>
          </a:p>
        </p:txBody>
      </p:sp>
      <p:sp>
        <p:nvSpPr>
          <p:cNvPr id="26" name="s13-base">
            <a:extLst>
              <a:ext uri="{FF2B5EF4-FFF2-40B4-BE49-F238E27FC236}">
                <a16:creationId xmlns:a16="http://schemas.microsoft.com/office/drawing/2014/main" id="{A4784A76-F9B6-475E-BFB1-1DBF74BBBA6A}"/>
              </a:ext>
            </a:extLst>
          </p:cNvPr>
          <p:cNvSpPr>
            <a:spLocks noGrp="1"/>
          </p:cNvSpPr>
          <p:nvPr/>
        </p:nvSpPr>
        <p:spPr>
          <a:xfrm>
            <a:off x="457200" y="5238750"/>
            <a:ext cx="11125200" cy="571500"/>
          </a:xfrm>
          <a:prstGeom prst="rect">
            <a:avLst/>
          </a:prstGeom>
          <a:solidFill>
            <a:srgbClr val="0B1220"/>
          </a:solidFill>
          <a:ln w="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s13-base-t">
            <a:extLst>
              <a:ext uri="{FF2B5EF4-FFF2-40B4-BE49-F238E27FC236}">
                <a16:creationId xmlns:a16="http://schemas.microsoft.com/office/drawing/2014/main" id="{01D992BD-9FD6-414B-AFE1-8C0801A6B802}"/>
              </a:ext>
            </a:extLst>
          </p:cNvPr>
          <p:cNvSpPr>
            <a:spLocks noGrp="1"/>
          </p:cNvSpPr>
          <p:nvPr/>
        </p:nvSpPr>
        <p:spPr>
          <a:xfrm>
            <a:off x="666750" y="5353050"/>
            <a:ext cx="10706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Evidence  +  Governance  +  Human Approval</a:t>
            </a:r>
          </a:p>
        </p:txBody>
      </p:sp>
    </p:spTree>
    <p:extLst>
      <p:ext uri="{BB962C8B-B14F-4D97-AF65-F5344CB8AC3E}">
        <p14:creationId xmlns:p14="http://schemas.microsoft.com/office/powerpoint/2010/main" val="3732430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kicker-14">
            <a:extLst>
              <a:ext uri="{FF2B5EF4-FFF2-40B4-BE49-F238E27FC236}">
                <a16:creationId xmlns:a16="http://schemas.microsoft.com/office/drawing/2014/main" id="{063E6A8E-143F-46BB-BA13-4B87643D6EA1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1677D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77D2"/>
                </a:solidFill>
                <a:latin typeface="Arial"/>
                <a:ea typeface="Arial"/>
                <a:cs typeface="Arial"/>
              </a:rPr>
              <a:t>2026.07.14</a:t>
            </a:r>
          </a:p>
        </p:txBody>
      </p:sp>
      <p:sp>
        <p:nvSpPr>
          <p:cNvPr id="2" name="title-14">
            <a:extLst>
              <a:ext uri="{FF2B5EF4-FFF2-40B4-BE49-F238E27FC236}">
                <a16:creationId xmlns:a16="http://schemas.microsoft.com/office/drawing/2014/main" id="{5F7B68B1-76B5-4F1C-B48F-57F2373D5C5E}"/>
              </a:ext>
            </a:extLst>
          </p:cNvPr>
          <p:cNvSpPr>
            <a:spLocks noGrp="1"/>
          </p:cNvSpPr>
          <p:nvPr/>
        </p:nvSpPr>
        <p:spPr>
          <a:xfrm>
            <a:off x="457200" y="533400"/>
            <a:ext cx="112776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34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下一步只進入新的 approval-gated work cycle</a:t>
            </a:r>
          </a:p>
        </p:txBody>
      </p:sp>
      <p:sp>
        <p:nvSpPr>
          <p:cNvPr id="3" name="header-rule-14">
            <a:extLst>
              <a:ext uri="{FF2B5EF4-FFF2-40B4-BE49-F238E27FC236}">
                <a16:creationId xmlns:a16="http://schemas.microsoft.com/office/drawing/2014/main" id="{CC65F667-45CC-4824-844A-BEF5E5864F64}"/>
              </a:ext>
            </a:extLst>
          </p:cNvPr>
          <p:cNvSpPr>
            <a:spLocks noGrp="1"/>
          </p:cNvSpPr>
          <p:nvPr/>
        </p:nvSpPr>
        <p:spPr>
          <a:xfrm>
            <a:off x="457200" y="1200150"/>
            <a:ext cx="11277600" cy="19050"/>
          </a:xfrm>
          <a:prstGeom prst="rect">
            <a:avLst/>
          </a:prstGeom>
          <a:solidFill>
            <a:srgbClr val="1677D2"/>
          </a:solidFill>
          <a:ln w="0">
            <a:solidFill>
              <a:srgbClr val="1677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footer-label-14">
            <a:extLst>
              <a:ext uri="{FF2B5EF4-FFF2-40B4-BE49-F238E27FC236}">
                <a16:creationId xmlns:a16="http://schemas.microsoft.com/office/drawing/2014/main" id="{44C9236A-0767-4AFD-BDE7-E394D02FE298}"/>
              </a:ext>
            </a:extLst>
          </p:cNvPr>
          <p:cNvSpPr>
            <a:spLocks noGrp="1"/>
          </p:cNvSpPr>
          <p:nvPr/>
        </p:nvSpPr>
        <p:spPr>
          <a:xfrm>
            <a:off x="457200" y="6391275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LAB01 BASELINE RECOVERY</a:t>
            </a:r>
          </a:p>
        </p:txBody>
      </p:sp>
      <p:sp>
        <p:nvSpPr>
          <p:cNvPr id="5" name="footer-num-14">
            <a:extLst>
              <a:ext uri="{FF2B5EF4-FFF2-40B4-BE49-F238E27FC236}">
                <a16:creationId xmlns:a16="http://schemas.microsoft.com/office/drawing/2014/main" id="{AFAAF893-3EBF-4A74-96A1-94E6CB3127C4}"/>
              </a:ext>
            </a:extLst>
          </p:cNvPr>
          <p:cNvSpPr>
            <a:spLocks noGrp="1"/>
          </p:cNvSpPr>
          <p:nvPr/>
        </p:nvSpPr>
        <p:spPr>
          <a:xfrm>
            <a:off x="11163300" y="6372225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05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6" name="s14-a0">
            <a:extLst>
              <a:ext uri="{FF2B5EF4-FFF2-40B4-BE49-F238E27FC236}">
                <a16:creationId xmlns:a16="http://schemas.microsoft.com/office/drawing/2014/main" id="{31364F1B-1FD6-4D37-98E6-40378CF8251E}"/>
              </a:ext>
            </a:extLst>
          </p:cNvPr>
          <p:cNvSpPr>
            <a:spLocks noGrp="1"/>
          </p:cNvSpPr>
          <p:nvPr/>
        </p:nvSpPr>
        <p:spPr>
          <a:xfrm>
            <a:off x="4022651" y="2452355"/>
            <a:ext cx="552450" cy="209550"/>
          </a:xfrm>
          <a:prstGeom prst="rightArrow">
            <a:avLst/>
          </a:prstGeom>
          <a:solidFill>
            <a:srgbClr val="C9D1D9"/>
          </a:solidFill>
          <a:ln w="0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14-a1">
            <a:extLst>
              <a:ext uri="{FF2B5EF4-FFF2-40B4-BE49-F238E27FC236}">
                <a16:creationId xmlns:a16="http://schemas.microsoft.com/office/drawing/2014/main" id="{F4CA27CD-FB09-4B08-BFCB-6D209EB911E3}"/>
              </a:ext>
            </a:extLst>
          </p:cNvPr>
          <p:cNvSpPr>
            <a:spLocks noGrp="1"/>
          </p:cNvSpPr>
          <p:nvPr/>
        </p:nvSpPr>
        <p:spPr>
          <a:xfrm>
            <a:off x="7051601" y="2395205"/>
            <a:ext cx="552450" cy="209550"/>
          </a:xfrm>
          <a:prstGeom prst="rightArrow">
            <a:avLst/>
          </a:prstGeom>
          <a:solidFill>
            <a:srgbClr val="C9D1D9"/>
          </a:solidFill>
          <a:ln w="0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8" name="s14-a2">
            <a:extLst>
              <a:ext uri="{FF2B5EF4-FFF2-40B4-BE49-F238E27FC236}">
                <a16:creationId xmlns:a16="http://schemas.microsoft.com/office/drawing/2014/main" id="{DE936F44-A835-44C0-A871-91103E1214BC}"/>
              </a:ext>
            </a:extLst>
          </p:cNvPr>
          <p:cNvSpPr>
            <a:spLocks noGrp="1"/>
          </p:cNvSpPr>
          <p:nvPr/>
        </p:nvSpPr>
        <p:spPr>
          <a:xfrm>
            <a:off x="8737526" y="3030665"/>
            <a:ext cx="209550" cy="706013"/>
          </a:xfrm>
          <a:prstGeom prst="downArrow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14-a3">
            <a:extLst>
              <a:ext uri="{FF2B5EF4-FFF2-40B4-BE49-F238E27FC236}">
                <a16:creationId xmlns:a16="http://schemas.microsoft.com/office/drawing/2014/main" id="{BB693307-96E2-4637-A491-789B7AA0B1B2}"/>
              </a:ext>
            </a:extLst>
          </p:cNvPr>
          <p:cNvSpPr>
            <a:spLocks noGrp="1"/>
          </p:cNvSpPr>
          <p:nvPr/>
        </p:nvSpPr>
        <p:spPr>
          <a:xfrm>
            <a:off x="7051601" y="4096967"/>
            <a:ext cx="552450" cy="214479"/>
          </a:xfrm>
          <a:prstGeom prst="leftArrow">
            <a:avLst/>
          </a:prstGeom>
          <a:solidFill>
            <a:srgbClr val="C9D1D9"/>
          </a:solidFill>
          <a:ln w="0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14-a4">
            <a:extLst>
              <a:ext uri="{FF2B5EF4-FFF2-40B4-BE49-F238E27FC236}">
                <a16:creationId xmlns:a16="http://schemas.microsoft.com/office/drawing/2014/main" id="{C2B2ACA4-13C5-4BE1-A917-55E18FB7EB9F}"/>
              </a:ext>
            </a:extLst>
          </p:cNvPr>
          <p:cNvSpPr>
            <a:spLocks noGrp="1"/>
          </p:cNvSpPr>
          <p:nvPr/>
        </p:nvSpPr>
        <p:spPr>
          <a:xfrm>
            <a:off x="4175051" y="4174940"/>
            <a:ext cx="428625" cy="156166"/>
          </a:xfrm>
          <a:prstGeom prst="leftArrow">
            <a:avLst/>
          </a:prstGeom>
          <a:solidFill>
            <a:srgbClr val="C9D1D9"/>
          </a:solidFill>
          <a:ln w="0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11" name="s14-a5">
            <a:extLst>
              <a:ext uri="{FF2B5EF4-FFF2-40B4-BE49-F238E27FC236}">
                <a16:creationId xmlns:a16="http://schemas.microsoft.com/office/drawing/2014/main" id="{806AF003-90FC-4043-ABAE-729E015DC206}"/>
              </a:ext>
            </a:extLst>
          </p:cNvPr>
          <p:cNvSpPr>
            <a:spLocks noGrp="1"/>
          </p:cNvSpPr>
          <p:nvPr/>
        </p:nvSpPr>
        <p:spPr>
          <a:xfrm>
            <a:off x="2856836" y="3041742"/>
            <a:ext cx="209550" cy="706014"/>
          </a:xfrm>
          <a:prstGeom prst="upArrow">
            <a:avLst/>
          </a:prstGeom>
          <a:solidFill>
            <a:srgbClr val="C9D1D9"/>
          </a:solidFill>
          <a:ln w="0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s14-n-0-box">
            <a:extLst>
              <a:ext uri="{FF2B5EF4-FFF2-40B4-BE49-F238E27FC236}">
                <a16:creationId xmlns:a16="http://schemas.microsoft.com/office/drawing/2014/main" id="{2818B50C-E180-4D6B-848C-369C662BA72A}"/>
              </a:ext>
            </a:extLst>
          </p:cNvPr>
          <p:cNvSpPr>
            <a:spLocks noGrp="1"/>
          </p:cNvSpPr>
          <p:nvPr/>
        </p:nvSpPr>
        <p:spPr>
          <a:xfrm>
            <a:off x="1698551" y="2023730"/>
            <a:ext cx="2476500" cy="1028700"/>
          </a:xfrm>
          <a:prstGeom prst="roundRect">
            <a:avLst>
              <a:gd name="adj" fmla="val 7407"/>
            </a:avLst>
          </a:prstGeom>
          <a:solidFill>
            <a:srgbClr val="F1F4F7"/>
          </a:solidFill>
          <a:ln w="14288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s14-n-0-title">
            <a:extLst>
              <a:ext uri="{FF2B5EF4-FFF2-40B4-BE49-F238E27FC236}">
                <a16:creationId xmlns:a16="http://schemas.microsoft.com/office/drawing/2014/main" id="{3444D0EB-46D2-417C-B44A-D049AB97B8C1}"/>
              </a:ext>
            </a:extLst>
          </p:cNvPr>
          <p:cNvSpPr>
            <a:spLocks noGrp="1"/>
          </p:cNvSpPr>
          <p:nvPr/>
        </p:nvSpPr>
        <p:spPr>
          <a:xfrm>
            <a:off x="1831901" y="2138030"/>
            <a:ext cx="2209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7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Review / Handoff</a:t>
            </a:r>
          </a:p>
        </p:txBody>
      </p:sp>
      <p:sp>
        <p:nvSpPr>
          <p:cNvPr id="14" name="s14-n-0-subtitle">
            <a:extLst>
              <a:ext uri="{FF2B5EF4-FFF2-40B4-BE49-F238E27FC236}">
                <a16:creationId xmlns:a16="http://schemas.microsoft.com/office/drawing/2014/main" id="{2DFF5828-6988-4CD0-B3EC-1E77380F6EE8}"/>
              </a:ext>
            </a:extLst>
          </p:cNvPr>
          <p:cNvSpPr>
            <a:spLocks noGrp="1"/>
          </p:cNvSpPr>
          <p:nvPr/>
        </p:nvSpPr>
        <p:spPr>
          <a:xfrm>
            <a:off x="1831901" y="2499980"/>
            <a:ext cx="2209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確認 evidence</a:t>
            </a:r>
          </a:p>
        </p:txBody>
      </p:sp>
      <p:sp>
        <p:nvSpPr>
          <p:cNvPr id="15" name="s14-n-1-box">
            <a:extLst>
              <a:ext uri="{FF2B5EF4-FFF2-40B4-BE49-F238E27FC236}">
                <a16:creationId xmlns:a16="http://schemas.microsoft.com/office/drawing/2014/main" id="{17D6945C-DFC5-455F-8021-04F3B19D5CCF}"/>
              </a:ext>
            </a:extLst>
          </p:cNvPr>
          <p:cNvSpPr>
            <a:spLocks noGrp="1"/>
          </p:cNvSpPr>
          <p:nvPr/>
        </p:nvSpPr>
        <p:spPr>
          <a:xfrm>
            <a:off x="4575101" y="2023730"/>
            <a:ext cx="2476500" cy="1028700"/>
          </a:xfrm>
          <a:prstGeom prst="roundRect">
            <a:avLst>
              <a:gd name="adj" fmla="val 7407"/>
            </a:avLst>
          </a:prstGeom>
          <a:solidFill>
            <a:srgbClr val="F1F4F7"/>
          </a:solidFill>
          <a:ln w="14288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s14-n-1-title">
            <a:extLst>
              <a:ext uri="{FF2B5EF4-FFF2-40B4-BE49-F238E27FC236}">
                <a16:creationId xmlns:a16="http://schemas.microsoft.com/office/drawing/2014/main" id="{32C7E5DD-1558-426E-90C6-373FE4096D57}"/>
              </a:ext>
            </a:extLst>
          </p:cNvPr>
          <p:cNvSpPr>
            <a:spLocks noGrp="1"/>
          </p:cNvSpPr>
          <p:nvPr/>
        </p:nvSpPr>
        <p:spPr>
          <a:xfrm>
            <a:off x="4708451" y="2138030"/>
            <a:ext cx="2209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7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Select one scope</a:t>
            </a:r>
          </a:p>
        </p:txBody>
      </p:sp>
      <p:sp>
        <p:nvSpPr>
          <p:cNvPr id="17" name="s14-n-1-subtitle">
            <a:extLst>
              <a:ext uri="{FF2B5EF4-FFF2-40B4-BE49-F238E27FC236}">
                <a16:creationId xmlns:a16="http://schemas.microsoft.com/office/drawing/2014/main" id="{CB6DD0F9-DB28-45B6-9A8C-0D4AD7C91D4B}"/>
              </a:ext>
            </a:extLst>
          </p:cNvPr>
          <p:cNvSpPr>
            <a:spLocks noGrp="1"/>
          </p:cNvSpPr>
          <p:nvPr/>
        </p:nvSpPr>
        <p:spPr>
          <a:xfrm>
            <a:off x="4708451" y="2499980"/>
            <a:ext cx="2209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一次一個問題</a:t>
            </a:r>
          </a:p>
        </p:txBody>
      </p:sp>
      <p:sp>
        <p:nvSpPr>
          <p:cNvPr id="18" name="s14-n-2-box">
            <a:extLst>
              <a:ext uri="{FF2B5EF4-FFF2-40B4-BE49-F238E27FC236}">
                <a16:creationId xmlns:a16="http://schemas.microsoft.com/office/drawing/2014/main" id="{56878E42-FC3B-4C89-9815-922F4B9FAE6F}"/>
              </a:ext>
            </a:extLst>
          </p:cNvPr>
          <p:cNvSpPr>
            <a:spLocks noGrp="1"/>
          </p:cNvSpPr>
          <p:nvPr/>
        </p:nvSpPr>
        <p:spPr>
          <a:xfrm>
            <a:off x="7604051" y="2013042"/>
            <a:ext cx="2476500" cy="1028700"/>
          </a:xfrm>
          <a:prstGeom prst="roundRect">
            <a:avLst>
              <a:gd name="adj" fmla="val 7407"/>
            </a:avLst>
          </a:prstGeom>
          <a:solidFill>
            <a:srgbClr val="F1F4F7"/>
          </a:solidFill>
          <a:ln w="14288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s14-n-2-title">
            <a:extLst>
              <a:ext uri="{FF2B5EF4-FFF2-40B4-BE49-F238E27FC236}">
                <a16:creationId xmlns:a16="http://schemas.microsoft.com/office/drawing/2014/main" id="{E1EEA578-0490-4E2B-AD54-1425FCEF75F8}"/>
              </a:ext>
            </a:extLst>
          </p:cNvPr>
          <p:cNvSpPr>
            <a:spLocks noGrp="1"/>
          </p:cNvSpPr>
          <p:nvPr/>
        </p:nvSpPr>
        <p:spPr>
          <a:xfrm>
            <a:off x="7737401" y="2127342"/>
            <a:ext cx="2209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7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1" dirty="0">
                <a:solidFill>
                  <a:srgbClr val="0B1220"/>
                </a:solidFill>
                <a:latin typeface="Arial"/>
                <a:ea typeface="Arial"/>
                <a:cs typeface="Arial"/>
              </a:rPr>
              <a:t>Define package</a:t>
            </a:r>
          </a:p>
        </p:txBody>
      </p:sp>
      <p:sp>
        <p:nvSpPr>
          <p:cNvPr id="20" name="s14-n-2-subtitle">
            <a:extLst>
              <a:ext uri="{FF2B5EF4-FFF2-40B4-BE49-F238E27FC236}">
                <a16:creationId xmlns:a16="http://schemas.microsoft.com/office/drawing/2014/main" id="{12E893F0-5B76-4DF7-B3D8-62E1593244EE}"/>
              </a:ext>
            </a:extLst>
          </p:cNvPr>
          <p:cNvSpPr>
            <a:spLocks noGrp="1"/>
          </p:cNvSpPr>
          <p:nvPr/>
        </p:nvSpPr>
        <p:spPr>
          <a:xfrm>
            <a:off x="7737401" y="2489292"/>
            <a:ext cx="2209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 dirty="0">
                <a:solidFill>
                  <a:srgbClr val="52606D"/>
                </a:solidFill>
                <a:latin typeface="Arial"/>
                <a:ea typeface="Arial"/>
                <a:cs typeface="Arial"/>
              </a:rPr>
              <a:t>criteria · evidence · abort</a:t>
            </a:r>
          </a:p>
        </p:txBody>
      </p:sp>
      <p:sp>
        <p:nvSpPr>
          <p:cNvPr id="21" name="s14-n-3-box">
            <a:extLst>
              <a:ext uri="{FF2B5EF4-FFF2-40B4-BE49-F238E27FC236}">
                <a16:creationId xmlns:a16="http://schemas.microsoft.com/office/drawing/2014/main" id="{9851D039-3E26-4B3A-98A1-8D315B03A217}"/>
              </a:ext>
            </a:extLst>
          </p:cNvPr>
          <p:cNvSpPr>
            <a:spLocks noGrp="1"/>
          </p:cNvSpPr>
          <p:nvPr/>
        </p:nvSpPr>
        <p:spPr>
          <a:xfrm>
            <a:off x="7604051" y="3740058"/>
            <a:ext cx="2476500" cy="1028700"/>
          </a:xfrm>
          <a:prstGeom prst="roundRect">
            <a:avLst>
              <a:gd name="adj" fmla="val 7407"/>
            </a:avLst>
          </a:prstGeom>
          <a:solidFill>
            <a:srgbClr val="FFF0D5"/>
          </a:solidFill>
          <a:ln w="14288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s14-n-3-title">
            <a:extLst>
              <a:ext uri="{FF2B5EF4-FFF2-40B4-BE49-F238E27FC236}">
                <a16:creationId xmlns:a16="http://schemas.microsoft.com/office/drawing/2014/main" id="{5C4FFF77-22AE-4A69-A1BF-A44883D45BAD}"/>
              </a:ext>
            </a:extLst>
          </p:cNvPr>
          <p:cNvSpPr>
            <a:spLocks noGrp="1"/>
          </p:cNvSpPr>
          <p:nvPr/>
        </p:nvSpPr>
        <p:spPr>
          <a:xfrm>
            <a:off x="7737401" y="3854358"/>
            <a:ext cx="2209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7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Human Approval</a:t>
            </a:r>
          </a:p>
        </p:txBody>
      </p:sp>
      <p:sp>
        <p:nvSpPr>
          <p:cNvPr id="23" name="s14-n-3-subtitle">
            <a:extLst>
              <a:ext uri="{FF2B5EF4-FFF2-40B4-BE49-F238E27FC236}">
                <a16:creationId xmlns:a16="http://schemas.microsoft.com/office/drawing/2014/main" id="{7C01F815-BDE0-48DC-8AB2-593FCD90DE9D}"/>
              </a:ext>
            </a:extLst>
          </p:cNvPr>
          <p:cNvSpPr>
            <a:spLocks noGrp="1"/>
          </p:cNvSpPr>
          <p:nvPr/>
        </p:nvSpPr>
        <p:spPr>
          <a:xfrm>
            <a:off x="7737401" y="4216308"/>
            <a:ext cx="2209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approve / reject</a:t>
            </a:r>
          </a:p>
        </p:txBody>
      </p:sp>
      <p:sp>
        <p:nvSpPr>
          <p:cNvPr id="24" name="s14-n-4-box">
            <a:extLst>
              <a:ext uri="{FF2B5EF4-FFF2-40B4-BE49-F238E27FC236}">
                <a16:creationId xmlns:a16="http://schemas.microsoft.com/office/drawing/2014/main" id="{E7E0921B-7334-4914-B07F-FFA28C94A685}"/>
              </a:ext>
            </a:extLst>
          </p:cNvPr>
          <p:cNvSpPr>
            <a:spLocks noGrp="1"/>
          </p:cNvSpPr>
          <p:nvPr/>
        </p:nvSpPr>
        <p:spPr>
          <a:xfrm>
            <a:off x="4575101" y="3736790"/>
            <a:ext cx="2476500" cy="1028700"/>
          </a:xfrm>
          <a:prstGeom prst="roundRect">
            <a:avLst>
              <a:gd name="adj" fmla="val 7407"/>
            </a:avLst>
          </a:prstGeom>
          <a:solidFill>
            <a:srgbClr val="DCEEFF"/>
          </a:solidFill>
          <a:ln w="14288">
            <a:solidFill>
              <a:srgbClr val="1677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s14-n-4-title">
            <a:extLst>
              <a:ext uri="{FF2B5EF4-FFF2-40B4-BE49-F238E27FC236}">
                <a16:creationId xmlns:a16="http://schemas.microsoft.com/office/drawing/2014/main" id="{F70345D3-B9B6-4521-97DF-8E1736280291}"/>
              </a:ext>
            </a:extLst>
          </p:cNvPr>
          <p:cNvSpPr>
            <a:spLocks noGrp="1"/>
          </p:cNvSpPr>
          <p:nvPr/>
        </p:nvSpPr>
        <p:spPr>
          <a:xfrm>
            <a:off x="4708451" y="3851090"/>
            <a:ext cx="2209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725" b="1">
                <a:solidFill>
                  <a:srgbClr val="1677D2"/>
                </a:solidFill>
                <a:latin typeface="Arial"/>
                <a:ea typeface="Arial"/>
                <a:cs typeface="Arial"/>
              </a:defRPr>
            </a:pPr>
            <a:r>
              <a:rPr sz="1725" b="1" dirty="0">
                <a:solidFill>
                  <a:srgbClr val="1677D2"/>
                </a:solidFill>
                <a:latin typeface="Arial"/>
                <a:ea typeface="Arial"/>
                <a:cs typeface="Arial"/>
              </a:rPr>
              <a:t>Minimum execution</a:t>
            </a:r>
          </a:p>
        </p:txBody>
      </p:sp>
      <p:sp>
        <p:nvSpPr>
          <p:cNvPr id="26" name="s14-n-4-subtitle">
            <a:extLst>
              <a:ext uri="{FF2B5EF4-FFF2-40B4-BE49-F238E27FC236}">
                <a16:creationId xmlns:a16="http://schemas.microsoft.com/office/drawing/2014/main" id="{29BB8609-3471-4179-8F0E-BA3A488627DC}"/>
              </a:ext>
            </a:extLst>
          </p:cNvPr>
          <p:cNvSpPr>
            <a:spLocks noGrp="1"/>
          </p:cNvSpPr>
          <p:nvPr/>
        </p:nvSpPr>
        <p:spPr>
          <a:xfrm>
            <a:off x="4708451" y="4213040"/>
            <a:ext cx="2209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只做核准範圍</a:t>
            </a:r>
          </a:p>
        </p:txBody>
      </p:sp>
      <p:sp>
        <p:nvSpPr>
          <p:cNvPr id="27" name="s14-n-5-box">
            <a:extLst>
              <a:ext uri="{FF2B5EF4-FFF2-40B4-BE49-F238E27FC236}">
                <a16:creationId xmlns:a16="http://schemas.microsoft.com/office/drawing/2014/main" id="{CBDA6A59-521F-4250-8430-F4F146DF1FC6}"/>
              </a:ext>
            </a:extLst>
          </p:cNvPr>
          <p:cNvSpPr>
            <a:spLocks noGrp="1"/>
          </p:cNvSpPr>
          <p:nvPr/>
        </p:nvSpPr>
        <p:spPr>
          <a:xfrm>
            <a:off x="1698551" y="3740058"/>
            <a:ext cx="2476500" cy="1028700"/>
          </a:xfrm>
          <a:prstGeom prst="roundRect">
            <a:avLst>
              <a:gd name="adj" fmla="val 7407"/>
            </a:avLst>
          </a:prstGeom>
          <a:solidFill>
            <a:srgbClr val="F1F4F7"/>
          </a:solidFill>
          <a:ln w="14288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s14-n-5-title">
            <a:extLst>
              <a:ext uri="{FF2B5EF4-FFF2-40B4-BE49-F238E27FC236}">
                <a16:creationId xmlns:a16="http://schemas.microsoft.com/office/drawing/2014/main" id="{3184C0E0-51CF-44B5-8900-3CC44AE82778}"/>
              </a:ext>
            </a:extLst>
          </p:cNvPr>
          <p:cNvSpPr>
            <a:spLocks noGrp="1"/>
          </p:cNvSpPr>
          <p:nvPr/>
        </p:nvSpPr>
        <p:spPr>
          <a:xfrm>
            <a:off x="1831901" y="3854358"/>
            <a:ext cx="2209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7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1" dirty="0">
                <a:solidFill>
                  <a:srgbClr val="0B1220"/>
                </a:solidFill>
                <a:latin typeface="Arial"/>
                <a:ea typeface="Arial"/>
                <a:cs typeface="Arial"/>
              </a:rPr>
              <a:t>Evidence review</a:t>
            </a:r>
          </a:p>
        </p:txBody>
      </p:sp>
      <p:sp>
        <p:nvSpPr>
          <p:cNvPr id="29" name="s14-n-5-subtitle">
            <a:extLst>
              <a:ext uri="{FF2B5EF4-FFF2-40B4-BE49-F238E27FC236}">
                <a16:creationId xmlns:a16="http://schemas.microsoft.com/office/drawing/2014/main" id="{C41D263D-A745-48E0-851A-FFA6EB50E1E6}"/>
              </a:ext>
            </a:extLst>
          </p:cNvPr>
          <p:cNvSpPr>
            <a:spLocks noGrp="1"/>
          </p:cNvSpPr>
          <p:nvPr/>
        </p:nvSpPr>
        <p:spPr>
          <a:xfrm>
            <a:off x="1831901" y="4216308"/>
            <a:ext cx="2209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形成新 checkpoint</a:t>
            </a:r>
          </a:p>
        </p:txBody>
      </p:sp>
      <p:sp>
        <p:nvSpPr>
          <p:cNvPr id="30" name="s14-gate-bg">
            <a:extLst>
              <a:ext uri="{FF2B5EF4-FFF2-40B4-BE49-F238E27FC236}">
                <a16:creationId xmlns:a16="http://schemas.microsoft.com/office/drawing/2014/main" id="{1644D05D-5921-435C-9178-CF85CEB02D02}"/>
              </a:ext>
            </a:extLst>
          </p:cNvPr>
          <p:cNvSpPr>
            <a:spLocks noGrp="1"/>
          </p:cNvSpPr>
          <p:nvPr/>
        </p:nvSpPr>
        <p:spPr>
          <a:xfrm>
            <a:off x="3618836" y="3242210"/>
            <a:ext cx="4457700" cy="419100"/>
          </a:xfrm>
          <a:prstGeom prst="roundRect">
            <a:avLst>
              <a:gd name="adj" fmla="val 18182"/>
            </a:avLst>
          </a:prstGeom>
          <a:solidFill>
            <a:srgbClr val="FFF0D5"/>
          </a:solidFill>
          <a:ln w="9525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31" name="s14-gate-text">
            <a:extLst>
              <a:ext uri="{FF2B5EF4-FFF2-40B4-BE49-F238E27FC236}">
                <a16:creationId xmlns:a16="http://schemas.microsoft.com/office/drawing/2014/main" id="{6308B0D4-2145-4939-8FC3-4A21F9F76C25}"/>
              </a:ext>
            </a:extLst>
          </p:cNvPr>
          <p:cNvSpPr>
            <a:spLocks noGrp="1"/>
          </p:cNvSpPr>
          <p:nvPr/>
        </p:nvSpPr>
        <p:spPr>
          <a:xfrm>
            <a:off x="3618836" y="3242210"/>
            <a:ext cx="4457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275" b="1" dirty="0">
                <a:solidFill>
                  <a:srgbClr val="D97706"/>
                </a:solidFill>
                <a:latin typeface="Arial"/>
                <a:ea typeface="Arial"/>
                <a:cs typeface="Arial"/>
              </a:rPr>
              <a:t>NEEDS_APPROVAL · </a:t>
            </a:r>
            <a:r>
              <a:rPr sz="1275" b="1" dirty="0" err="1">
                <a:solidFill>
                  <a:srgbClr val="D97706"/>
                </a:solidFill>
                <a:latin typeface="Arial"/>
                <a:ea typeface="Arial"/>
                <a:cs typeface="Arial"/>
              </a:rPr>
              <a:t>未核准前保持停止</a:t>
            </a:r>
            <a:endParaRPr sz="1275" b="1" dirty="0">
              <a:solidFill>
                <a:srgbClr val="D9770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s14-close">
            <a:extLst>
              <a:ext uri="{FF2B5EF4-FFF2-40B4-BE49-F238E27FC236}">
                <a16:creationId xmlns:a16="http://schemas.microsoft.com/office/drawing/2014/main" id="{7C611BA5-B569-4F38-AC10-EDD597FB2D6B}"/>
              </a:ext>
            </a:extLst>
          </p:cNvPr>
          <p:cNvSpPr>
            <a:spLocks noGrp="1"/>
          </p:cNvSpPr>
          <p:nvPr/>
        </p:nvSpPr>
        <p:spPr>
          <a:xfrm>
            <a:off x="2838450" y="5943600"/>
            <a:ext cx="6515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8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先定義成功、證據與停止條件，再決定是否執行。</a:t>
            </a:r>
          </a:p>
        </p:txBody>
      </p:sp>
    </p:spTree>
    <p:extLst>
      <p:ext uri="{BB962C8B-B14F-4D97-AF65-F5344CB8AC3E}">
        <p14:creationId xmlns:p14="http://schemas.microsoft.com/office/powerpoint/2010/main" val="17998179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kicker-15">
            <a:extLst>
              <a:ext uri="{FF2B5EF4-FFF2-40B4-BE49-F238E27FC236}">
                <a16:creationId xmlns:a16="http://schemas.microsoft.com/office/drawing/2014/main" id="{9BD8CDA6-A85F-4A70-871B-49E2E8DF105F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APPENDIX A1</a:t>
            </a:r>
          </a:p>
        </p:txBody>
      </p:sp>
      <p:sp>
        <p:nvSpPr>
          <p:cNvPr id="2" name="title-15">
            <a:extLst>
              <a:ext uri="{FF2B5EF4-FFF2-40B4-BE49-F238E27FC236}">
                <a16:creationId xmlns:a16="http://schemas.microsoft.com/office/drawing/2014/main" id="{278F5ECA-668B-40D7-8179-8BBA1FD3C283}"/>
              </a:ext>
            </a:extLst>
          </p:cNvPr>
          <p:cNvSpPr>
            <a:spLocks noGrp="1"/>
          </p:cNvSpPr>
          <p:nvPr/>
        </p:nvSpPr>
        <p:spPr>
          <a:xfrm>
            <a:off x="457200" y="533400"/>
            <a:ext cx="112776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34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Evidence map：每個 claim 都有權威層級與限制</a:t>
            </a:r>
          </a:p>
        </p:txBody>
      </p:sp>
      <p:sp>
        <p:nvSpPr>
          <p:cNvPr id="3" name="header-rule-15">
            <a:extLst>
              <a:ext uri="{FF2B5EF4-FFF2-40B4-BE49-F238E27FC236}">
                <a16:creationId xmlns:a16="http://schemas.microsoft.com/office/drawing/2014/main" id="{A4C9BE76-27F1-43E0-823B-EBB5CC3D1AD1}"/>
              </a:ext>
            </a:extLst>
          </p:cNvPr>
          <p:cNvSpPr>
            <a:spLocks noGrp="1"/>
          </p:cNvSpPr>
          <p:nvPr/>
        </p:nvSpPr>
        <p:spPr>
          <a:xfrm>
            <a:off x="457200" y="1200150"/>
            <a:ext cx="11277600" cy="1905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footer-label-15">
            <a:extLst>
              <a:ext uri="{FF2B5EF4-FFF2-40B4-BE49-F238E27FC236}">
                <a16:creationId xmlns:a16="http://schemas.microsoft.com/office/drawing/2014/main" id="{425F2969-BF59-4359-B91E-1C7A5E2E1460}"/>
              </a:ext>
            </a:extLst>
          </p:cNvPr>
          <p:cNvSpPr>
            <a:spLocks noGrp="1"/>
          </p:cNvSpPr>
          <p:nvPr/>
        </p:nvSpPr>
        <p:spPr>
          <a:xfrm>
            <a:off x="457200" y="6391275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endParaRPr/>
          </a:p>
        </p:txBody>
      </p:sp>
      <p:sp>
        <p:nvSpPr>
          <p:cNvPr id="5" name="footer-num-15">
            <a:extLst>
              <a:ext uri="{FF2B5EF4-FFF2-40B4-BE49-F238E27FC236}">
                <a16:creationId xmlns:a16="http://schemas.microsoft.com/office/drawing/2014/main" id="{69DB5BD7-27F8-49A1-A600-447FD33A65F4}"/>
              </a:ext>
            </a:extLst>
          </p:cNvPr>
          <p:cNvSpPr>
            <a:spLocks noGrp="1"/>
          </p:cNvSpPr>
          <p:nvPr/>
        </p:nvSpPr>
        <p:spPr>
          <a:xfrm>
            <a:off x="11163300" y="6372225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05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6" name="a15-l-0">
            <a:extLst>
              <a:ext uri="{FF2B5EF4-FFF2-40B4-BE49-F238E27FC236}">
                <a16:creationId xmlns:a16="http://schemas.microsoft.com/office/drawing/2014/main" id="{DF498C15-FB89-4745-A4E1-C6E22907790C}"/>
              </a:ext>
            </a:extLst>
          </p:cNvPr>
          <p:cNvSpPr>
            <a:spLocks noGrp="1"/>
          </p:cNvSpPr>
          <p:nvPr/>
        </p:nvSpPr>
        <p:spPr>
          <a:xfrm>
            <a:off x="514350" y="1657350"/>
            <a:ext cx="4514850" cy="590550"/>
          </a:xfrm>
          <a:prstGeom prst="rect">
            <a:avLst/>
          </a:prstGeom>
          <a:solidFill>
            <a:srgbClr val="DCEEFF"/>
          </a:solidFill>
          <a:ln w="9525">
            <a:solidFill>
              <a:srgbClr val="1677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a15-lt-0">
            <a:extLst>
              <a:ext uri="{FF2B5EF4-FFF2-40B4-BE49-F238E27FC236}">
                <a16:creationId xmlns:a16="http://schemas.microsoft.com/office/drawing/2014/main" id="{4C0CF74E-F84D-4367-810D-0ECC624D5A0E}"/>
              </a:ext>
            </a:extLst>
          </p:cNvPr>
          <p:cNvSpPr>
            <a:spLocks noGrp="1"/>
          </p:cNvSpPr>
          <p:nvPr/>
        </p:nvSpPr>
        <p:spPr>
          <a:xfrm>
            <a:off x="666750" y="1800225"/>
            <a:ext cx="4210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425" b="1">
                <a:solidFill>
                  <a:srgbClr val="1677D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77D2"/>
                </a:solidFill>
                <a:latin typeface="Arial"/>
                <a:ea typeface="Arial"/>
                <a:cs typeface="Arial"/>
              </a:rPr>
              <a:t>E11 · approved corrections</a:t>
            </a:r>
          </a:p>
        </p:txBody>
      </p:sp>
      <p:sp>
        <p:nvSpPr>
          <p:cNvPr id="8" name="a15-l-1">
            <a:extLst>
              <a:ext uri="{FF2B5EF4-FFF2-40B4-BE49-F238E27FC236}">
                <a16:creationId xmlns:a16="http://schemas.microsoft.com/office/drawing/2014/main" id="{D6BC1C77-BC70-4B77-99B0-15A4397E5151}"/>
              </a:ext>
            </a:extLst>
          </p:cNvPr>
          <p:cNvSpPr>
            <a:spLocks noGrp="1"/>
          </p:cNvSpPr>
          <p:nvPr/>
        </p:nvSpPr>
        <p:spPr>
          <a:xfrm>
            <a:off x="685800" y="2495550"/>
            <a:ext cx="4171950" cy="590550"/>
          </a:xfrm>
          <a:prstGeom prst="rect">
            <a:avLst/>
          </a:prstGeom>
          <a:solidFill>
            <a:srgbClr val="DCEEFF"/>
          </a:solidFill>
          <a:ln w="9525">
            <a:solidFill>
              <a:srgbClr val="1677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a15-lt-1">
            <a:extLst>
              <a:ext uri="{FF2B5EF4-FFF2-40B4-BE49-F238E27FC236}">
                <a16:creationId xmlns:a16="http://schemas.microsoft.com/office/drawing/2014/main" id="{9968635F-F994-4734-BEC6-374E442927C0}"/>
              </a:ext>
            </a:extLst>
          </p:cNvPr>
          <p:cNvSpPr>
            <a:spLocks noGrp="1"/>
          </p:cNvSpPr>
          <p:nvPr/>
        </p:nvSpPr>
        <p:spPr>
          <a:xfrm>
            <a:off x="838200" y="2638425"/>
            <a:ext cx="3867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425" b="1">
                <a:solidFill>
                  <a:srgbClr val="1677D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77D2"/>
                </a:solidFill>
                <a:latin typeface="Arial"/>
                <a:ea typeface="Arial"/>
                <a:cs typeface="Arial"/>
              </a:rPr>
              <a:t>E02 · Phase 4C checkpoint</a:t>
            </a:r>
          </a:p>
        </p:txBody>
      </p:sp>
      <p:sp>
        <p:nvSpPr>
          <p:cNvPr id="10" name="a15-l-2">
            <a:extLst>
              <a:ext uri="{FF2B5EF4-FFF2-40B4-BE49-F238E27FC236}">
                <a16:creationId xmlns:a16="http://schemas.microsoft.com/office/drawing/2014/main" id="{52EFA0F1-C430-4686-8CE8-A908EF67B996}"/>
              </a:ext>
            </a:extLst>
          </p:cNvPr>
          <p:cNvSpPr>
            <a:spLocks noGrp="1"/>
          </p:cNvSpPr>
          <p:nvPr/>
        </p:nvSpPr>
        <p:spPr>
          <a:xfrm>
            <a:off x="857250" y="3333750"/>
            <a:ext cx="3829050" cy="590550"/>
          </a:xfrm>
          <a:prstGeom prst="rect">
            <a:avLst/>
          </a:prstGeom>
          <a:solidFill>
            <a:srgbClr val="F1F4F7"/>
          </a:solidFill>
          <a:ln w="9525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a15-lt-2">
            <a:extLst>
              <a:ext uri="{FF2B5EF4-FFF2-40B4-BE49-F238E27FC236}">
                <a16:creationId xmlns:a16="http://schemas.microsoft.com/office/drawing/2014/main" id="{73DC647F-D15A-418A-8D66-11FC0A999116}"/>
              </a:ext>
            </a:extLst>
          </p:cNvPr>
          <p:cNvSpPr>
            <a:spLocks noGrp="1"/>
          </p:cNvSpPr>
          <p:nvPr/>
        </p:nvSpPr>
        <p:spPr>
          <a:xfrm>
            <a:off x="1009650" y="3476625"/>
            <a:ext cx="3524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4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E03–E06 · governance / skill</a:t>
            </a:r>
          </a:p>
        </p:txBody>
      </p:sp>
      <p:sp>
        <p:nvSpPr>
          <p:cNvPr id="12" name="a15-l-3">
            <a:extLst>
              <a:ext uri="{FF2B5EF4-FFF2-40B4-BE49-F238E27FC236}">
                <a16:creationId xmlns:a16="http://schemas.microsoft.com/office/drawing/2014/main" id="{9514B08F-A87E-4FA9-951B-7E5B8288D4F4}"/>
              </a:ext>
            </a:extLst>
          </p:cNvPr>
          <p:cNvSpPr>
            <a:spLocks noGrp="1"/>
          </p:cNvSpPr>
          <p:nvPr/>
        </p:nvSpPr>
        <p:spPr>
          <a:xfrm>
            <a:off x="1028700" y="4171950"/>
            <a:ext cx="3486150" cy="590550"/>
          </a:xfrm>
          <a:prstGeom prst="rect">
            <a:avLst/>
          </a:prstGeom>
          <a:solidFill>
            <a:srgbClr val="F1F4F7"/>
          </a:solidFill>
          <a:ln w="9525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a15-lt-3">
            <a:extLst>
              <a:ext uri="{FF2B5EF4-FFF2-40B4-BE49-F238E27FC236}">
                <a16:creationId xmlns:a16="http://schemas.microsoft.com/office/drawing/2014/main" id="{6C36E6C5-9751-43A3-8E28-C4E4A9853F76}"/>
              </a:ext>
            </a:extLst>
          </p:cNvPr>
          <p:cNvSpPr>
            <a:spLocks noGrp="1"/>
          </p:cNvSpPr>
          <p:nvPr/>
        </p:nvSpPr>
        <p:spPr>
          <a:xfrm>
            <a:off x="1181100" y="4314825"/>
            <a:ext cx="3181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4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E04 / E10 · audit / historical reference</a:t>
            </a:r>
          </a:p>
        </p:txBody>
      </p:sp>
      <p:sp>
        <p:nvSpPr>
          <p:cNvPr id="14" name="a15-c-0-box">
            <a:extLst>
              <a:ext uri="{FF2B5EF4-FFF2-40B4-BE49-F238E27FC236}">
                <a16:creationId xmlns:a16="http://schemas.microsoft.com/office/drawing/2014/main" id="{ED9D55D2-443B-40C0-A5F4-C7E4F77EF6DF}"/>
              </a:ext>
            </a:extLst>
          </p:cNvPr>
          <p:cNvSpPr>
            <a:spLocks noGrp="1"/>
          </p:cNvSpPr>
          <p:nvPr/>
        </p:nvSpPr>
        <p:spPr>
          <a:xfrm>
            <a:off x="5886450" y="1524000"/>
            <a:ext cx="2686050" cy="1143000"/>
          </a:xfrm>
          <a:prstGeom prst="roundRect">
            <a:avLst>
              <a:gd name="adj" fmla="val 6667"/>
            </a:avLst>
          </a:prstGeom>
          <a:solidFill>
            <a:srgbClr val="F1F4F7"/>
          </a:solidFill>
          <a:ln w="14288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a15-c-0-title">
            <a:extLst>
              <a:ext uri="{FF2B5EF4-FFF2-40B4-BE49-F238E27FC236}">
                <a16:creationId xmlns:a16="http://schemas.microsoft.com/office/drawing/2014/main" id="{370024CA-99CC-4B31-8799-F1C4760B3230}"/>
              </a:ext>
            </a:extLst>
          </p:cNvPr>
          <p:cNvSpPr>
            <a:spLocks noGrp="1"/>
          </p:cNvSpPr>
          <p:nvPr/>
        </p:nvSpPr>
        <p:spPr>
          <a:xfrm>
            <a:off x="6019800" y="1638300"/>
            <a:ext cx="2419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Architecture</a:t>
            </a:r>
          </a:p>
        </p:txBody>
      </p:sp>
      <p:sp>
        <p:nvSpPr>
          <p:cNvPr id="16" name="a15-c-0-subtitle">
            <a:extLst>
              <a:ext uri="{FF2B5EF4-FFF2-40B4-BE49-F238E27FC236}">
                <a16:creationId xmlns:a16="http://schemas.microsoft.com/office/drawing/2014/main" id="{EB095EBA-660B-4ED9-ABC1-E863751B869A}"/>
              </a:ext>
            </a:extLst>
          </p:cNvPr>
          <p:cNvSpPr>
            <a:spLocks noGrp="1"/>
          </p:cNvSpPr>
          <p:nvPr/>
        </p:nvSpPr>
        <p:spPr>
          <a:xfrm>
            <a:off x="6019800" y="2000250"/>
            <a:ext cx="24193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C02 · C05 · C06</a:t>
            </a:r>
          </a:p>
          <a:p>
            <a:pPr algn="l">
              <a:lnSpc>
                <a:spcPct val="105000"/>
              </a:lnSpc>
              <a:buNone/>
              <a:defRPr sz="12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host roles / planes / topology</a:t>
            </a:r>
          </a:p>
        </p:txBody>
      </p:sp>
      <p:sp>
        <p:nvSpPr>
          <p:cNvPr id="17" name="a15-c-1-box">
            <a:extLst>
              <a:ext uri="{FF2B5EF4-FFF2-40B4-BE49-F238E27FC236}">
                <a16:creationId xmlns:a16="http://schemas.microsoft.com/office/drawing/2014/main" id="{C5958804-09B6-42E4-A25F-6429320D7ABA}"/>
              </a:ext>
            </a:extLst>
          </p:cNvPr>
          <p:cNvSpPr>
            <a:spLocks noGrp="1"/>
          </p:cNvSpPr>
          <p:nvPr/>
        </p:nvSpPr>
        <p:spPr>
          <a:xfrm>
            <a:off x="8801100" y="1524000"/>
            <a:ext cx="2686050" cy="1143000"/>
          </a:xfrm>
          <a:prstGeom prst="roundRect">
            <a:avLst>
              <a:gd name="adj" fmla="val 6667"/>
            </a:avLst>
          </a:prstGeom>
          <a:solidFill>
            <a:srgbClr val="F1F4F7"/>
          </a:solidFill>
          <a:ln w="14288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a15-c-1-title">
            <a:extLst>
              <a:ext uri="{FF2B5EF4-FFF2-40B4-BE49-F238E27FC236}">
                <a16:creationId xmlns:a16="http://schemas.microsoft.com/office/drawing/2014/main" id="{468E23A7-920C-47B6-94E4-813839E860FB}"/>
              </a:ext>
            </a:extLst>
          </p:cNvPr>
          <p:cNvSpPr>
            <a:spLocks noGrp="1"/>
          </p:cNvSpPr>
          <p:nvPr/>
        </p:nvSpPr>
        <p:spPr>
          <a:xfrm>
            <a:off x="8934450" y="1638300"/>
            <a:ext cx="2419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Recovery</a:t>
            </a:r>
          </a:p>
        </p:txBody>
      </p:sp>
      <p:sp>
        <p:nvSpPr>
          <p:cNvPr id="19" name="a15-c-1-subtitle">
            <a:extLst>
              <a:ext uri="{FF2B5EF4-FFF2-40B4-BE49-F238E27FC236}">
                <a16:creationId xmlns:a16="http://schemas.microsoft.com/office/drawing/2014/main" id="{6D7A3304-554F-4F4C-9376-C412D2FDA0BA}"/>
              </a:ext>
            </a:extLst>
          </p:cNvPr>
          <p:cNvSpPr>
            <a:spLocks noGrp="1"/>
          </p:cNvSpPr>
          <p:nvPr/>
        </p:nvSpPr>
        <p:spPr>
          <a:xfrm>
            <a:off x="8934450" y="2000250"/>
            <a:ext cx="24193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C07–C12</a:t>
            </a:r>
          </a:p>
          <a:p>
            <a:pPr algn="l">
              <a:lnSpc>
                <a:spcPct val="105000"/>
              </a:lnSpc>
              <a:buNone/>
              <a:defRPr sz="12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pipeline / gates / lifecycle</a:t>
            </a:r>
          </a:p>
        </p:txBody>
      </p:sp>
      <p:sp>
        <p:nvSpPr>
          <p:cNvPr id="20" name="a15-c-2-box">
            <a:extLst>
              <a:ext uri="{FF2B5EF4-FFF2-40B4-BE49-F238E27FC236}">
                <a16:creationId xmlns:a16="http://schemas.microsoft.com/office/drawing/2014/main" id="{F2A67553-D65E-48A5-838D-DF40BE387348}"/>
              </a:ext>
            </a:extLst>
          </p:cNvPr>
          <p:cNvSpPr>
            <a:spLocks noGrp="1"/>
          </p:cNvSpPr>
          <p:nvPr/>
        </p:nvSpPr>
        <p:spPr>
          <a:xfrm>
            <a:off x="5886450" y="2914650"/>
            <a:ext cx="2686050" cy="1143000"/>
          </a:xfrm>
          <a:prstGeom prst="roundRect">
            <a:avLst>
              <a:gd name="adj" fmla="val 6667"/>
            </a:avLst>
          </a:prstGeom>
          <a:solidFill>
            <a:srgbClr val="F1F4F7"/>
          </a:solidFill>
          <a:ln w="14288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a15-c-2-title">
            <a:extLst>
              <a:ext uri="{FF2B5EF4-FFF2-40B4-BE49-F238E27FC236}">
                <a16:creationId xmlns:a16="http://schemas.microsoft.com/office/drawing/2014/main" id="{6B3FFC6F-23B9-4DA8-9680-5A3577F37011}"/>
              </a:ext>
            </a:extLst>
          </p:cNvPr>
          <p:cNvSpPr>
            <a:spLocks noGrp="1"/>
          </p:cNvSpPr>
          <p:nvPr/>
        </p:nvSpPr>
        <p:spPr>
          <a:xfrm>
            <a:off x="6019800" y="3028950"/>
            <a:ext cx="2419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Validation</a:t>
            </a:r>
          </a:p>
        </p:txBody>
      </p:sp>
      <p:sp>
        <p:nvSpPr>
          <p:cNvPr id="22" name="a15-c-2-subtitle">
            <a:extLst>
              <a:ext uri="{FF2B5EF4-FFF2-40B4-BE49-F238E27FC236}">
                <a16:creationId xmlns:a16="http://schemas.microsoft.com/office/drawing/2014/main" id="{99473A6A-DD9E-417F-A78E-870163580713}"/>
              </a:ext>
            </a:extLst>
          </p:cNvPr>
          <p:cNvSpPr>
            <a:spLocks noGrp="1"/>
          </p:cNvSpPr>
          <p:nvPr/>
        </p:nvSpPr>
        <p:spPr>
          <a:xfrm>
            <a:off x="6019800" y="3390900"/>
            <a:ext cx="24193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C13–C16</a:t>
            </a:r>
          </a:p>
          <a:p>
            <a:pPr algn="l">
              <a:lnSpc>
                <a:spcPct val="105000"/>
              </a:lnSpc>
              <a:buNone/>
              <a:defRPr sz="12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Attach / ICMP / RTT boundary</a:t>
            </a:r>
          </a:p>
        </p:txBody>
      </p:sp>
      <p:sp>
        <p:nvSpPr>
          <p:cNvPr id="23" name="a15-c-3-box">
            <a:extLst>
              <a:ext uri="{FF2B5EF4-FFF2-40B4-BE49-F238E27FC236}">
                <a16:creationId xmlns:a16="http://schemas.microsoft.com/office/drawing/2014/main" id="{F28B918F-3B90-43C5-8AC9-72C5F13A1660}"/>
              </a:ext>
            </a:extLst>
          </p:cNvPr>
          <p:cNvSpPr>
            <a:spLocks noGrp="1"/>
          </p:cNvSpPr>
          <p:nvPr/>
        </p:nvSpPr>
        <p:spPr>
          <a:xfrm>
            <a:off x="8801100" y="2914650"/>
            <a:ext cx="2686050" cy="1143000"/>
          </a:xfrm>
          <a:prstGeom prst="roundRect">
            <a:avLst>
              <a:gd name="adj" fmla="val 6667"/>
            </a:avLst>
          </a:prstGeom>
          <a:solidFill>
            <a:srgbClr val="F1F4F7"/>
          </a:solidFill>
          <a:ln w="14288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a15-c-3-title">
            <a:extLst>
              <a:ext uri="{FF2B5EF4-FFF2-40B4-BE49-F238E27FC236}">
                <a16:creationId xmlns:a16="http://schemas.microsoft.com/office/drawing/2014/main" id="{627A5A0F-4230-4A0F-8841-7DC2104627B4}"/>
              </a:ext>
            </a:extLst>
          </p:cNvPr>
          <p:cNvSpPr>
            <a:spLocks noGrp="1"/>
          </p:cNvSpPr>
          <p:nvPr/>
        </p:nvSpPr>
        <p:spPr>
          <a:xfrm>
            <a:off x="8934450" y="3028950"/>
            <a:ext cx="2419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Governance</a:t>
            </a:r>
          </a:p>
        </p:txBody>
      </p:sp>
      <p:sp>
        <p:nvSpPr>
          <p:cNvPr id="25" name="a15-c-3-subtitle">
            <a:extLst>
              <a:ext uri="{FF2B5EF4-FFF2-40B4-BE49-F238E27FC236}">
                <a16:creationId xmlns:a16="http://schemas.microsoft.com/office/drawing/2014/main" id="{F74C1119-8E79-459F-87FF-4FFC053971FF}"/>
              </a:ext>
            </a:extLst>
          </p:cNvPr>
          <p:cNvSpPr>
            <a:spLocks noGrp="1"/>
          </p:cNvSpPr>
          <p:nvPr/>
        </p:nvSpPr>
        <p:spPr>
          <a:xfrm>
            <a:off x="8934450" y="3390900"/>
            <a:ext cx="24193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C20 · C21 · C25 · C26</a:t>
            </a:r>
          </a:p>
          <a:p>
            <a:pPr algn="l">
              <a:lnSpc>
                <a:spcPct val="105000"/>
              </a:lnSpc>
              <a:buNone/>
              <a:defRPr sz="12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Human / Agent / PR / next gate</a:t>
            </a:r>
          </a:p>
        </p:txBody>
      </p:sp>
      <p:sp>
        <p:nvSpPr>
          <p:cNvPr id="26" name="a15-c-4-box">
            <a:extLst>
              <a:ext uri="{FF2B5EF4-FFF2-40B4-BE49-F238E27FC236}">
                <a16:creationId xmlns:a16="http://schemas.microsoft.com/office/drawing/2014/main" id="{BB759901-77A5-4734-8AAE-BC90B483B9E5}"/>
              </a:ext>
            </a:extLst>
          </p:cNvPr>
          <p:cNvSpPr>
            <a:spLocks noGrp="1"/>
          </p:cNvSpPr>
          <p:nvPr/>
        </p:nvSpPr>
        <p:spPr>
          <a:xfrm>
            <a:off x="5886450" y="4305300"/>
            <a:ext cx="5829300" cy="1143000"/>
          </a:xfrm>
          <a:prstGeom prst="roundRect">
            <a:avLst>
              <a:gd name="adj" fmla="val 6667"/>
            </a:avLst>
          </a:prstGeom>
          <a:solidFill>
            <a:srgbClr val="ECEFF2"/>
          </a:solidFill>
          <a:ln w="14288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a15-c-4-title">
            <a:extLst>
              <a:ext uri="{FF2B5EF4-FFF2-40B4-BE49-F238E27FC236}">
                <a16:creationId xmlns:a16="http://schemas.microsoft.com/office/drawing/2014/main" id="{9B83F591-E2D7-4A2B-BA95-E08116D5EFF4}"/>
              </a:ext>
            </a:extLst>
          </p:cNvPr>
          <p:cNvSpPr>
            <a:spLocks noGrp="1"/>
          </p:cNvSpPr>
          <p:nvPr/>
        </p:nvSpPr>
        <p:spPr>
          <a:xfrm>
            <a:off x="6019800" y="4419600"/>
            <a:ext cx="5562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B7280"/>
                </a:solidFill>
                <a:latin typeface="Arial"/>
                <a:ea typeface="Arial"/>
                <a:cs typeface="Arial"/>
              </a:rPr>
              <a:t>Not completed</a:t>
            </a:r>
          </a:p>
        </p:txBody>
      </p:sp>
      <p:sp>
        <p:nvSpPr>
          <p:cNvPr id="28" name="a15-c-4-subtitle">
            <a:extLst>
              <a:ext uri="{FF2B5EF4-FFF2-40B4-BE49-F238E27FC236}">
                <a16:creationId xmlns:a16="http://schemas.microsoft.com/office/drawing/2014/main" id="{160444F9-544C-4CF7-9D3E-E856D304B377}"/>
              </a:ext>
            </a:extLst>
          </p:cNvPr>
          <p:cNvSpPr>
            <a:spLocks noGrp="1"/>
          </p:cNvSpPr>
          <p:nvPr/>
        </p:nvSpPr>
        <p:spPr>
          <a:xfrm>
            <a:off x="6019800" y="4781550"/>
            <a:ext cx="55626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C22–C24</a:t>
            </a:r>
          </a:p>
          <a:p>
            <a:pPr algn="l">
              <a:lnSpc>
                <a:spcPct val="105000"/>
              </a:lnSpc>
              <a:buNone/>
              <a:defRPr sz="12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explicit negative scope</a:t>
            </a:r>
          </a:p>
        </p:txBody>
      </p:sp>
      <p:sp>
        <p:nvSpPr>
          <p:cNvPr id="29" name="a15-rule-bg">
            <a:extLst>
              <a:ext uri="{FF2B5EF4-FFF2-40B4-BE49-F238E27FC236}">
                <a16:creationId xmlns:a16="http://schemas.microsoft.com/office/drawing/2014/main" id="{056B1A72-CAB4-4E45-954A-AFBC4FFB0FB5}"/>
              </a:ext>
            </a:extLst>
          </p:cNvPr>
          <p:cNvSpPr>
            <a:spLocks noGrp="1"/>
          </p:cNvSpPr>
          <p:nvPr/>
        </p:nvSpPr>
        <p:spPr>
          <a:xfrm>
            <a:off x="5429250" y="5905500"/>
            <a:ext cx="6000750" cy="361950"/>
          </a:xfrm>
          <a:prstGeom prst="roundRect">
            <a:avLst>
              <a:gd name="adj" fmla="val 21053"/>
            </a:avLst>
          </a:prstGeom>
          <a:solidFill>
            <a:srgbClr val="FFF0D5"/>
          </a:solidFill>
          <a:ln w="9525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a15-rule-text">
            <a:extLst>
              <a:ext uri="{FF2B5EF4-FFF2-40B4-BE49-F238E27FC236}">
                <a16:creationId xmlns:a16="http://schemas.microsoft.com/office/drawing/2014/main" id="{700E97A9-AA85-48E3-BC72-24D32024DC6C}"/>
              </a:ext>
            </a:extLst>
          </p:cNvPr>
          <p:cNvSpPr>
            <a:spLocks noGrp="1"/>
          </p:cNvSpPr>
          <p:nvPr/>
        </p:nvSpPr>
        <p:spPr>
          <a:xfrm>
            <a:off x="5429250" y="5905500"/>
            <a:ext cx="6000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ctr">
            <a:normAutofit fontScale="91568"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Higher authority overrides stale labels · absence remains UNKNOWN / NOT TESTED</a:t>
            </a:r>
          </a:p>
        </p:txBody>
      </p:sp>
    </p:spTree>
    <p:extLst>
      <p:ext uri="{BB962C8B-B14F-4D97-AF65-F5344CB8AC3E}">
        <p14:creationId xmlns:p14="http://schemas.microsoft.com/office/powerpoint/2010/main" val="12941195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kicker-16">
            <a:extLst>
              <a:ext uri="{FF2B5EF4-FFF2-40B4-BE49-F238E27FC236}">
                <a16:creationId xmlns:a16="http://schemas.microsoft.com/office/drawing/2014/main" id="{F5B0D2F3-3761-467D-AE44-6E31BD6DB403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APPENDIX A2</a:t>
            </a:r>
          </a:p>
        </p:txBody>
      </p:sp>
      <p:sp>
        <p:nvSpPr>
          <p:cNvPr id="2" name="title-16">
            <a:extLst>
              <a:ext uri="{FF2B5EF4-FFF2-40B4-BE49-F238E27FC236}">
                <a16:creationId xmlns:a16="http://schemas.microsoft.com/office/drawing/2014/main" id="{6BC94002-4D33-468D-920D-AAA6162F75BB}"/>
              </a:ext>
            </a:extLst>
          </p:cNvPr>
          <p:cNvSpPr>
            <a:spLocks noGrp="1"/>
          </p:cNvSpPr>
          <p:nvPr/>
        </p:nvSpPr>
        <p:spPr>
          <a:xfrm>
            <a:off x="457200" y="533400"/>
            <a:ext cx="112776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34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Git recovery decision tree：先保存、再判讀 history</a:t>
            </a:r>
          </a:p>
        </p:txBody>
      </p:sp>
      <p:sp>
        <p:nvSpPr>
          <p:cNvPr id="3" name="header-rule-16">
            <a:extLst>
              <a:ext uri="{FF2B5EF4-FFF2-40B4-BE49-F238E27FC236}">
                <a16:creationId xmlns:a16="http://schemas.microsoft.com/office/drawing/2014/main" id="{55C4F61A-0372-4DB2-A9CE-C6636582EC18}"/>
              </a:ext>
            </a:extLst>
          </p:cNvPr>
          <p:cNvSpPr>
            <a:spLocks noGrp="1"/>
          </p:cNvSpPr>
          <p:nvPr/>
        </p:nvSpPr>
        <p:spPr>
          <a:xfrm>
            <a:off x="457200" y="1200150"/>
            <a:ext cx="11277600" cy="1905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footer-label-16">
            <a:extLst>
              <a:ext uri="{FF2B5EF4-FFF2-40B4-BE49-F238E27FC236}">
                <a16:creationId xmlns:a16="http://schemas.microsoft.com/office/drawing/2014/main" id="{38C4C8D5-A372-437F-ADE1-DA1046D9E05D}"/>
              </a:ext>
            </a:extLst>
          </p:cNvPr>
          <p:cNvSpPr>
            <a:spLocks noGrp="1"/>
          </p:cNvSpPr>
          <p:nvPr/>
        </p:nvSpPr>
        <p:spPr>
          <a:xfrm>
            <a:off x="457200" y="6391275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endParaRPr/>
          </a:p>
        </p:txBody>
      </p:sp>
      <p:sp>
        <p:nvSpPr>
          <p:cNvPr id="5" name="footer-num-16">
            <a:extLst>
              <a:ext uri="{FF2B5EF4-FFF2-40B4-BE49-F238E27FC236}">
                <a16:creationId xmlns:a16="http://schemas.microsoft.com/office/drawing/2014/main" id="{7247279A-F737-433A-859C-C53D92F8E99A}"/>
              </a:ext>
            </a:extLst>
          </p:cNvPr>
          <p:cNvSpPr>
            <a:spLocks noGrp="1"/>
          </p:cNvSpPr>
          <p:nvPr/>
        </p:nvSpPr>
        <p:spPr>
          <a:xfrm>
            <a:off x="11163300" y="6372225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05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6" name="a16-start-box">
            <a:extLst>
              <a:ext uri="{FF2B5EF4-FFF2-40B4-BE49-F238E27FC236}">
                <a16:creationId xmlns:a16="http://schemas.microsoft.com/office/drawing/2014/main" id="{103110EA-5379-4EEC-BDFA-B3D9F0F8BE29}"/>
              </a:ext>
            </a:extLst>
          </p:cNvPr>
          <p:cNvSpPr>
            <a:spLocks noGrp="1"/>
          </p:cNvSpPr>
          <p:nvPr/>
        </p:nvSpPr>
        <p:spPr>
          <a:xfrm>
            <a:off x="457200" y="1619250"/>
            <a:ext cx="2857500" cy="952500"/>
          </a:xfrm>
          <a:prstGeom prst="roundRect">
            <a:avLst>
              <a:gd name="adj" fmla="val 8000"/>
            </a:avLst>
          </a:prstGeom>
          <a:solidFill>
            <a:srgbClr val="FFF0D5"/>
          </a:solidFill>
          <a:ln w="14288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a16-start-title">
            <a:extLst>
              <a:ext uri="{FF2B5EF4-FFF2-40B4-BE49-F238E27FC236}">
                <a16:creationId xmlns:a16="http://schemas.microsoft.com/office/drawing/2014/main" id="{5EDEE292-8C4D-4FA0-A29E-E236DE9659F8}"/>
              </a:ext>
            </a:extLst>
          </p:cNvPr>
          <p:cNvSpPr>
            <a:spLocks noGrp="1"/>
          </p:cNvSpPr>
          <p:nvPr/>
        </p:nvSpPr>
        <p:spPr>
          <a:xfrm>
            <a:off x="590550" y="1733550"/>
            <a:ext cx="2590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87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pull --ff-only failed</a:t>
            </a:r>
          </a:p>
        </p:txBody>
      </p:sp>
      <p:sp>
        <p:nvSpPr>
          <p:cNvPr id="8" name="a16-start-subtitle">
            <a:extLst>
              <a:ext uri="{FF2B5EF4-FFF2-40B4-BE49-F238E27FC236}">
                <a16:creationId xmlns:a16="http://schemas.microsoft.com/office/drawing/2014/main" id="{53B2BE29-33B6-41D1-89FC-D89586A43134}"/>
              </a:ext>
            </a:extLst>
          </p:cNvPr>
          <p:cNvSpPr>
            <a:spLocks noGrp="1"/>
          </p:cNvSpPr>
          <p:nvPr/>
        </p:nvSpPr>
        <p:spPr>
          <a:xfrm>
            <a:off x="590550" y="2095500"/>
            <a:ext cx="2590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安全訊號，不等於 repository 壞掉</a:t>
            </a:r>
          </a:p>
        </p:txBody>
      </p:sp>
      <p:sp>
        <p:nvSpPr>
          <p:cNvPr id="9" name="a16-a0">
            <a:extLst>
              <a:ext uri="{FF2B5EF4-FFF2-40B4-BE49-F238E27FC236}">
                <a16:creationId xmlns:a16="http://schemas.microsoft.com/office/drawing/2014/main" id="{6638A559-E18B-4687-91AC-AD13B37654F2}"/>
              </a:ext>
            </a:extLst>
          </p:cNvPr>
          <p:cNvSpPr>
            <a:spLocks noGrp="1"/>
          </p:cNvSpPr>
          <p:nvPr/>
        </p:nvSpPr>
        <p:spPr>
          <a:xfrm>
            <a:off x="3314700" y="1981200"/>
            <a:ext cx="666750" cy="228600"/>
          </a:xfrm>
          <a:prstGeom prst="rightArrow">
            <a:avLst/>
          </a:prstGeom>
          <a:solidFill>
            <a:srgbClr val="C9D1D9"/>
          </a:solidFill>
          <a:ln w="0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a16-inspect-box">
            <a:extLst>
              <a:ext uri="{FF2B5EF4-FFF2-40B4-BE49-F238E27FC236}">
                <a16:creationId xmlns:a16="http://schemas.microsoft.com/office/drawing/2014/main" id="{D9FF02B3-BF7D-45FB-B7C3-3F9172E49A4E}"/>
              </a:ext>
            </a:extLst>
          </p:cNvPr>
          <p:cNvSpPr>
            <a:spLocks noGrp="1"/>
          </p:cNvSpPr>
          <p:nvPr/>
        </p:nvSpPr>
        <p:spPr>
          <a:xfrm>
            <a:off x="3981450" y="1619250"/>
            <a:ext cx="2381250" cy="952500"/>
          </a:xfrm>
          <a:prstGeom prst="roundRect">
            <a:avLst>
              <a:gd name="adj" fmla="val 8000"/>
            </a:avLst>
          </a:prstGeom>
          <a:solidFill>
            <a:srgbClr val="F1F4F7"/>
          </a:solidFill>
          <a:ln w="14288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a16-inspect-title">
            <a:extLst>
              <a:ext uri="{FF2B5EF4-FFF2-40B4-BE49-F238E27FC236}">
                <a16:creationId xmlns:a16="http://schemas.microsoft.com/office/drawing/2014/main" id="{D19137EC-63E4-4068-A467-FEEABBF8BDF7}"/>
              </a:ext>
            </a:extLst>
          </p:cNvPr>
          <p:cNvSpPr>
            <a:spLocks noGrp="1"/>
          </p:cNvSpPr>
          <p:nvPr/>
        </p:nvSpPr>
        <p:spPr>
          <a:xfrm>
            <a:off x="4114800" y="1733550"/>
            <a:ext cx="2114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8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Inspect</a:t>
            </a:r>
          </a:p>
        </p:txBody>
      </p:sp>
      <p:sp>
        <p:nvSpPr>
          <p:cNvPr id="12" name="a16-inspect-subtitle">
            <a:extLst>
              <a:ext uri="{FF2B5EF4-FFF2-40B4-BE49-F238E27FC236}">
                <a16:creationId xmlns:a16="http://schemas.microsoft.com/office/drawing/2014/main" id="{A08979A6-5385-4D94-85A8-BE743E809563}"/>
              </a:ext>
            </a:extLst>
          </p:cNvPr>
          <p:cNvSpPr>
            <a:spLocks noGrp="1"/>
          </p:cNvSpPr>
          <p:nvPr/>
        </p:nvSpPr>
        <p:spPr>
          <a:xfrm>
            <a:off x="4114800" y="2095500"/>
            <a:ext cx="2114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status · fetch · upstream</a:t>
            </a:r>
          </a:p>
          <a:p>
            <a:pPr algn="ctr">
              <a:lnSpc>
                <a:spcPct val="105000"/>
              </a:lnSpc>
              <a:buNone/>
              <a:defRPr sz="12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log --left-right</a:t>
            </a:r>
          </a:p>
        </p:txBody>
      </p:sp>
      <p:sp>
        <p:nvSpPr>
          <p:cNvPr id="13" name="a16-a1">
            <a:extLst>
              <a:ext uri="{FF2B5EF4-FFF2-40B4-BE49-F238E27FC236}">
                <a16:creationId xmlns:a16="http://schemas.microsoft.com/office/drawing/2014/main" id="{C6918BB3-6022-478C-B496-582E7A14FCDA}"/>
              </a:ext>
            </a:extLst>
          </p:cNvPr>
          <p:cNvSpPr>
            <a:spLocks noGrp="1"/>
          </p:cNvSpPr>
          <p:nvPr/>
        </p:nvSpPr>
        <p:spPr>
          <a:xfrm>
            <a:off x="6362700" y="1981200"/>
            <a:ext cx="666750" cy="228600"/>
          </a:xfrm>
          <a:prstGeom prst="rightArrow">
            <a:avLst/>
          </a:prstGeom>
          <a:solidFill>
            <a:srgbClr val="C9D1D9"/>
          </a:solidFill>
          <a:ln w="0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a16-save-box">
            <a:extLst>
              <a:ext uri="{FF2B5EF4-FFF2-40B4-BE49-F238E27FC236}">
                <a16:creationId xmlns:a16="http://schemas.microsoft.com/office/drawing/2014/main" id="{67FFB101-E818-4CBF-A4FE-796F0EF6EDBF}"/>
              </a:ext>
            </a:extLst>
          </p:cNvPr>
          <p:cNvSpPr>
            <a:spLocks noGrp="1"/>
          </p:cNvSpPr>
          <p:nvPr/>
        </p:nvSpPr>
        <p:spPr>
          <a:xfrm>
            <a:off x="7029450" y="1619250"/>
            <a:ext cx="2381250" cy="952500"/>
          </a:xfrm>
          <a:prstGeom prst="roundRect">
            <a:avLst>
              <a:gd name="adj" fmla="val 8000"/>
            </a:avLst>
          </a:prstGeom>
          <a:solidFill>
            <a:srgbClr val="DCEEFF"/>
          </a:solidFill>
          <a:ln w="14288">
            <a:solidFill>
              <a:srgbClr val="1677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a16-save-title">
            <a:extLst>
              <a:ext uri="{FF2B5EF4-FFF2-40B4-BE49-F238E27FC236}">
                <a16:creationId xmlns:a16="http://schemas.microsoft.com/office/drawing/2014/main" id="{08200C41-23A5-4EF6-856C-62F60C26FF1D}"/>
              </a:ext>
            </a:extLst>
          </p:cNvPr>
          <p:cNvSpPr>
            <a:spLocks noGrp="1"/>
          </p:cNvSpPr>
          <p:nvPr/>
        </p:nvSpPr>
        <p:spPr>
          <a:xfrm>
            <a:off x="7162800" y="1733550"/>
            <a:ext cx="2114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875" b="1">
                <a:solidFill>
                  <a:srgbClr val="1677D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77D2"/>
                </a:solidFill>
                <a:latin typeface="Arial"/>
                <a:ea typeface="Arial"/>
                <a:cs typeface="Arial"/>
              </a:rPr>
              <a:t>Preserve work</a:t>
            </a:r>
          </a:p>
        </p:txBody>
      </p:sp>
      <p:sp>
        <p:nvSpPr>
          <p:cNvPr id="16" name="a16-save-subtitle">
            <a:extLst>
              <a:ext uri="{FF2B5EF4-FFF2-40B4-BE49-F238E27FC236}">
                <a16:creationId xmlns:a16="http://schemas.microsoft.com/office/drawing/2014/main" id="{7AED4CFA-6FFF-470D-860D-10DF83F91140}"/>
              </a:ext>
            </a:extLst>
          </p:cNvPr>
          <p:cNvSpPr>
            <a:spLocks noGrp="1"/>
          </p:cNvSpPr>
          <p:nvPr/>
        </p:nvSpPr>
        <p:spPr>
          <a:xfrm>
            <a:off x="7162800" y="2095500"/>
            <a:ext cx="2114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safety branch / backup</a:t>
            </a:r>
          </a:p>
          <a:p>
            <a:pPr algn="ctr">
              <a:lnSpc>
                <a:spcPct val="105000"/>
              </a:lnSpc>
              <a:buNone/>
              <a:defRPr sz="12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不要先 reset</a:t>
            </a:r>
          </a:p>
        </p:txBody>
      </p:sp>
      <p:sp>
        <p:nvSpPr>
          <p:cNvPr id="17" name="a16-a2">
            <a:extLst>
              <a:ext uri="{FF2B5EF4-FFF2-40B4-BE49-F238E27FC236}">
                <a16:creationId xmlns:a16="http://schemas.microsoft.com/office/drawing/2014/main" id="{1477E815-D9E7-423D-BC76-297396BD1F8D}"/>
              </a:ext>
            </a:extLst>
          </p:cNvPr>
          <p:cNvSpPr>
            <a:spLocks noGrp="1"/>
          </p:cNvSpPr>
          <p:nvPr/>
        </p:nvSpPr>
        <p:spPr>
          <a:xfrm>
            <a:off x="9410700" y="1981200"/>
            <a:ext cx="666750" cy="228600"/>
          </a:xfrm>
          <a:prstGeom prst="rightArrow">
            <a:avLst/>
          </a:prstGeom>
          <a:solidFill>
            <a:srgbClr val="C9D1D9"/>
          </a:solidFill>
          <a:ln w="0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a16-human-box">
            <a:extLst>
              <a:ext uri="{FF2B5EF4-FFF2-40B4-BE49-F238E27FC236}">
                <a16:creationId xmlns:a16="http://schemas.microsoft.com/office/drawing/2014/main" id="{D51EFFA0-9FEB-41C3-9C5F-AA74B57D7672}"/>
              </a:ext>
            </a:extLst>
          </p:cNvPr>
          <p:cNvSpPr>
            <a:spLocks noGrp="1"/>
          </p:cNvSpPr>
          <p:nvPr/>
        </p:nvSpPr>
        <p:spPr>
          <a:xfrm>
            <a:off x="10077450" y="1619250"/>
            <a:ext cx="1657350" cy="952500"/>
          </a:xfrm>
          <a:prstGeom prst="roundRect">
            <a:avLst>
              <a:gd name="adj" fmla="val 8000"/>
            </a:avLst>
          </a:prstGeom>
          <a:solidFill>
            <a:srgbClr val="FFF0D5"/>
          </a:solidFill>
          <a:ln w="14288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a16-human-title">
            <a:extLst>
              <a:ext uri="{FF2B5EF4-FFF2-40B4-BE49-F238E27FC236}">
                <a16:creationId xmlns:a16="http://schemas.microsoft.com/office/drawing/2014/main" id="{E226BFF9-9D3A-4FCF-A988-00B1AC519D13}"/>
              </a:ext>
            </a:extLst>
          </p:cNvPr>
          <p:cNvSpPr>
            <a:spLocks noGrp="1"/>
          </p:cNvSpPr>
          <p:nvPr/>
        </p:nvSpPr>
        <p:spPr>
          <a:xfrm>
            <a:off x="10210800" y="1733550"/>
            <a:ext cx="1390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Human Review</a:t>
            </a:r>
          </a:p>
        </p:txBody>
      </p:sp>
      <p:sp>
        <p:nvSpPr>
          <p:cNvPr id="20" name="a16-human-subtitle">
            <a:extLst>
              <a:ext uri="{FF2B5EF4-FFF2-40B4-BE49-F238E27FC236}">
                <a16:creationId xmlns:a16="http://schemas.microsoft.com/office/drawing/2014/main" id="{5309F831-B32C-4AD8-8DD4-35B342BBC581}"/>
              </a:ext>
            </a:extLst>
          </p:cNvPr>
          <p:cNvSpPr>
            <a:spLocks noGrp="1"/>
          </p:cNvSpPr>
          <p:nvPr/>
        </p:nvSpPr>
        <p:spPr>
          <a:xfrm>
            <a:off x="10210800" y="2095500"/>
            <a:ext cx="1390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1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確認 authority 與 intent</a:t>
            </a:r>
          </a:p>
        </p:txBody>
      </p:sp>
      <p:sp>
        <p:nvSpPr>
          <p:cNvPr id="21" name="a16-b-0-box">
            <a:extLst>
              <a:ext uri="{FF2B5EF4-FFF2-40B4-BE49-F238E27FC236}">
                <a16:creationId xmlns:a16="http://schemas.microsoft.com/office/drawing/2014/main" id="{0A68B95A-2808-4DD0-968A-2367ECF859D6}"/>
              </a:ext>
            </a:extLst>
          </p:cNvPr>
          <p:cNvSpPr>
            <a:spLocks noGrp="1"/>
          </p:cNvSpPr>
          <p:nvPr/>
        </p:nvSpPr>
        <p:spPr>
          <a:xfrm>
            <a:off x="457200" y="3276600"/>
            <a:ext cx="2590800" cy="1466850"/>
          </a:xfrm>
          <a:prstGeom prst="roundRect">
            <a:avLst>
              <a:gd name="adj" fmla="val 5195"/>
            </a:avLst>
          </a:prstGeom>
          <a:solidFill>
            <a:srgbClr val="F1F4F7"/>
          </a:solidFill>
          <a:ln w="14288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a16-b-0-title">
            <a:extLst>
              <a:ext uri="{FF2B5EF4-FFF2-40B4-BE49-F238E27FC236}">
                <a16:creationId xmlns:a16="http://schemas.microsoft.com/office/drawing/2014/main" id="{A3C2727F-495D-4FFF-970B-98240FCC8ECB}"/>
              </a:ext>
            </a:extLst>
          </p:cNvPr>
          <p:cNvSpPr>
            <a:spLocks noGrp="1"/>
          </p:cNvSpPr>
          <p:nvPr/>
        </p:nvSpPr>
        <p:spPr>
          <a:xfrm>
            <a:off x="590550" y="3390900"/>
            <a:ext cx="2324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Dirty tree</a:t>
            </a:r>
          </a:p>
        </p:txBody>
      </p:sp>
      <p:sp>
        <p:nvSpPr>
          <p:cNvPr id="23" name="a16-b-0-subtitle">
            <a:extLst>
              <a:ext uri="{FF2B5EF4-FFF2-40B4-BE49-F238E27FC236}">
                <a16:creationId xmlns:a16="http://schemas.microsoft.com/office/drawing/2014/main" id="{EAFD831A-2838-4F51-B5C8-0730CBFDF779}"/>
              </a:ext>
            </a:extLst>
          </p:cNvPr>
          <p:cNvSpPr>
            <a:spLocks noGrp="1"/>
          </p:cNvSpPr>
          <p:nvPr/>
        </p:nvSpPr>
        <p:spPr>
          <a:xfrm>
            <a:off x="590550" y="3752850"/>
            <a:ext cx="23241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先保存 tracked / untracked work</a:t>
            </a:r>
          </a:p>
        </p:txBody>
      </p:sp>
      <p:sp>
        <p:nvSpPr>
          <p:cNvPr id="24" name="a16-b-1-box">
            <a:extLst>
              <a:ext uri="{FF2B5EF4-FFF2-40B4-BE49-F238E27FC236}">
                <a16:creationId xmlns:a16="http://schemas.microsoft.com/office/drawing/2014/main" id="{B93413D0-A19D-4FD2-B6C9-41376A569CB3}"/>
              </a:ext>
            </a:extLst>
          </p:cNvPr>
          <p:cNvSpPr>
            <a:spLocks noGrp="1"/>
          </p:cNvSpPr>
          <p:nvPr/>
        </p:nvSpPr>
        <p:spPr>
          <a:xfrm>
            <a:off x="3276600" y="3276600"/>
            <a:ext cx="2590800" cy="1466850"/>
          </a:xfrm>
          <a:prstGeom prst="roundRect">
            <a:avLst>
              <a:gd name="adj" fmla="val 5195"/>
            </a:avLst>
          </a:prstGeom>
          <a:solidFill>
            <a:srgbClr val="F1F4F7"/>
          </a:solidFill>
          <a:ln w="14288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a16-b-1-title">
            <a:extLst>
              <a:ext uri="{FF2B5EF4-FFF2-40B4-BE49-F238E27FC236}">
                <a16:creationId xmlns:a16="http://schemas.microsoft.com/office/drawing/2014/main" id="{61233A55-5C04-4058-A594-712E6530CBAD}"/>
              </a:ext>
            </a:extLst>
          </p:cNvPr>
          <p:cNvSpPr>
            <a:spLocks noGrp="1"/>
          </p:cNvSpPr>
          <p:nvPr/>
        </p:nvSpPr>
        <p:spPr>
          <a:xfrm>
            <a:off x="3409950" y="3390900"/>
            <a:ext cx="2324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History diverged</a:t>
            </a:r>
          </a:p>
        </p:txBody>
      </p:sp>
      <p:sp>
        <p:nvSpPr>
          <p:cNvPr id="26" name="a16-b-1-subtitle">
            <a:extLst>
              <a:ext uri="{FF2B5EF4-FFF2-40B4-BE49-F238E27FC236}">
                <a16:creationId xmlns:a16="http://schemas.microsoft.com/office/drawing/2014/main" id="{BE6F2855-A6D0-4200-9C26-26B2D85721CE}"/>
              </a:ext>
            </a:extLst>
          </p:cNvPr>
          <p:cNvSpPr>
            <a:spLocks noGrp="1"/>
          </p:cNvSpPr>
          <p:nvPr/>
        </p:nvSpPr>
        <p:spPr>
          <a:xfrm>
            <a:off x="3409950" y="3752850"/>
            <a:ext cx="23241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辨認 local-only 與 remote commits</a:t>
            </a:r>
          </a:p>
        </p:txBody>
      </p:sp>
      <p:sp>
        <p:nvSpPr>
          <p:cNvPr id="27" name="a16-b-2-box">
            <a:extLst>
              <a:ext uri="{FF2B5EF4-FFF2-40B4-BE49-F238E27FC236}">
                <a16:creationId xmlns:a16="http://schemas.microsoft.com/office/drawing/2014/main" id="{C5160C17-15C9-4441-BE66-87B308519AA5}"/>
              </a:ext>
            </a:extLst>
          </p:cNvPr>
          <p:cNvSpPr>
            <a:spLocks noGrp="1"/>
          </p:cNvSpPr>
          <p:nvPr/>
        </p:nvSpPr>
        <p:spPr>
          <a:xfrm>
            <a:off x="6096000" y="3276600"/>
            <a:ext cx="2590800" cy="1466850"/>
          </a:xfrm>
          <a:prstGeom prst="roundRect">
            <a:avLst>
              <a:gd name="adj" fmla="val 5195"/>
            </a:avLst>
          </a:prstGeom>
          <a:solidFill>
            <a:srgbClr val="F1F4F7"/>
          </a:solidFill>
          <a:ln w="14288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a16-b-2-title">
            <a:extLst>
              <a:ext uri="{FF2B5EF4-FFF2-40B4-BE49-F238E27FC236}">
                <a16:creationId xmlns:a16="http://schemas.microsoft.com/office/drawing/2014/main" id="{4F6828BF-62A7-4336-9F41-D201D35927E3}"/>
              </a:ext>
            </a:extLst>
          </p:cNvPr>
          <p:cNvSpPr>
            <a:spLocks noGrp="1"/>
          </p:cNvSpPr>
          <p:nvPr/>
        </p:nvSpPr>
        <p:spPr>
          <a:xfrm>
            <a:off x="6229350" y="3390900"/>
            <a:ext cx="2324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Wrong upstream</a:t>
            </a:r>
          </a:p>
        </p:txBody>
      </p:sp>
      <p:sp>
        <p:nvSpPr>
          <p:cNvPr id="29" name="a16-b-2-subtitle">
            <a:extLst>
              <a:ext uri="{FF2B5EF4-FFF2-40B4-BE49-F238E27FC236}">
                <a16:creationId xmlns:a16="http://schemas.microsoft.com/office/drawing/2014/main" id="{7AEBD99F-6E1B-4BFA-BAAA-BFEC422A5CB9}"/>
              </a:ext>
            </a:extLst>
          </p:cNvPr>
          <p:cNvSpPr>
            <a:spLocks noGrp="1"/>
          </p:cNvSpPr>
          <p:nvPr/>
        </p:nvSpPr>
        <p:spPr>
          <a:xfrm>
            <a:off x="6229350" y="3752850"/>
            <a:ext cx="23241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修正 tracking，再重新判讀</a:t>
            </a:r>
          </a:p>
        </p:txBody>
      </p:sp>
      <p:sp>
        <p:nvSpPr>
          <p:cNvPr id="30" name="a16-b-3-box">
            <a:extLst>
              <a:ext uri="{FF2B5EF4-FFF2-40B4-BE49-F238E27FC236}">
                <a16:creationId xmlns:a16="http://schemas.microsoft.com/office/drawing/2014/main" id="{449AC7D0-A06B-4F11-87CD-6E32E1702901}"/>
              </a:ext>
            </a:extLst>
          </p:cNvPr>
          <p:cNvSpPr>
            <a:spLocks noGrp="1"/>
          </p:cNvSpPr>
          <p:nvPr/>
        </p:nvSpPr>
        <p:spPr>
          <a:xfrm>
            <a:off x="8915400" y="3276600"/>
            <a:ext cx="2590800" cy="1466850"/>
          </a:xfrm>
          <a:prstGeom prst="roundRect">
            <a:avLst>
              <a:gd name="adj" fmla="val 5195"/>
            </a:avLst>
          </a:prstGeom>
          <a:solidFill>
            <a:srgbClr val="F1F4F7"/>
          </a:solidFill>
          <a:ln w="14288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a16-b-3-title">
            <a:extLst>
              <a:ext uri="{FF2B5EF4-FFF2-40B4-BE49-F238E27FC236}">
                <a16:creationId xmlns:a16="http://schemas.microsoft.com/office/drawing/2014/main" id="{02D4ED8F-84C7-4463-9A13-A7DFE76C4E93}"/>
              </a:ext>
            </a:extLst>
          </p:cNvPr>
          <p:cNvSpPr>
            <a:spLocks noGrp="1"/>
          </p:cNvSpPr>
          <p:nvPr/>
        </p:nvSpPr>
        <p:spPr>
          <a:xfrm>
            <a:off x="9048750" y="3390900"/>
            <a:ext cx="2324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Squash ancestry</a:t>
            </a:r>
          </a:p>
        </p:txBody>
      </p:sp>
      <p:sp>
        <p:nvSpPr>
          <p:cNvPr id="32" name="a16-b-3-subtitle">
            <a:extLst>
              <a:ext uri="{FF2B5EF4-FFF2-40B4-BE49-F238E27FC236}">
                <a16:creationId xmlns:a16="http://schemas.microsoft.com/office/drawing/2014/main" id="{2BD0BE94-7BB7-465B-AB4A-F6D08174B715}"/>
              </a:ext>
            </a:extLst>
          </p:cNvPr>
          <p:cNvSpPr>
            <a:spLocks noGrp="1"/>
          </p:cNvSpPr>
          <p:nvPr/>
        </p:nvSpPr>
        <p:spPr>
          <a:xfrm>
            <a:off x="9048750" y="3752850"/>
            <a:ext cx="23241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內容等價 ≠ commit ancestry 相同</a:t>
            </a:r>
          </a:p>
        </p:txBody>
      </p:sp>
      <p:sp>
        <p:nvSpPr>
          <p:cNvPr id="33" name="a16-stop-bg">
            <a:extLst>
              <a:ext uri="{FF2B5EF4-FFF2-40B4-BE49-F238E27FC236}">
                <a16:creationId xmlns:a16="http://schemas.microsoft.com/office/drawing/2014/main" id="{AD64E69B-BDE1-44A3-A125-82F005917234}"/>
              </a:ext>
            </a:extLst>
          </p:cNvPr>
          <p:cNvSpPr>
            <a:spLocks noGrp="1"/>
          </p:cNvSpPr>
          <p:nvPr/>
        </p:nvSpPr>
        <p:spPr>
          <a:xfrm>
            <a:off x="1714500" y="5429250"/>
            <a:ext cx="8763000" cy="495300"/>
          </a:xfrm>
          <a:prstGeom prst="roundRect">
            <a:avLst>
              <a:gd name="adj" fmla="val 15385"/>
            </a:avLst>
          </a:prstGeom>
          <a:solidFill>
            <a:srgbClr val="FCE7E5"/>
          </a:solidFill>
          <a:ln w="9525">
            <a:solidFill>
              <a:srgbClr val="C2413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a16-stop-text">
            <a:extLst>
              <a:ext uri="{FF2B5EF4-FFF2-40B4-BE49-F238E27FC236}">
                <a16:creationId xmlns:a16="http://schemas.microsoft.com/office/drawing/2014/main" id="{4BF6283E-5BFE-47D4-9D88-C079676AAC53}"/>
              </a:ext>
            </a:extLst>
          </p:cNvPr>
          <p:cNvSpPr>
            <a:spLocks noGrp="1"/>
          </p:cNvSpPr>
          <p:nvPr/>
        </p:nvSpPr>
        <p:spPr>
          <a:xfrm>
            <a:off x="1714500" y="5429250"/>
            <a:ext cx="876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C241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2413A"/>
                </a:solidFill>
                <a:latin typeface="Arial"/>
                <a:ea typeface="Arial"/>
                <a:cs typeface="Arial"/>
              </a:rPr>
              <a:t>任何不確定 provenance → STOP；Git recovery 永遠不是 /etc/srsran rollback</a:t>
            </a:r>
          </a:p>
        </p:txBody>
      </p:sp>
    </p:spTree>
    <p:extLst>
      <p:ext uri="{BB962C8B-B14F-4D97-AF65-F5344CB8AC3E}">
        <p14:creationId xmlns:p14="http://schemas.microsoft.com/office/powerpoint/2010/main" val="4202011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kicker-17">
            <a:extLst>
              <a:ext uri="{FF2B5EF4-FFF2-40B4-BE49-F238E27FC236}">
                <a16:creationId xmlns:a16="http://schemas.microsoft.com/office/drawing/2014/main" id="{A2F16E72-923B-48E6-8760-9F699EF36601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APPENDIX A3</a:t>
            </a:r>
          </a:p>
        </p:txBody>
      </p:sp>
      <p:sp>
        <p:nvSpPr>
          <p:cNvPr id="2" name="title-17">
            <a:extLst>
              <a:ext uri="{FF2B5EF4-FFF2-40B4-BE49-F238E27FC236}">
                <a16:creationId xmlns:a16="http://schemas.microsoft.com/office/drawing/2014/main" id="{DE8C536C-C314-4DA2-A090-7E26300DC335}"/>
              </a:ext>
            </a:extLst>
          </p:cNvPr>
          <p:cNvSpPr>
            <a:spLocks noGrp="1"/>
          </p:cNvSpPr>
          <p:nvPr/>
        </p:nvSpPr>
        <p:spPr>
          <a:xfrm>
            <a:off x="457200" y="533400"/>
            <a:ext cx="112776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34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Squash Merge 後，內容已合併但 ancestry 可能不同</a:t>
            </a:r>
          </a:p>
        </p:txBody>
      </p:sp>
      <p:sp>
        <p:nvSpPr>
          <p:cNvPr id="3" name="header-rule-17">
            <a:extLst>
              <a:ext uri="{FF2B5EF4-FFF2-40B4-BE49-F238E27FC236}">
                <a16:creationId xmlns:a16="http://schemas.microsoft.com/office/drawing/2014/main" id="{AC01AC97-0568-4728-A7A5-75467FB6EC0E}"/>
              </a:ext>
            </a:extLst>
          </p:cNvPr>
          <p:cNvSpPr>
            <a:spLocks noGrp="1"/>
          </p:cNvSpPr>
          <p:nvPr/>
        </p:nvSpPr>
        <p:spPr>
          <a:xfrm>
            <a:off x="457200" y="1200150"/>
            <a:ext cx="11277600" cy="1905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footer-label-17">
            <a:extLst>
              <a:ext uri="{FF2B5EF4-FFF2-40B4-BE49-F238E27FC236}">
                <a16:creationId xmlns:a16="http://schemas.microsoft.com/office/drawing/2014/main" id="{DCF8DCA3-2EF1-48C6-925A-7027C9F7EAE8}"/>
              </a:ext>
            </a:extLst>
          </p:cNvPr>
          <p:cNvSpPr>
            <a:spLocks noGrp="1"/>
          </p:cNvSpPr>
          <p:nvPr/>
        </p:nvSpPr>
        <p:spPr>
          <a:xfrm>
            <a:off x="457200" y="6391275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endParaRPr/>
          </a:p>
        </p:txBody>
      </p:sp>
      <p:sp>
        <p:nvSpPr>
          <p:cNvPr id="5" name="footer-num-17">
            <a:extLst>
              <a:ext uri="{FF2B5EF4-FFF2-40B4-BE49-F238E27FC236}">
                <a16:creationId xmlns:a16="http://schemas.microsoft.com/office/drawing/2014/main" id="{EAA1232D-BEF6-4A25-9B7E-CA4496B8479E}"/>
              </a:ext>
            </a:extLst>
          </p:cNvPr>
          <p:cNvSpPr>
            <a:spLocks noGrp="1"/>
          </p:cNvSpPr>
          <p:nvPr/>
        </p:nvSpPr>
        <p:spPr>
          <a:xfrm>
            <a:off x="11163300" y="6372225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05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6" name="a17-topic">
            <a:extLst>
              <a:ext uri="{FF2B5EF4-FFF2-40B4-BE49-F238E27FC236}">
                <a16:creationId xmlns:a16="http://schemas.microsoft.com/office/drawing/2014/main" id="{CFC0ADEA-85A9-4D9D-A4F0-20E01CE27368}"/>
              </a:ext>
            </a:extLst>
          </p:cNvPr>
          <p:cNvSpPr>
            <a:spLocks noGrp="1"/>
          </p:cNvSpPr>
          <p:nvPr/>
        </p:nvSpPr>
        <p:spPr>
          <a:xfrm>
            <a:off x="609600" y="16383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1677D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77D2"/>
                </a:solidFill>
                <a:latin typeface="Arial"/>
                <a:ea typeface="Arial"/>
                <a:cs typeface="Arial"/>
              </a:rPr>
              <a:t>topic branch</a:t>
            </a:r>
          </a:p>
        </p:txBody>
      </p:sp>
      <p:sp>
        <p:nvSpPr>
          <p:cNvPr id="7" name="a17-ta-0">
            <a:extLst>
              <a:ext uri="{FF2B5EF4-FFF2-40B4-BE49-F238E27FC236}">
                <a16:creationId xmlns:a16="http://schemas.microsoft.com/office/drawing/2014/main" id="{F8C03767-9362-4651-9449-061CF9F02EFD}"/>
              </a:ext>
            </a:extLst>
          </p:cNvPr>
          <p:cNvSpPr>
            <a:spLocks noGrp="1"/>
          </p:cNvSpPr>
          <p:nvPr/>
        </p:nvSpPr>
        <p:spPr>
          <a:xfrm>
            <a:off x="2286000" y="2428875"/>
            <a:ext cx="762000" cy="209550"/>
          </a:xfrm>
          <a:prstGeom prst="rightArrow">
            <a:avLst/>
          </a:prstGeom>
          <a:solidFill>
            <a:srgbClr val="1677D2"/>
          </a:solidFill>
          <a:ln w="0">
            <a:solidFill>
              <a:srgbClr val="1677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a17-ta-1">
            <a:extLst>
              <a:ext uri="{FF2B5EF4-FFF2-40B4-BE49-F238E27FC236}">
                <a16:creationId xmlns:a16="http://schemas.microsoft.com/office/drawing/2014/main" id="{BF485D69-AF1E-4606-AC2C-1550474EFE7D}"/>
              </a:ext>
            </a:extLst>
          </p:cNvPr>
          <p:cNvSpPr>
            <a:spLocks noGrp="1"/>
          </p:cNvSpPr>
          <p:nvPr/>
        </p:nvSpPr>
        <p:spPr>
          <a:xfrm>
            <a:off x="4286250" y="2428875"/>
            <a:ext cx="762000" cy="209550"/>
          </a:xfrm>
          <a:prstGeom prst="rightArrow">
            <a:avLst/>
          </a:prstGeom>
          <a:solidFill>
            <a:srgbClr val="1677D2"/>
          </a:solidFill>
          <a:ln w="0">
            <a:solidFill>
              <a:srgbClr val="1677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a17-t-0">
            <a:extLst>
              <a:ext uri="{FF2B5EF4-FFF2-40B4-BE49-F238E27FC236}">
                <a16:creationId xmlns:a16="http://schemas.microsoft.com/office/drawing/2014/main" id="{744A2083-3556-4DE7-8B29-C69F999BFDFB}"/>
              </a:ext>
            </a:extLst>
          </p:cNvPr>
          <p:cNvSpPr>
            <a:spLocks noGrp="1"/>
          </p:cNvSpPr>
          <p:nvPr/>
        </p:nvSpPr>
        <p:spPr>
          <a:xfrm>
            <a:off x="1143000" y="2095500"/>
            <a:ext cx="857250" cy="857250"/>
          </a:xfrm>
          <a:prstGeom prst="ellipse">
            <a:avLst/>
          </a:prstGeom>
          <a:solidFill>
            <a:srgbClr val="DCEEFF"/>
          </a:solidFill>
          <a:ln w="19050">
            <a:solidFill>
              <a:srgbClr val="1677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a17-tt-0">
            <a:extLst>
              <a:ext uri="{FF2B5EF4-FFF2-40B4-BE49-F238E27FC236}">
                <a16:creationId xmlns:a16="http://schemas.microsoft.com/office/drawing/2014/main" id="{BA83F45C-84BD-438D-88BA-CF1DDEE42674}"/>
              </a:ext>
            </a:extLst>
          </p:cNvPr>
          <p:cNvSpPr>
            <a:spLocks noGrp="1"/>
          </p:cNvSpPr>
          <p:nvPr/>
        </p:nvSpPr>
        <p:spPr>
          <a:xfrm>
            <a:off x="1143000" y="2286000"/>
            <a:ext cx="857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250" b="1">
                <a:solidFill>
                  <a:srgbClr val="1677D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77D2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1" name="a17-t-1">
            <a:extLst>
              <a:ext uri="{FF2B5EF4-FFF2-40B4-BE49-F238E27FC236}">
                <a16:creationId xmlns:a16="http://schemas.microsoft.com/office/drawing/2014/main" id="{322A451C-7D01-4991-B25E-CA0306549D22}"/>
              </a:ext>
            </a:extLst>
          </p:cNvPr>
          <p:cNvSpPr>
            <a:spLocks noGrp="1"/>
          </p:cNvSpPr>
          <p:nvPr/>
        </p:nvSpPr>
        <p:spPr>
          <a:xfrm>
            <a:off x="3143250" y="2095500"/>
            <a:ext cx="857250" cy="857250"/>
          </a:xfrm>
          <a:prstGeom prst="ellipse">
            <a:avLst/>
          </a:prstGeom>
          <a:solidFill>
            <a:srgbClr val="DCEEFF"/>
          </a:solidFill>
          <a:ln w="19050">
            <a:solidFill>
              <a:srgbClr val="1677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a17-tt-1">
            <a:extLst>
              <a:ext uri="{FF2B5EF4-FFF2-40B4-BE49-F238E27FC236}">
                <a16:creationId xmlns:a16="http://schemas.microsoft.com/office/drawing/2014/main" id="{EA9BB367-9F42-42E6-8A84-19D6A01B9820}"/>
              </a:ext>
            </a:extLst>
          </p:cNvPr>
          <p:cNvSpPr>
            <a:spLocks noGrp="1"/>
          </p:cNvSpPr>
          <p:nvPr/>
        </p:nvSpPr>
        <p:spPr>
          <a:xfrm>
            <a:off x="3143250" y="2286000"/>
            <a:ext cx="857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250" b="1">
                <a:solidFill>
                  <a:srgbClr val="1677D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77D2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3" name="a17-t-2">
            <a:extLst>
              <a:ext uri="{FF2B5EF4-FFF2-40B4-BE49-F238E27FC236}">
                <a16:creationId xmlns:a16="http://schemas.microsoft.com/office/drawing/2014/main" id="{3BE75DA4-BA4E-4105-8969-346C4941293E}"/>
              </a:ext>
            </a:extLst>
          </p:cNvPr>
          <p:cNvSpPr>
            <a:spLocks noGrp="1"/>
          </p:cNvSpPr>
          <p:nvPr/>
        </p:nvSpPr>
        <p:spPr>
          <a:xfrm>
            <a:off x="5143500" y="2095500"/>
            <a:ext cx="857250" cy="857250"/>
          </a:xfrm>
          <a:prstGeom prst="ellipse">
            <a:avLst/>
          </a:prstGeom>
          <a:solidFill>
            <a:srgbClr val="DCEEFF"/>
          </a:solidFill>
          <a:ln w="19050">
            <a:solidFill>
              <a:srgbClr val="1677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a17-tt-2">
            <a:extLst>
              <a:ext uri="{FF2B5EF4-FFF2-40B4-BE49-F238E27FC236}">
                <a16:creationId xmlns:a16="http://schemas.microsoft.com/office/drawing/2014/main" id="{45C9E0CB-8171-41AA-8A41-9D93A091A033}"/>
              </a:ext>
            </a:extLst>
          </p:cNvPr>
          <p:cNvSpPr>
            <a:spLocks noGrp="1"/>
          </p:cNvSpPr>
          <p:nvPr/>
        </p:nvSpPr>
        <p:spPr>
          <a:xfrm>
            <a:off x="5143500" y="2286000"/>
            <a:ext cx="857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250" b="1">
                <a:solidFill>
                  <a:srgbClr val="1677D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77D2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5" name="a17-main">
            <a:extLst>
              <a:ext uri="{FF2B5EF4-FFF2-40B4-BE49-F238E27FC236}">
                <a16:creationId xmlns:a16="http://schemas.microsoft.com/office/drawing/2014/main" id="{77561191-07C9-4B57-B1F1-5CC8D519C9A2}"/>
              </a:ext>
            </a:extLst>
          </p:cNvPr>
          <p:cNvSpPr>
            <a:spLocks noGrp="1"/>
          </p:cNvSpPr>
          <p:nvPr/>
        </p:nvSpPr>
        <p:spPr>
          <a:xfrm>
            <a:off x="609600" y="37528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16865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865B"/>
                </a:solidFill>
                <a:latin typeface="Arial"/>
                <a:ea typeface="Arial"/>
                <a:cs typeface="Arial"/>
              </a:rPr>
              <a:t>main after Squash Merge</a:t>
            </a:r>
          </a:p>
        </p:txBody>
      </p:sp>
      <p:sp>
        <p:nvSpPr>
          <p:cNvPr id="16" name="a17-ma">
            <a:extLst>
              <a:ext uri="{FF2B5EF4-FFF2-40B4-BE49-F238E27FC236}">
                <a16:creationId xmlns:a16="http://schemas.microsoft.com/office/drawing/2014/main" id="{E985D161-B814-4A2E-92C3-7D68D6CA0E80}"/>
              </a:ext>
            </a:extLst>
          </p:cNvPr>
          <p:cNvSpPr>
            <a:spLocks noGrp="1"/>
          </p:cNvSpPr>
          <p:nvPr/>
        </p:nvSpPr>
        <p:spPr>
          <a:xfrm>
            <a:off x="2381250" y="4524375"/>
            <a:ext cx="1809750" cy="209550"/>
          </a:xfrm>
          <a:prstGeom prst="rightArrow">
            <a:avLst/>
          </a:prstGeom>
          <a:solidFill>
            <a:srgbClr val="16865B"/>
          </a:solidFill>
          <a:ln w="0">
            <a:solidFill>
              <a:srgbClr val="16865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a17-m0">
            <a:extLst>
              <a:ext uri="{FF2B5EF4-FFF2-40B4-BE49-F238E27FC236}">
                <a16:creationId xmlns:a16="http://schemas.microsoft.com/office/drawing/2014/main" id="{6C32CEEA-DA91-471E-A0FF-A98B67E59A8A}"/>
              </a:ext>
            </a:extLst>
          </p:cNvPr>
          <p:cNvSpPr>
            <a:spLocks noGrp="1"/>
          </p:cNvSpPr>
          <p:nvPr/>
        </p:nvSpPr>
        <p:spPr>
          <a:xfrm>
            <a:off x="1143000" y="4191000"/>
            <a:ext cx="857250" cy="857250"/>
          </a:xfrm>
          <a:prstGeom prst="ellipse">
            <a:avLst/>
          </a:prstGeom>
          <a:solidFill>
            <a:srgbClr val="F1F4F7"/>
          </a:solidFill>
          <a:ln w="19050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a17-m0t">
            <a:extLst>
              <a:ext uri="{FF2B5EF4-FFF2-40B4-BE49-F238E27FC236}">
                <a16:creationId xmlns:a16="http://schemas.microsoft.com/office/drawing/2014/main" id="{D9A3F83B-BC2A-4890-BF77-C04906247099}"/>
              </a:ext>
            </a:extLst>
          </p:cNvPr>
          <p:cNvSpPr>
            <a:spLocks noGrp="1"/>
          </p:cNvSpPr>
          <p:nvPr/>
        </p:nvSpPr>
        <p:spPr>
          <a:xfrm>
            <a:off x="1143000" y="4381500"/>
            <a:ext cx="857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2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19" name="a17-ms">
            <a:extLst>
              <a:ext uri="{FF2B5EF4-FFF2-40B4-BE49-F238E27FC236}">
                <a16:creationId xmlns:a16="http://schemas.microsoft.com/office/drawing/2014/main" id="{E4032974-8CA1-48FE-A1D9-D92F91B91696}"/>
              </a:ext>
            </a:extLst>
          </p:cNvPr>
          <p:cNvSpPr>
            <a:spLocks noGrp="1"/>
          </p:cNvSpPr>
          <p:nvPr/>
        </p:nvSpPr>
        <p:spPr>
          <a:xfrm>
            <a:off x="4191000" y="4191000"/>
            <a:ext cx="1047750" cy="857250"/>
          </a:xfrm>
          <a:prstGeom prst="ellipse">
            <a:avLst/>
          </a:prstGeom>
          <a:solidFill>
            <a:srgbClr val="DDF5EA"/>
          </a:solidFill>
          <a:ln w="19050">
            <a:solidFill>
              <a:srgbClr val="16865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a17-mst">
            <a:extLst>
              <a:ext uri="{FF2B5EF4-FFF2-40B4-BE49-F238E27FC236}">
                <a16:creationId xmlns:a16="http://schemas.microsoft.com/office/drawing/2014/main" id="{793D8AC2-529D-4F87-94D8-1FA29737616B}"/>
              </a:ext>
            </a:extLst>
          </p:cNvPr>
          <p:cNvSpPr>
            <a:spLocks noGrp="1"/>
          </p:cNvSpPr>
          <p:nvPr/>
        </p:nvSpPr>
        <p:spPr>
          <a:xfrm>
            <a:off x="4191000" y="4381500"/>
            <a:ext cx="1047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250" b="1">
                <a:solidFill>
                  <a:srgbClr val="16865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865B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21" name="a17-explain-box">
            <a:extLst>
              <a:ext uri="{FF2B5EF4-FFF2-40B4-BE49-F238E27FC236}">
                <a16:creationId xmlns:a16="http://schemas.microsoft.com/office/drawing/2014/main" id="{B64464F5-5C2B-4983-87AC-49F26FFB7BAC}"/>
              </a:ext>
            </a:extLst>
          </p:cNvPr>
          <p:cNvSpPr>
            <a:spLocks noGrp="1"/>
          </p:cNvSpPr>
          <p:nvPr/>
        </p:nvSpPr>
        <p:spPr>
          <a:xfrm>
            <a:off x="6477000" y="1809750"/>
            <a:ext cx="4953000" cy="2057400"/>
          </a:xfrm>
          <a:prstGeom prst="roundRect">
            <a:avLst>
              <a:gd name="adj" fmla="val 3704"/>
            </a:avLst>
          </a:prstGeom>
          <a:solidFill>
            <a:srgbClr val="F1F4F7"/>
          </a:solidFill>
          <a:ln w="14288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a17-explain-title">
            <a:extLst>
              <a:ext uri="{FF2B5EF4-FFF2-40B4-BE49-F238E27FC236}">
                <a16:creationId xmlns:a16="http://schemas.microsoft.com/office/drawing/2014/main" id="{09D9DF2B-939E-4221-9A8D-034566B63815}"/>
              </a:ext>
            </a:extLst>
          </p:cNvPr>
          <p:cNvSpPr>
            <a:spLocks noGrp="1"/>
          </p:cNvSpPr>
          <p:nvPr/>
        </p:nvSpPr>
        <p:spPr>
          <a:xfrm>
            <a:off x="6610350" y="1924050"/>
            <a:ext cx="4686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為什麼 branch -d 可能警告？</a:t>
            </a:r>
          </a:p>
        </p:txBody>
      </p:sp>
      <p:sp>
        <p:nvSpPr>
          <p:cNvPr id="23" name="a17-explain-subtitle">
            <a:extLst>
              <a:ext uri="{FF2B5EF4-FFF2-40B4-BE49-F238E27FC236}">
                <a16:creationId xmlns:a16="http://schemas.microsoft.com/office/drawing/2014/main" id="{44BD3347-D2B6-4019-A4BD-10F04265A270}"/>
              </a:ext>
            </a:extLst>
          </p:cNvPr>
          <p:cNvSpPr>
            <a:spLocks noGrp="1"/>
          </p:cNvSpPr>
          <p:nvPr/>
        </p:nvSpPr>
        <p:spPr>
          <a:xfrm>
            <a:off x="6610350" y="2286000"/>
            <a:ext cx="4686300" cy="1504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Git 以 commit reachability 判定。</a:t>
            </a:r>
          </a:p>
          <a:p>
            <a:pPr algn="l">
              <a:lnSpc>
                <a:spcPct val="105000"/>
              </a:lnSpc>
              <a:buNone/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Squash commit S 包含內容，但 A/B/C 不一定成為 main ancestors。</a:t>
            </a:r>
          </a:p>
        </p:txBody>
      </p:sp>
      <p:sp>
        <p:nvSpPr>
          <p:cNvPr id="24" name="a17-checks-box">
            <a:extLst>
              <a:ext uri="{FF2B5EF4-FFF2-40B4-BE49-F238E27FC236}">
                <a16:creationId xmlns:a16="http://schemas.microsoft.com/office/drawing/2014/main" id="{D3C654CD-5F83-4C24-9E1E-3D1BA0249547}"/>
              </a:ext>
            </a:extLst>
          </p:cNvPr>
          <p:cNvSpPr>
            <a:spLocks noGrp="1"/>
          </p:cNvSpPr>
          <p:nvPr/>
        </p:nvSpPr>
        <p:spPr>
          <a:xfrm>
            <a:off x="6477000" y="4210050"/>
            <a:ext cx="4953000" cy="1466850"/>
          </a:xfrm>
          <a:prstGeom prst="roundRect">
            <a:avLst>
              <a:gd name="adj" fmla="val 5195"/>
            </a:avLst>
          </a:prstGeom>
          <a:solidFill>
            <a:srgbClr val="FFF0D5"/>
          </a:solidFill>
          <a:ln w="14288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a17-checks-title">
            <a:extLst>
              <a:ext uri="{FF2B5EF4-FFF2-40B4-BE49-F238E27FC236}">
                <a16:creationId xmlns:a16="http://schemas.microsoft.com/office/drawing/2014/main" id="{F001A75F-6265-4905-A044-235047FD81E5}"/>
              </a:ext>
            </a:extLst>
          </p:cNvPr>
          <p:cNvSpPr>
            <a:spLocks noGrp="1"/>
          </p:cNvSpPr>
          <p:nvPr/>
        </p:nvSpPr>
        <p:spPr>
          <a:xfrm>
            <a:off x="6610350" y="4324350"/>
            <a:ext cx="4686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Force-delete 前的 checks</a:t>
            </a:r>
          </a:p>
        </p:txBody>
      </p:sp>
      <p:sp>
        <p:nvSpPr>
          <p:cNvPr id="26" name="a17-checks-subtitle">
            <a:extLst>
              <a:ext uri="{FF2B5EF4-FFF2-40B4-BE49-F238E27FC236}">
                <a16:creationId xmlns:a16="http://schemas.microsoft.com/office/drawing/2014/main" id="{53BA00F7-3CEE-4F21-8539-3540E40FC52B}"/>
              </a:ext>
            </a:extLst>
          </p:cNvPr>
          <p:cNvSpPr>
            <a:spLocks noGrp="1"/>
          </p:cNvSpPr>
          <p:nvPr/>
        </p:nvSpPr>
        <p:spPr>
          <a:xfrm>
            <a:off x="6610350" y="4686300"/>
            <a:ext cx="46863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PR merged · content verified</a:t>
            </a:r>
          </a:p>
          <a:p>
            <a:pPr algn="l">
              <a:lnSpc>
                <a:spcPct val="105000"/>
              </a:lnSpc>
              <a:buNone/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no local-only commits · safety reference</a:t>
            </a:r>
          </a:p>
          <a:p>
            <a:pPr algn="l">
              <a:lnSpc>
                <a:spcPct val="105000"/>
              </a:lnSpc>
              <a:buNone/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由 Git Maintainer review</a:t>
            </a:r>
          </a:p>
        </p:txBody>
      </p:sp>
      <p:sp>
        <p:nvSpPr>
          <p:cNvPr id="27" name="a17-boundary-bg">
            <a:extLst>
              <a:ext uri="{FF2B5EF4-FFF2-40B4-BE49-F238E27FC236}">
                <a16:creationId xmlns:a16="http://schemas.microsoft.com/office/drawing/2014/main" id="{BE7586AB-1FBE-4195-9687-E09ED6390442}"/>
              </a:ext>
            </a:extLst>
          </p:cNvPr>
          <p:cNvSpPr>
            <a:spLocks noGrp="1"/>
          </p:cNvSpPr>
          <p:nvPr/>
        </p:nvSpPr>
        <p:spPr>
          <a:xfrm>
            <a:off x="838200" y="5715000"/>
            <a:ext cx="5429250" cy="400050"/>
          </a:xfrm>
          <a:prstGeom prst="roundRect">
            <a:avLst>
              <a:gd name="adj" fmla="val 19048"/>
            </a:avLst>
          </a:prstGeom>
          <a:solidFill>
            <a:srgbClr val="ECEFF2"/>
          </a:solidFill>
          <a:ln w="9525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a17-boundary-text">
            <a:extLst>
              <a:ext uri="{FF2B5EF4-FFF2-40B4-BE49-F238E27FC236}">
                <a16:creationId xmlns:a16="http://schemas.microsoft.com/office/drawing/2014/main" id="{FE2D6926-02B3-4129-A253-4C74BB77F06B}"/>
              </a:ext>
            </a:extLst>
          </p:cNvPr>
          <p:cNvSpPr>
            <a:spLocks noGrp="1"/>
          </p:cNvSpPr>
          <p:nvPr/>
        </p:nvSpPr>
        <p:spPr>
          <a:xfrm>
            <a:off x="838200" y="5715000"/>
            <a:ext cx="5429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B7280"/>
                </a:solidFill>
                <a:latin typeface="Arial"/>
                <a:ea typeface="Arial"/>
                <a:cs typeface="Arial"/>
              </a:rPr>
              <a:t>Warning 不是可直接忽略的錯誤，也不代表內容未進 main</a:t>
            </a:r>
          </a:p>
        </p:txBody>
      </p:sp>
    </p:spTree>
    <p:extLst>
      <p:ext uri="{BB962C8B-B14F-4D97-AF65-F5344CB8AC3E}">
        <p14:creationId xmlns:p14="http://schemas.microsoft.com/office/powerpoint/2010/main" val="9389448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kicker-18">
            <a:extLst>
              <a:ext uri="{FF2B5EF4-FFF2-40B4-BE49-F238E27FC236}">
                <a16:creationId xmlns:a16="http://schemas.microsoft.com/office/drawing/2014/main" id="{084E9855-6B6B-4362-ADFE-949C3DB98C5A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APPENDIX A4</a:t>
            </a:r>
          </a:p>
        </p:txBody>
      </p:sp>
      <p:sp>
        <p:nvSpPr>
          <p:cNvPr id="2" name="title-18">
            <a:extLst>
              <a:ext uri="{FF2B5EF4-FFF2-40B4-BE49-F238E27FC236}">
                <a16:creationId xmlns:a16="http://schemas.microsoft.com/office/drawing/2014/main" id="{041C0FB5-D532-497D-BD3E-9090411BB45B}"/>
              </a:ext>
            </a:extLst>
          </p:cNvPr>
          <p:cNvSpPr>
            <a:spLocks noGrp="1"/>
          </p:cNvSpPr>
          <p:nvPr/>
        </p:nvSpPr>
        <p:spPr>
          <a:xfrm>
            <a:off x="457200" y="533400"/>
            <a:ext cx="112776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34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pull --ff-only 與 reset：只有條件完整才可對齊</a:t>
            </a:r>
          </a:p>
        </p:txBody>
      </p:sp>
      <p:sp>
        <p:nvSpPr>
          <p:cNvPr id="3" name="header-rule-18">
            <a:extLst>
              <a:ext uri="{FF2B5EF4-FFF2-40B4-BE49-F238E27FC236}">
                <a16:creationId xmlns:a16="http://schemas.microsoft.com/office/drawing/2014/main" id="{A6229AE7-5B81-4791-A345-E82C718CF8BF}"/>
              </a:ext>
            </a:extLst>
          </p:cNvPr>
          <p:cNvSpPr>
            <a:spLocks noGrp="1"/>
          </p:cNvSpPr>
          <p:nvPr/>
        </p:nvSpPr>
        <p:spPr>
          <a:xfrm>
            <a:off x="457200" y="1200150"/>
            <a:ext cx="11277600" cy="1905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footer-label-18">
            <a:extLst>
              <a:ext uri="{FF2B5EF4-FFF2-40B4-BE49-F238E27FC236}">
                <a16:creationId xmlns:a16="http://schemas.microsoft.com/office/drawing/2014/main" id="{B6C8F801-3D38-4A8F-BE65-40BA7452826A}"/>
              </a:ext>
            </a:extLst>
          </p:cNvPr>
          <p:cNvSpPr>
            <a:spLocks noGrp="1"/>
          </p:cNvSpPr>
          <p:nvPr/>
        </p:nvSpPr>
        <p:spPr>
          <a:xfrm>
            <a:off x="457200" y="6391275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endParaRPr/>
          </a:p>
        </p:txBody>
      </p:sp>
      <p:sp>
        <p:nvSpPr>
          <p:cNvPr id="5" name="footer-num-18">
            <a:extLst>
              <a:ext uri="{FF2B5EF4-FFF2-40B4-BE49-F238E27FC236}">
                <a16:creationId xmlns:a16="http://schemas.microsoft.com/office/drawing/2014/main" id="{338AEF8D-14EE-4E66-947C-EB233811610A}"/>
              </a:ext>
            </a:extLst>
          </p:cNvPr>
          <p:cNvSpPr>
            <a:spLocks noGrp="1"/>
          </p:cNvSpPr>
          <p:nvPr/>
        </p:nvSpPr>
        <p:spPr>
          <a:xfrm>
            <a:off x="11163300" y="6372225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05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6" name="a18-ff-box">
            <a:extLst>
              <a:ext uri="{FF2B5EF4-FFF2-40B4-BE49-F238E27FC236}">
                <a16:creationId xmlns:a16="http://schemas.microsoft.com/office/drawing/2014/main" id="{DB64EE15-B531-452E-A93A-8FDDE9798B34}"/>
              </a:ext>
            </a:extLst>
          </p:cNvPr>
          <p:cNvSpPr>
            <a:spLocks noGrp="1"/>
          </p:cNvSpPr>
          <p:nvPr/>
        </p:nvSpPr>
        <p:spPr>
          <a:xfrm>
            <a:off x="457200" y="1676400"/>
            <a:ext cx="4095750" cy="1619250"/>
          </a:xfrm>
          <a:prstGeom prst="roundRect">
            <a:avLst>
              <a:gd name="adj" fmla="val 4706"/>
            </a:avLst>
          </a:prstGeom>
          <a:solidFill>
            <a:srgbClr val="F1F4F7"/>
          </a:solidFill>
          <a:ln w="14288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a18-ff-title">
            <a:extLst>
              <a:ext uri="{FF2B5EF4-FFF2-40B4-BE49-F238E27FC236}">
                <a16:creationId xmlns:a16="http://schemas.microsoft.com/office/drawing/2014/main" id="{0C88748E-EB02-4401-8F2D-F97F95DE0256}"/>
              </a:ext>
            </a:extLst>
          </p:cNvPr>
          <p:cNvSpPr>
            <a:spLocks noGrp="1"/>
          </p:cNvSpPr>
          <p:nvPr/>
        </p:nvSpPr>
        <p:spPr>
          <a:xfrm>
            <a:off x="590550" y="1790700"/>
            <a:ext cx="3829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372"/>
          </a:bodyPr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pull --ff-only</a:t>
            </a:r>
          </a:p>
        </p:txBody>
      </p:sp>
      <p:sp>
        <p:nvSpPr>
          <p:cNvPr id="8" name="a18-ff-subtitle">
            <a:extLst>
              <a:ext uri="{FF2B5EF4-FFF2-40B4-BE49-F238E27FC236}">
                <a16:creationId xmlns:a16="http://schemas.microsoft.com/office/drawing/2014/main" id="{8C3DD4C0-D7B6-4A96-BCA7-BE7A11F46DA4}"/>
              </a:ext>
            </a:extLst>
          </p:cNvPr>
          <p:cNvSpPr>
            <a:spLocks noGrp="1"/>
          </p:cNvSpPr>
          <p:nvPr/>
        </p:nvSpPr>
        <p:spPr>
          <a:xfrm>
            <a:off x="590550" y="2152650"/>
            <a:ext cx="38290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只允許 branch pointer 沿單一路徑前進</a:t>
            </a:r>
          </a:p>
          <a:p>
            <a:pPr algn="l">
              <a:lnSpc>
                <a:spcPct val="105000"/>
              </a:lnSpc>
              <a:buNone/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Diverged history 時拒絕整合</a:t>
            </a:r>
          </a:p>
        </p:txBody>
      </p:sp>
      <p:sp>
        <p:nvSpPr>
          <p:cNvPr id="9" name="a18-reset-box">
            <a:extLst>
              <a:ext uri="{FF2B5EF4-FFF2-40B4-BE49-F238E27FC236}">
                <a16:creationId xmlns:a16="http://schemas.microsoft.com/office/drawing/2014/main" id="{511C014C-02D1-4D53-82B6-BC670D3045CA}"/>
              </a:ext>
            </a:extLst>
          </p:cNvPr>
          <p:cNvSpPr>
            <a:spLocks noGrp="1"/>
          </p:cNvSpPr>
          <p:nvPr/>
        </p:nvSpPr>
        <p:spPr>
          <a:xfrm>
            <a:off x="7639050" y="1676400"/>
            <a:ext cx="4095750" cy="1619250"/>
          </a:xfrm>
          <a:prstGeom prst="roundRect">
            <a:avLst>
              <a:gd name="adj" fmla="val 4706"/>
            </a:avLst>
          </a:prstGeom>
          <a:solidFill>
            <a:srgbClr val="FCE7E5"/>
          </a:solidFill>
          <a:ln w="14288">
            <a:solidFill>
              <a:srgbClr val="C2413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a18-reset-title">
            <a:extLst>
              <a:ext uri="{FF2B5EF4-FFF2-40B4-BE49-F238E27FC236}">
                <a16:creationId xmlns:a16="http://schemas.microsoft.com/office/drawing/2014/main" id="{071138AD-0D56-45A0-ACF9-47F0554D8BE7}"/>
              </a:ext>
            </a:extLst>
          </p:cNvPr>
          <p:cNvSpPr>
            <a:spLocks noGrp="1"/>
          </p:cNvSpPr>
          <p:nvPr/>
        </p:nvSpPr>
        <p:spPr>
          <a:xfrm>
            <a:off x="7772400" y="1790700"/>
            <a:ext cx="3829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372"/>
          </a:bodyPr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C241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2413A"/>
                </a:solidFill>
                <a:latin typeface="Arial"/>
                <a:ea typeface="Arial"/>
                <a:cs typeface="Arial"/>
              </a:rPr>
              <a:t>reset --hard origin/main</a:t>
            </a:r>
          </a:p>
        </p:txBody>
      </p:sp>
      <p:sp>
        <p:nvSpPr>
          <p:cNvPr id="11" name="a18-reset-subtitle">
            <a:extLst>
              <a:ext uri="{FF2B5EF4-FFF2-40B4-BE49-F238E27FC236}">
                <a16:creationId xmlns:a16="http://schemas.microsoft.com/office/drawing/2014/main" id="{AB4E691B-8A19-4196-A69A-FDACC56EFA1C}"/>
              </a:ext>
            </a:extLst>
          </p:cNvPr>
          <p:cNvSpPr>
            <a:spLocks noGrp="1"/>
          </p:cNvSpPr>
          <p:nvPr/>
        </p:nvSpPr>
        <p:spPr>
          <a:xfrm>
            <a:off x="7772400" y="2152650"/>
            <a:ext cx="38290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會覆寫 tracked working tree 與 index</a:t>
            </a:r>
          </a:p>
          <a:p>
            <a:pPr algn="l">
              <a:lnSpc>
                <a:spcPct val="105000"/>
              </a:lnSpc>
              <a:buNone/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不是預設同步動作</a:t>
            </a:r>
          </a:p>
        </p:txBody>
      </p:sp>
      <p:sp>
        <p:nvSpPr>
          <p:cNvPr id="12" name="a18-center">
            <a:extLst>
              <a:ext uri="{FF2B5EF4-FFF2-40B4-BE49-F238E27FC236}">
                <a16:creationId xmlns:a16="http://schemas.microsoft.com/office/drawing/2014/main" id="{BE973EA6-4585-41A7-B8B4-27E2180CF133}"/>
              </a:ext>
            </a:extLst>
          </p:cNvPr>
          <p:cNvSpPr>
            <a:spLocks noGrp="1"/>
          </p:cNvSpPr>
          <p:nvPr/>
        </p:nvSpPr>
        <p:spPr>
          <a:xfrm>
            <a:off x="4667250" y="2324100"/>
            <a:ext cx="2857500" cy="266700"/>
          </a:xfrm>
          <a:prstGeom prst="rightArrow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a18-review-bg">
            <a:extLst>
              <a:ext uri="{FF2B5EF4-FFF2-40B4-BE49-F238E27FC236}">
                <a16:creationId xmlns:a16="http://schemas.microsoft.com/office/drawing/2014/main" id="{58BCB234-5F07-454E-B19C-6260BE3142AF}"/>
              </a:ext>
            </a:extLst>
          </p:cNvPr>
          <p:cNvSpPr>
            <a:spLocks noGrp="1"/>
          </p:cNvSpPr>
          <p:nvPr/>
        </p:nvSpPr>
        <p:spPr>
          <a:xfrm>
            <a:off x="5143500" y="2895600"/>
            <a:ext cx="1905000" cy="381000"/>
          </a:xfrm>
          <a:prstGeom prst="roundRect">
            <a:avLst>
              <a:gd name="adj" fmla="val 20000"/>
            </a:avLst>
          </a:prstGeom>
          <a:solidFill>
            <a:srgbClr val="FFF0D5"/>
          </a:solidFill>
          <a:ln w="9525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a18-review-text">
            <a:extLst>
              <a:ext uri="{FF2B5EF4-FFF2-40B4-BE49-F238E27FC236}">
                <a16:creationId xmlns:a16="http://schemas.microsoft.com/office/drawing/2014/main" id="{3267594E-1BB3-403A-A4E9-D61633E1E378}"/>
              </a:ext>
            </a:extLst>
          </p:cNvPr>
          <p:cNvSpPr>
            <a:spLocks noGrp="1"/>
          </p:cNvSpPr>
          <p:nvPr/>
        </p:nvSpPr>
        <p:spPr>
          <a:xfrm>
            <a:off x="5143500" y="2895600"/>
            <a:ext cx="1905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Human Review</a:t>
            </a:r>
          </a:p>
        </p:txBody>
      </p:sp>
      <p:sp>
        <p:nvSpPr>
          <p:cNvPr id="15" name="a18-c-0-bg">
            <a:extLst>
              <a:ext uri="{FF2B5EF4-FFF2-40B4-BE49-F238E27FC236}">
                <a16:creationId xmlns:a16="http://schemas.microsoft.com/office/drawing/2014/main" id="{9ABE862C-7387-4E4A-9BF3-5D2410254922}"/>
              </a:ext>
            </a:extLst>
          </p:cNvPr>
          <p:cNvSpPr>
            <a:spLocks noGrp="1"/>
          </p:cNvSpPr>
          <p:nvPr/>
        </p:nvSpPr>
        <p:spPr>
          <a:xfrm>
            <a:off x="457200" y="3790950"/>
            <a:ext cx="3505200" cy="590550"/>
          </a:xfrm>
          <a:prstGeom prst="roundRect">
            <a:avLst>
              <a:gd name="adj" fmla="val 12903"/>
            </a:avLst>
          </a:prstGeom>
          <a:solidFill>
            <a:srgbClr val="DCEEFF"/>
          </a:solidFill>
          <a:ln w="9525">
            <a:solidFill>
              <a:srgbClr val="1677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a18-c-0-text">
            <a:extLst>
              <a:ext uri="{FF2B5EF4-FFF2-40B4-BE49-F238E27FC236}">
                <a16:creationId xmlns:a16="http://schemas.microsoft.com/office/drawing/2014/main" id="{97D600DD-2834-420C-99E6-A1911DD0EE30}"/>
              </a:ext>
            </a:extLst>
          </p:cNvPr>
          <p:cNvSpPr>
            <a:spLocks noGrp="1"/>
          </p:cNvSpPr>
          <p:nvPr/>
        </p:nvSpPr>
        <p:spPr>
          <a:xfrm>
            <a:off x="457200" y="3790950"/>
            <a:ext cx="35052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1677D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77D2"/>
                </a:solidFill>
                <a:latin typeface="Arial"/>
                <a:ea typeface="Arial"/>
                <a:cs typeface="Arial"/>
              </a:rPr>
              <a:t>01  已 fetch，target authority 明確</a:t>
            </a:r>
          </a:p>
        </p:txBody>
      </p:sp>
      <p:sp>
        <p:nvSpPr>
          <p:cNvPr id="17" name="a18-c-1-bg">
            <a:extLst>
              <a:ext uri="{FF2B5EF4-FFF2-40B4-BE49-F238E27FC236}">
                <a16:creationId xmlns:a16="http://schemas.microsoft.com/office/drawing/2014/main" id="{96313267-C954-4423-9D16-D5D68BAA328C}"/>
              </a:ext>
            </a:extLst>
          </p:cNvPr>
          <p:cNvSpPr>
            <a:spLocks noGrp="1"/>
          </p:cNvSpPr>
          <p:nvPr/>
        </p:nvSpPr>
        <p:spPr>
          <a:xfrm>
            <a:off x="4267200" y="3790950"/>
            <a:ext cx="3505200" cy="590550"/>
          </a:xfrm>
          <a:prstGeom prst="roundRect">
            <a:avLst>
              <a:gd name="adj" fmla="val 12903"/>
            </a:avLst>
          </a:prstGeom>
          <a:solidFill>
            <a:srgbClr val="DCEEFF"/>
          </a:solidFill>
          <a:ln w="9525">
            <a:solidFill>
              <a:srgbClr val="1677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a18-c-1-text">
            <a:extLst>
              <a:ext uri="{FF2B5EF4-FFF2-40B4-BE49-F238E27FC236}">
                <a16:creationId xmlns:a16="http://schemas.microsoft.com/office/drawing/2014/main" id="{A94F59B7-285A-48B3-92E0-91F9DCB9CF0B}"/>
              </a:ext>
            </a:extLst>
          </p:cNvPr>
          <p:cNvSpPr>
            <a:spLocks noGrp="1"/>
          </p:cNvSpPr>
          <p:nvPr/>
        </p:nvSpPr>
        <p:spPr>
          <a:xfrm>
            <a:off x="4267200" y="3790950"/>
            <a:ext cx="35052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1677D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77D2"/>
                </a:solidFill>
                <a:latin typeface="Arial"/>
                <a:ea typeface="Arial"/>
                <a:cs typeface="Arial"/>
              </a:rPr>
              <a:t>02  目前 branch 正確</a:t>
            </a:r>
          </a:p>
        </p:txBody>
      </p:sp>
      <p:sp>
        <p:nvSpPr>
          <p:cNvPr id="19" name="a18-c-2-bg">
            <a:extLst>
              <a:ext uri="{FF2B5EF4-FFF2-40B4-BE49-F238E27FC236}">
                <a16:creationId xmlns:a16="http://schemas.microsoft.com/office/drawing/2014/main" id="{8A8543E2-E00F-47B5-A64F-CFCEBD008C7E}"/>
              </a:ext>
            </a:extLst>
          </p:cNvPr>
          <p:cNvSpPr>
            <a:spLocks noGrp="1"/>
          </p:cNvSpPr>
          <p:nvPr/>
        </p:nvSpPr>
        <p:spPr>
          <a:xfrm>
            <a:off x="8077200" y="3790950"/>
            <a:ext cx="3505200" cy="590550"/>
          </a:xfrm>
          <a:prstGeom prst="roundRect">
            <a:avLst>
              <a:gd name="adj" fmla="val 12903"/>
            </a:avLst>
          </a:prstGeom>
          <a:solidFill>
            <a:srgbClr val="DCEEFF"/>
          </a:solidFill>
          <a:ln w="9525">
            <a:solidFill>
              <a:srgbClr val="1677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a18-c-2-text">
            <a:extLst>
              <a:ext uri="{FF2B5EF4-FFF2-40B4-BE49-F238E27FC236}">
                <a16:creationId xmlns:a16="http://schemas.microsoft.com/office/drawing/2014/main" id="{18A465DD-EE86-402B-9B70-2C9CC5344B41}"/>
              </a:ext>
            </a:extLst>
          </p:cNvPr>
          <p:cNvSpPr>
            <a:spLocks noGrp="1"/>
          </p:cNvSpPr>
          <p:nvPr/>
        </p:nvSpPr>
        <p:spPr>
          <a:xfrm>
            <a:off x="8077200" y="3790950"/>
            <a:ext cx="35052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1677D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77D2"/>
                </a:solidFill>
                <a:latin typeface="Arial"/>
                <a:ea typeface="Arial"/>
                <a:cs typeface="Arial"/>
              </a:rPr>
              <a:t>03  working tree / index 無需保留變更</a:t>
            </a:r>
          </a:p>
        </p:txBody>
      </p:sp>
      <p:sp>
        <p:nvSpPr>
          <p:cNvPr id="21" name="a18-c-3-bg">
            <a:extLst>
              <a:ext uri="{FF2B5EF4-FFF2-40B4-BE49-F238E27FC236}">
                <a16:creationId xmlns:a16="http://schemas.microsoft.com/office/drawing/2014/main" id="{A00B2C42-2A41-43FC-8E50-392BBE7F67BC}"/>
              </a:ext>
            </a:extLst>
          </p:cNvPr>
          <p:cNvSpPr>
            <a:spLocks noGrp="1"/>
          </p:cNvSpPr>
          <p:nvPr/>
        </p:nvSpPr>
        <p:spPr>
          <a:xfrm>
            <a:off x="457200" y="4686300"/>
            <a:ext cx="3505200" cy="590550"/>
          </a:xfrm>
          <a:prstGeom prst="roundRect">
            <a:avLst>
              <a:gd name="adj" fmla="val 12903"/>
            </a:avLst>
          </a:prstGeom>
          <a:solidFill>
            <a:srgbClr val="DCEEFF"/>
          </a:solidFill>
          <a:ln w="9525">
            <a:solidFill>
              <a:srgbClr val="1677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a18-c-3-text">
            <a:extLst>
              <a:ext uri="{FF2B5EF4-FFF2-40B4-BE49-F238E27FC236}">
                <a16:creationId xmlns:a16="http://schemas.microsoft.com/office/drawing/2014/main" id="{F0F34719-8097-4367-8A91-3D933B35D7E0}"/>
              </a:ext>
            </a:extLst>
          </p:cNvPr>
          <p:cNvSpPr>
            <a:spLocks noGrp="1"/>
          </p:cNvSpPr>
          <p:nvPr/>
        </p:nvSpPr>
        <p:spPr>
          <a:xfrm>
            <a:off x="457200" y="4686300"/>
            <a:ext cx="35052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1677D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77D2"/>
                </a:solidFill>
                <a:latin typeface="Arial"/>
                <a:ea typeface="Arial"/>
                <a:cs typeface="Arial"/>
              </a:rPr>
              <a:t>04  local-only commits 已保存或核准丟棄</a:t>
            </a:r>
          </a:p>
        </p:txBody>
      </p:sp>
      <p:sp>
        <p:nvSpPr>
          <p:cNvPr id="23" name="a18-c-4-bg">
            <a:extLst>
              <a:ext uri="{FF2B5EF4-FFF2-40B4-BE49-F238E27FC236}">
                <a16:creationId xmlns:a16="http://schemas.microsoft.com/office/drawing/2014/main" id="{54DBEE42-2367-4306-BD30-36AC1928F79D}"/>
              </a:ext>
            </a:extLst>
          </p:cNvPr>
          <p:cNvSpPr>
            <a:spLocks noGrp="1"/>
          </p:cNvSpPr>
          <p:nvPr/>
        </p:nvSpPr>
        <p:spPr>
          <a:xfrm>
            <a:off x="4267200" y="4686300"/>
            <a:ext cx="3505200" cy="590550"/>
          </a:xfrm>
          <a:prstGeom prst="roundRect">
            <a:avLst>
              <a:gd name="adj" fmla="val 12903"/>
            </a:avLst>
          </a:prstGeom>
          <a:solidFill>
            <a:srgbClr val="DCEEFF"/>
          </a:solidFill>
          <a:ln w="9525">
            <a:solidFill>
              <a:srgbClr val="1677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a18-c-4-text">
            <a:extLst>
              <a:ext uri="{FF2B5EF4-FFF2-40B4-BE49-F238E27FC236}">
                <a16:creationId xmlns:a16="http://schemas.microsoft.com/office/drawing/2014/main" id="{1E29CC01-B54C-4FFC-A444-DDCBFC9074D3}"/>
              </a:ext>
            </a:extLst>
          </p:cNvPr>
          <p:cNvSpPr>
            <a:spLocks noGrp="1"/>
          </p:cNvSpPr>
          <p:nvPr/>
        </p:nvSpPr>
        <p:spPr>
          <a:xfrm>
            <a:off x="4267200" y="4686300"/>
            <a:ext cx="35052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1677D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77D2"/>
                </a:solidFill>
                <a:latin typeface="Arial"/>
                <a:ea typeface="Arial"/>
                <a:cs typeface="Arial"/>
              </a:rPr>
              <a:t>05  明確人工核准</a:t>
            </a:r>
          </a:p>
        </p:txBody>
      </p:sp>
      <p:sp>
        <p:nvSpPr>
          <p:cNvPr id="25" name="a18-c-5-bg">
            <a:extLst>
              <a:ext uri="{FF2B5EF4-FFF2-40B4-BE49-F238E27FC236}">
                <a16:creationId xmlns:a16="http://schemas.microsoft.com/office/drawing/2014/main" id="{196C8AD1-9DF6-491F-8B08-769904D2FF78}"/>
              </a:ext>
            </a:extLst>
          </p:cNvPr>
          <p:cNvSpPr>
            <a:spLocks noGrp="1"/>
          </p:cNvSpPr>
          <p:nvPr/>
        </p:nvSpPr>
        <p:spPr>
          <a:xfrm>
            <a:off x="8077200" y="4686300"/>
            <a:ext cx="3505200" cy="590550"/>
          </a:xfrm>
          <a:prstGeom prst="roundRect">
            <a:avLst>
              <a:gd name="adj" fmla="val 12903"/>
            </a:avLst>
          </a:prstGeom>
          <a:solidFill>
            <a:srgbClr val="FCE7E5"/>
          </a:solidFill>
          <a:ln w="9525">
            <a:solidFill>
              <a:srgbClr val="C2413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a18-c-5-text">
            <a:extLst>
              <a:ext uri="{FF2B5EF4-FFF2-40B4-BE49-F238E27FC236}">
                <a16:creationId xmlns:a16="http://schemas.microsoft.com/office/drawing/2014/main" id="{8044FB0A-0984-4EA8-8EEE-75C1DB7B179E}"/>
              </a:ext>
            </a:extLst>
          </p:cNvPr>
          <p:cNvSpPr>
            <a:spLocks noGrp="1"/>
          </p:cNvSpPr>
          <p:nvPr/>
        </p:nvSpPr>
        <p:spPr>
          <a:xfrm>
            <a:off x="8077200" y="4686300"/>
            <a:ext cx="35052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C241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2413A"/>
                </a:solidFill>
                <a:latin typeface="Arial"/>
                <a:ea typeface="Arial"/>
                <a:cs typeface="Arial"/>
              </a:rPr>
              <a:t>06  只在 Git repository 內操作</a:t>
            </a:r>
          </a:p>
        </p:txBody>
      </p:sp>
      <p:sp>
        <p:nvSpPr>
          <p:cNvPr id="27" name="a18-runtime-bg">
            <a:extLst>
              <a:ext uri="{FF2B5EF4-FFF2-40B4-BE49-F238E27FC236}">
                <a16:creationId xmlns:a16="http://schemas.microsoft.com/office/drawing/2014/main" id="{CB93A5F4-904E-47A6-AADF-F44A56FCD10A}"/>
              </a:ext>
            </a:extLst>
          </p:cNvPr>
          <p:cNvSpPr>
            <a:spLocks noGrp="1"/>
          </p:cNvSpPr>
          <p:nvPr/>
        </p:nvSpPr>
        <p:spPr>
          <a:xfrm>
            <a:off x="857250" y="5753100"/>
            <a:ext cx="10477500" cy="419100"/>
          </a:xfrm>
          <a:prstGeom prst="roundRect">
            <a:avLst>
              <a:gd name="adj" fmla="val 18182"/>
            </a:avLst>
          </a:prstGeom>
          <a:solidFill>
            <a:srgbClr val="FCE7E5"/>
          </a:solidFill>
          <a:ln w="9525">
            <a:solidFill>
              <a:srgbClr val="C2413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a18-runtime-text">
            <a:extLst>
              <a:ext uri="{FF2B5EF4-FFF2-40B4-BE49-F238E27FC236}">
                <a16:creationId xmlns:a16="http://schemas.microsoft.com/office/drawing/2014/main" id="{7E17EB02-72C1-4D86-A4EF-8FDAABA39531}"/>
              </a:ext>
            </a:extLst>
          </p:cNvPr>
          <p:cNvSpPr>
            <a:spLocks noGrp="1"/>
          </p:cNvSpPr>
          <p:nvPr/>
        </p:nvSpPr>
        <p:spPr>
          <a:xfrm>
            <a:off x="857250" y="5753100"/>
            <a:ext cx="10477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C241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2413A"/>
                </a:solidFill>
                <a:latin typeface="Arial"/>
                <a:ea typeface="Arial"/>
                <a:cs typeface="Arial"/>
              </a:rPr>
              <a:t>/etc/srsran runtime rollback = backup + mapping + approval + deployment + validation；永遠不是 Git reset</a:t>
            </a:r>
          </a:p>
        </p:txBody>
      </p:sp>
    </p:spTree>
    <p:extLst>
      <p:ext uri="{BB962C8B-B14F-4D97-AF65-F5344CB8AC3E}">
        <p14:creationId xmlns:p14="http://schemas.microsoft.com/office/powerpoint/2010/main" val="18997222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kicker-19">
            <a:extLst>
              <a:ext uri="{FF2B5EF4-FFF2-40B4-BE49-F238E27FC236}">
                <a16:creationId xmlns:a16="http://schemas.microsoft.com/office/drawing/2014/main" id="{BE5A21FB-3E59-434F-8B4B-51739F5C35FD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APPENDIX A5</a:t>
            </a:r>
          </a:p>
        </p:txBody>
      </p:sp>
      <p:sp>
        <p:nvSpPr>
          <p:cNvPr id="2" name="title-19">
            <a:extLst>
              <a:ext uri="{FF2B5EF4-FFF2-40B4-BE49-F238E27FC236}">
                <a16:creationId xmlns:a16="http://schemas.microsoft.com/office/drawing/2014/main" id="{98B1B672-0300-4733-A307-B4594DEAACBC}"/>
              </a:ext>
            </a:extLst>
          </p:cNvPr>
          <p:cNvSpPr>
            <a:spLocks noGrp="1"/>
          </p:cNvSpPr>
          <p:nvPr/>
        </p:nvSpPr>
        <p:spPr>
          <a:xfrm>
            <a:off x="457200" y="533400"/>
            <a:ext cx="112776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34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教授 Q&amp;A：先講 evidence，再守 claim boundary</a:t>
            </a:r>
          </a:p>
        </p:txBody>
      </p:sp>
      <p:sp>
        <p:nvSpPr>
          <p:cNvPr id="3" name="header-rule-19">
            <a:extLst>
              <a:ext uri="{FF2B5EF4-FFF2-40B4-BE49-F238E27FC236}">
                <a16:creationId xmlns:a16="http://schemas.microsoft.com/office/drawing/2014/main" id="{AA495B98-31C8-4418-9E0D-0D2449CDCF70}"/>
              </a:ext>
            </a:extLst>
          </p:cNvPr>
          <p:cNvSpPr>
            <a:spLocks noGrp="1"/>
          </p:cNvSpPr>
          <p:nvPr/>
        </p:nvSpPr>
        <p:spPr>
          <a:xfrm>
            <a:off x="457200" y="1200150"/>
            <a:ext cx="11277600" cy="1905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footer-label-19">
            <a:extLst>
              <a:ext uri="{FF2B5EF4-FFF2-40B4-BE49-F238E27FC236}">
                <a16:creationId xmlns:a16="http://schemas.microsoft.com/office/drawing/2014/main" id="{C4C731D6-673B-4B1F-B7A4-C73FC36182DE}"/>
              </a:ext>
            </a:extLst>
          </p:cNvPr>
          <p:cNvSpPr>
            <a:spLocks noGrp="1"/>
          </p:cNvSpPr>
          <p:nvPr/>
        </p:nvSpPr>
        <p:spPr>
          <a:xfrm>
            <a:off x="457200" y="6391275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endParaRPr/>
          </a:p>
        </p:txBody>
      </p:sp>
      <p:sp>
        <p:nvSpPr>
          <p:cNvPr id="5" name="footer-num-19">
            <a:extLst>
              <a:ext uri="{FF2B5EF4-FFF2-40B4-BE49-F238E27FC236}">
                <a16:creationId xmlns:a16="http://schemas.microsoft.com/office/drawing/2014/main" id="{F321EE03-12B7-42EF-8194-CA2975B588CA}"/>
              </a:ext>
            </a:extLst>
          </p:cNvPr>
          <p:cNvSpPr>
            <a:spLocks noGrp="1"/>
          </p:cNvSpPr>
          <p:nvPr/>
        </p:nvSpPr>
        <p:spPr>
          <a:xfrm>
            <a:off x="11163300" y="6372225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05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6" name="a19-q-0">
            <a:extLst>
              <a:ext uri="{FF2B5EF4-FFF2-40B4-BE49-F238E27FC236}">
                <a16:creationId xmlns:a16="http://schemas.microsoft.com/office/drawing/2014/main" id="{9969D42F-7071-4786-87EA-EAEC08487415}"/>
              </a:ext>
            </a:extLst>
          </p:cNvPr>
          <p:cNvSpPr>
            <a:spLocks noGrp="1"/>
          </p:cNvSpPr>
          <p:nvPr/>
        </p:nvSpPr>
        <p:spPr>
          <a:xfrm>
            <a:off x="457200" y="1524000"/>
            <a:ext cx="5410200" cy="1257300"/>
          </a:xfrm>
          <a:prstGeom prst="roundRect">
            <a:avLst>
              <a:gd name="adj" fmla="val 6061"/>
            </a:avLst>
          </a:prstGeom>
          <a:solidFill>
            <a:srgbClr val="F1F4F7"/>
          </a:solidFill>
          <a:ln w="9525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a19-qt-0">
            <a:extLst>
              <a:ext uri="{FF2B5EF4-FFF2-40B4-BE49-F238E27FC236}">
                <a16:creationId xmlns:a16="http://schemas.microsoft.com/office/drawing/2014/main" id="{2328747E-6426-4E0B-8B96-15812B9FBD16}"/>
              </a:ext>
            </a:extLst>
          </p:cNvPr>
          <p:cNvSpPr>
            <a:spLocks noGrp="1"/>
          </p:cNvSpPr>
          <p:nvPr/>
        </p:nvSpPr>
        <p:spPr>
          <a:xfrm>
            <a:off x="628650" y="1676400"/>
            <a:ext cx="5067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為何不直接 rerun？</a:t>
            </a:r>
          </a:p>
        </p:txBody>
      </p:sp>
      <p:sp>
        <p:nvSpPr>
          <p:cNvPr id="8" name="a19-qa-0">
            <a:extLst>
              <a:ext uri="{FF2B5EF4-FFF2-40B4-BE49-F238E27FC236}">
                <a16:creationId xmlns:a16="http://schemas.microsoft.com/office/drawing/2014/main" id="{E03F0507-4503-4495-8099-9670297C22E1}"/>
              </a:ext>
            </a:extLst>
          </p:cNvPr>
          <p:cNvSpPr>
            <a:spLocks noGrp="1"/>
          </p:cNvSpPr>
          <p:nvPr/>
        </p:nvSpPr>
        <p:spPr>
          <a:xfrm>
            <a:off x="628650" y="2076450"/>
            <a:ext cx="50673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現況含 residue；先證明 pairing、version、active selection、ZeroMQ direction。</a:t>
            </a:r>
          </a:p>
        </p:txBody>
      </p:sp>
      <p:sp>
        <p:nvSpPr>
          <p:cNvPr id="9" name="a19-q-1">
            <a:extLst>
              <a:ext uri="{FF2B5EF4-FFF2-40B4-BE49-F238E27FC236}">
                <a16:creationId xmlns:a16="http://schemas.microsoft.com/office/drawing/2014/main" id="{54B64322-5E45-4A68-B6BF-1BD13ADA79D0}"/>
              </a:ext>
            </a:extLst>
          </p:cNvPr>
          <p:cNvSpPr>
            <a:spLocks noGrp="1"/>
          </p:cNvSpPr>
          <p:nvPr/>
        </p:nvSpPr>
        <p:spPr>
          <a:xfrm>
            <a:off x="6096000" y="1524000"/>
            <a:ext cx="5410200" cy="1257300"/>
          </a:xfrm>
          <a:prstGeom prst="roundRect">
            <a:avLst>
              <a:gd name="adj" fmla="val 6061"/>
            </a:avLst>
          </a:prstGeom>
          <a:solidFill>
            <a:srgbClr val="DCEEFF"/>
          </a:solidFill>
          <a:ln w="9525">
            <a:solidFill>
              <a:srgbClr val="1677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a19-qt-1">
            <a:extLst>
              <a:ext uri="{FF2B5EF4-FFF2-40B4-BE49-F238E27FC236}">
                <a16:creationId xmlns:a16="http://schemas.microsoft.com/office/drawing/2014/main" id="{F148BD1B-8948-42F1-95FE-F12762FCABBD}"/>
              </a:ext>
            </a:extLst>
          </p:cNvPr>
          <p:cNvSpPr>
            <a:spLocks noGrp="1"/>
          </p:cNvSpPr>
          <p:nvPr/>
        </p:nvSpPr>
        <p:spPr>
          <a:xfrm>
            <a:off x="6267450" y="1676400"/>
            <a:ext cx="5067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1677D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77D2"/>
                </a:solidFill>
                <a:latin typeface="Arial"/>
                <a:ea typeface="Arial"/>
                <a:cs typeface="Arial"/>
              </a:rPr>
              <a:t>ZeroMQ 傳什麼？</a:t>
            </a:r>
          </a:p>
        </p:txBody>
      </p:sp>
      <p:sp>
        <p:nvSpPr>
          <p:cNvPr id="11" name="a19-qa-1">
            <a:extLst>
              <a:ext uri="{FF2B5EF4-FFF2-40B4-BE49-F238E27FC236}">
                <a16:creationId xmlns:a16="http://schemas.microsoft.com/office/drawing/2014/main" id="{5716FBBC-A2A8-4D54-AE95-4A3E165C2C22}"/>
              </a:ext>
            </a:extLst>
          </p:cNvPr>
          <p:cNvSpPr>
            <a:spLocks noGrp="1"/>
          </p:cNvSpPr>
          <p:nvPr/>
        </p:nvSpPr>
        <p:spPr>
          <a:xfrm>
            <a:off x="6267450" y="2076450"/>
            <a:ext cx="50673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eNB / UE 間 baseband RF samples；不是 Internet、S1 或實體 OTA。</a:t>
            </a:r>
          </a:p>
        </p:txBody>
      </p:sp>
      <p:sp>
        <p:nvSpPr>
          <p:cNvPr id="12" name="a19-q-2">
            <a:extLst>
              <a:ext uri="{FF2B5EF4-FFF2-40B4-BE49-F238E27FC236}">
                <a16:creationId xmlns:a16="http://schemas.microsoft.com/office/drawing/2014/main" id="{90F28CB7-677D-4DF1-8220-305ED458DE3B}"/>
              </a:ext>
            </a:extLst>
          </p:cNvPr>
          <p:cNvSpPr>
            <a:spLocks noGrp="1"/>
          </p:cNvSpPr>
          <p:nvPr/>
        </p:nvSpPr>
        <p:spPr>
          <a:xfrm>
            <a:off x="457200" y="2990850"/>
            <a:ext cx="5410200" cy="1257300"/>
          </a:xfrm>
          <a:prstGeom prst="roundRect">
            <a:avLst>
              <a:gd name="adj" fmla="val 6061"/>
            </a:avLst>
          </a:prstGeom>
          <a:solidFill>
            <a:srgbClr val="F1F4F7"/>
          </a:solidFill>
          <a:ln w="9525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a19-qt-2">
            <a:extLst>
              <a:ext uri="{FF2B5EF4-FFF2-40B4-BE49-F238E27FC236}">
                <a16:creationId xmlns:a16="http://schemas.microsoft.com/office/drawing/2014/main" id="{F8B2DC98-AB83-4FBD-BF0D-8847A70FF37B}"/>
              </a:ext>
            </a:extLst>
          </p:cNvPr>
          <p:cNvSpPr>
            <a:spLocks noGrp="1"/>
          </p:cNvSpPr>
          <p:nvPr/>
        </p:nvSpPr>
        <p:spPr>
          <a:xfrm>
            <a:off x="628650" y="3143250"/>
            <a:ext cx="5067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600–700 ms 是 URLLC？</a:t>
            </a:r>
          </a:p>
        </p:txBody>
      </p:sp>
      <p:sp>
        <p:nvSpPr>
          <p:cNvPr id="14" name="a19-qa-2">
            <a:extLst>
              <a:ext uri="{FF2B5EF4-FFF2-40B4-BE49-F238E27FC236}">
                <a16:creationId xmlns:a16="http://schemas.microsoft.com/office/drawing/2014/main" id="{DADB0F60-6857-4CDC-A9ED-F90C8EB6C249}"/>
              </a:ext>
            </a:extLst>
          </p:cNvPr>
          <p:cNvSpPr>
            <a:spLocks noGrp="1"/>
          </p:cNvSpPr>
          <p:nvPr/>
        </p:nvSpPr>
        <p:spPr>
          <a:xfrm>
            <a:off x="628650" y="3543300"/>
            <a:ext cx="50673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不是；僅是 limited ICMP connectivity observation，loss 0%。</a:t>
            </a:r>
          </a:p>
        </p:txBody>
      </p:sp>
      <p:sp>
        <p:nvSpPr>
          <p:cNvPr id="15" name="a19-q-3">
            <a:extLst>
              <a:ext uri="{FF2B5EF4-FFF2-40B4-BE49-F238E27FC236}">
                <a16:creationId xmlns:a16="http://schemas.microsoft.com/office/drawing/2014/main" id="{140737DF-204D-4625-B1E0-38898104F490}"/>
              </a:ext>
            </a:extLst>
          </p:cNvPr>
          <p:cNvSpPr>
            <a:spLocks noGrp="1"/>
          </p:cNvSpPr>
          <p:nvPr/>
        </p:nvSpPr>
        <p:spPr>
          <a:xfrm>
            <a:off x="6096000" y="2990850"/>
            <a:ext cx="5410200" cy="1257300"/>
          </a:xfrm>
          <a:prstGeom prst="roundRect">
            <a:avLst>
              <a:gd name="adj" fmla="val 6061"/>
            </a:avLst>
          </a:prstGeom>
          <a:solidFill>
            <a:srgbClr val="DCEEFF"/>
          </a:solidFill>
          <a:ln w="9525">
            <a:solidFill>
              <a:srgbClr val="1677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a19-qt-3">
            <a:extLst>
              <a:ext uri="{FF2B5EF4-FFF2-40B4-BE49-F238E27FC236}">
                <a16:creationId xmlns:a16="http://schemas.microsoft.com/office/drawing/2014/main" id="{34806927-5F4B-4769-B3F8-97A86C1E2283}"/>
              </a:ext>
            </a:extLst>
          </p:cNvPr>
          <p:cNvSpPr>
            <a:spLocks noGrp="1"/>
          </p:cNvSpPr>
          <p:nvPr/>
        </p:nvSpPr>
        <p:spPr>
          <a:xfrm>
            <a:off x="6267450" y="3143250"/>
            <a:ext cx="5067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1677D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77D2"/>
                </a:solidFill>
                <a:latin typeface="Arial"/>
                <a:ea typeface="Arial"/>
                <a:cs typeface="Arial"/>
              </a:rPr>
              <a:t>MBMS startup 代表驗證？</a:t>
            </a:r>
          </a:p>
        </p:txBody>
      </p:sp>
      <p:sp>
        <p:nvSpPr>
          <p:cNvPr id="17" name="a19-qa-3">
            <a:extLst>
              <a:ext uri="{FF2B5EF4-FFF2-40B4-BE49-F238E27FC236}">
                <a16:creationId xmlns:a16="http://schemas.microsoft.com/office/drawing/2014/main" id="{2D4F235A-0727-43D4-A435-5DEE2DC91AEB}"/>
              </a:ext>
            </a:extLst>
          </p:cNvPr>
          <p:cNvSpPr>
            <a:spLocks noGrp="1"/>
          </p:cNvSpPr>
          <p:nvPr/>
        </p:nvSpPr>
        <p:spPr>
          <a:xfrm>
            <a:off x="6267450" y="3543300"/>
            <a:ext cx="50673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不代表；缺少 signaling、multicast path 與 UE reception evidence。</a:t>
            </a:r>
          </a:p>
        </p:txBody>
      </p:sp>
      <p:sp>
        <p:nvSpPr>
          <p:cNvPr id="18" name="a19-q-4">
            <a:extLst>
              <a:ext uri="{FF2B5EF4-FFF2-40B4-BE49-F238E27FC236}">
                <a16:creationId xmlns:a16="http://schemas.microsoft.com/office/drawing/2014/main" id="{771098C3-FEFB-4D3A-AEFA-28F8BA55BC3C}"/>
              </a:ext>
            </a:extLst>
          </p:cNvPr>
          <p:cNvSpPr>
            <a:spLocks noGrp="1"/>
          </p:cNvSpPr>
          <p:nvPr/>
        </p:nvSpPr>
        <p:spPr>
          <a:xfrm>
            <a:off x="457200" y="4457700"/>
            <a:ext cx="5410200" cy="1257300"/>
          </a:xfrm>
          <a:prstGeom prst="roundRect">
            <a:avLst>
              <a:gd name="adj" fmla="val 6061"/>
            </a:avLst>
          </a:prstGeom>
          <a:solidFill>
            <a:srgbClr val="F1F4F7"/>
          </a:solidFill>
          <a:ln w="9525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a19-qt-4">
            <a:extLst>
              <a:ext uri="{FF2B5EF4-FFF2-40B4-BE49-F238E27FC236}">
                <a16:creationId xmlns:a16="http://schemas.microsoft.com/office/drawing/2014/main" id="{376E7BAF-3961-4C9D-8B32-D84FBBF7CE84}"/>
              </a:ext>
            </a:extLst>
          </p:cNvPr>
          <p:cNvSpPr>
            <a:spLocks noGrp="1"/>
          </p:cNvSpPr>
          <p:nvPr/>
        </p:nvSpPr>
        <p:spPr>
          <a:xfrm>
            <a:off x="628650" y="4610100"/>
            <a:ext cx="5067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Codex 做了什麼？</a:t>
            </a:r>
          </a:p>
        </p:txBody>
      </p:sp>
      <p:sp>
        <p:nvSpPr>
          <p:cNvPr id="20" name="a19-qa-4">
            <a:extLst>
              <a:ext uri="{FF2B5EF4-FFF2-40B4-BE49-F238E27FC236}">
                <a16:creationId xmlns:a16="http://schemas.microsoft.com/office/drawing/2014/main" id="{AFD99CA9-71C6-4F39-956D-4C06C63D3E78}"/>
              </a:ext>
            </a:extLst>
          </p:cNvPr>
          <p:cNvSpPr>
            <a:spLocks noGrp="1"/>
          </p:cNvSpPr>
          <p:nvPr/>
        </p:nvSpPr>
        <p:spPr>
          <a:xfrm>
            <a:off x="628650" y="5010150"/>
            <a:ext cx="50673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讀規範、整理 evidence、產生可審查工作；Human 保留 approval。</a:t>
            </a:r>
          </a:p>
        </p:txBody>
      </p:sp>
      <p:sp>
        <p:nvSpPr>
          <p:cNvPr id="21" name="a19-q-5">
            <a:extLst>
              <a:ext uri="{FF2B5EF4-FFF2-40B4-BE49-F238E27FC236}">
                <a16:creationId xmlns:a16="http://schemas.microsoft.com/office/drawing/2014/main" id="{CF43ADDA-5FEC-4953-A8BE-4BC7F390BA48}"/>
              </a:ext>
            </a:extLst>
          </p:cNvPr>
          <p:cNvSpPr>
            <a:spLocks noGrp="1"/>
          </p:cNvSpPr>
          <p:nvPr/>
        </p:nvSpPr>
        <p:spPr>
          <a:xfrm>
            <a:off x="6096000" y="4457700"/>
            <a:ext cx="5410200" cy="1257300"/>
          </a:xfrm>
          <a:prstGeom prst="roundRect">
            <a:avLst>
              <a:gd name="adj" fmla="val 6061"/>
            </a:avLst>
          </a:prstGeom>
          <a:solidFill>
            <a:srgbClr val="DCEEFF"/>
          </a:solidFill>
          <a:ln w="9525">
            <a:solidFill>
              <a:srgbClr val="1677D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a19-qt-5">
            <a:extLst>
              <a:ext uri="{FF2B5EF4-FFF2-40B4-BE49-F238E27FC236}">
                <a16:creationId xmlns:a16="http://schemas.microsoft.com/office/drawing/2014/main" id="{83B7199F-FA9B-4F39-AB49-EA2CBFEA93B5}"/>
              </a:ext>
            </a:extLst>
          </p:cNvPr>
          <p:cNvSpPr>
            <a:spLocks noGrp="1"/>
          </p:cNvSpPr>
          <p:nvPr/>
        </p:nvSpPr>
        <p:spPr>
          <a:xfrm>
            <a:off x="6267450" y="4610100"/>
            <a:ext cx="5067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1677D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77D2"/>
                </a:solidFill>
                <a:latin typeface="Arial"/>
                <a:ea typeface="Arial"/>
                <a:cs typeface="Arial"/>
              </a:rPr>
              <a:t>下一步做什麼？</a:t>
            </a:r>
          </a:p>
        </p:txBody>
      </p:sp>
      <p:sp>
        <p:nvSpPr>
          <p:cNvPr id="23" name="a19-qa-5">
            <a:extLst>
              <a:ext uri="{FF2B5EF4-FFF2-40B4-BE49-F238E27FC236}">
                <a16:creationId xmlns:a16="http://schemas.microsoft.com/office/drawing/2014/main" id="{C894A2B9-38D5-4471-B2DE-2AC1478B3FA8}"/>
              </a:ext>
            </a:extLst>
          </p:cNvPr>
          <p:cNvSpPr>
            <a:spLocks noGrp="1"/>
          </p:cNvSpPr>
          <p:nvPr/>
        </p:nvSpPr>
        <p:spPr>
          <a:xfrm>
            <a:off x="6267450" y="5010150"/>
            <a:ext cx="50673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選一個 narrow scope，定義 package，取得新核准後才執行。</a:t>
            </a:r>
          </a:p>
        </p:txBody>
      </p:sp>
      <p:sp>
        <p:nvSpPr>
          <p:cNvPr id="24" name="a19-note">
            <a:extLst>
              <a:ext uri="{FF2B5EF4-FFF2-40B4-BE49-F238E27FC236}">
                <a16:creationId xmlns:a16="http://schemas.microsoft.com/office/drawing/2014/main" id="{C887DE92-ECE8-4300-8892-A6DECCA35282}"/>
              </a:ext>
            </a:extLst>
          </p:cNvPr>
          <p:cNvSpPr>
            <a:spLocks noGrp="1"/>
          </p:cNvSpPr>
          <p:nvPr/>
        </p:nvSpPr>
        <p:spPr>
          <a:xfrm>
            <a:off x="7334250" y="6057900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120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完整 23 題回答方向見 reviewed professor Q&amp;A source</a:t>
            </a:r>
          </a:p>
        </p:txBody>
      </p:sp>
    </p:spTree>
    <p:extLst>
      <p:ext uri="{BB962C8B-B14F-4D97-AF65-F5344CB8AC3E}">
        <p14:creationId xmlns:p14="http://schemas.microsoft.com/office/powerpoint/2010/main" val="14814396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kicker-20">
            <a:extLst>
              <a:ext uri="{FF2B5EF4-FFF2-40B4-BE49-F238E27FC236}">
                <a16:creationId xmlns:a16="http://schemas.microsoft.com/office/drawing/2014/main" id="{D92AF96B-98AF-4018-B52A-8055161B2BD9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APPENDIX A6</a:t>
            </a:r>
          </a:p>
        </p:txBody>
      </p:sp>
      <p:sp>
        <p:nvSpPr>
          <p:cNvPr id="2" name="title-20">
            <a:extLst>
              <a:ext uri="{FF2B5EF4-FFF2-40B4-BE49-F238E27FC236}">
                <a16:creationId xmlns:a16="http://schemas.microsoft.com/office/drawing/2014/main" id="{F36D1FC9-5BCE-4A6E-820B-6425203C2EDF}"/>
              </a:ext>
            </a:extLst>
          </p:cNvPr>
          <p:cNvSpPr>
            <a:spLocks noGrp="1"/>
          </p:cNvSpPr>
          <p:nvPr/>
        </p:nvSpPr>
        <p:spPr>
          <a:xfrm>
            <a:off x="457200" y="533400"/>
            <a:ext cx="112776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438"/>
          </a:bodyPr>
          <a:lstStyle/>
          <a:p>
            <a:pPr algn="l">
              <a:lnSpc>
                <a:spcPct val="105000"/>
              </a:lnSpc>
              <a:buNone/>
              <a:defRPr sz="34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Completed 與 not-completed：同一張表看清楚成果邊界</a:t>
            </a:r>
          </a:p>
        </p:txBody>
      </p:sp>
      <p:sp>
        <p:nvSpPr>
          <p:cNvPr id="3" name="header-rule-20">
            <a:extLst>
              <a:ext uri="{FF2B5EF4-FFF2-40B4-BE49-F238E27FC236}">
                <a16:creationId xmlns:a16="http://schemas.microsoft.com/office/drawing/2014/main" id="{5B937886-A129-4D63-B29F-7E2FB3BA30CB}"/>
              </a:ext>
            </a:extLst>
          </p:cNvPr>
          <p:cNvSpPr>
            <a:spLocks noGrp="1"/>
          </p:cNvSpPr>
          <p:nvPr/>
        </p:nvSpPr>
        <p:spPr>
          <a:xfrm>
            <a:off x="457200" y="1200150"/>
            <a:ext cx="11277600" cy="1905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footer-label-20">
            <a:extLst>
              <a:ext uri="{FF2B5EF4-FFF2-40B4-BE49-F238E27FC236}">
                <a16:creationId xmlns:a16="http://schemas.microsoft.com/office/drawing/2014/main" id="{CD86B8D9-BA6E-4410-B9F7-C603D3F33970}"/>
              </a:ext>
            </a:extLst>
          </p:cNvPr>
          <p:cNvSpPr>
            <a:spLocks noGrp="1"/>
          </p:cNvSpPr>
          <p:nvPr/>
        </p:nvSpPr>
        <p:spPr>
          <a:xfrm>
            <a:off x="457200" y="6391275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endParaRPr/>
          </a:p>
        </p:txBody>
      </p:sp>
      <p:sp>
        <p:nvSpPr>
          <p:cNvPr id="5" name="footer-num-20">
            <a:extLst>
              <a:ext uri="{FF2B5EF4-FFF2-40B4-BE49-F238E27FC236}">
                <a16:creationId xmlns:a16="http://schemas.microsoft.com/office/drawing/2014/main" id="{B89EE95C-5126-4CFD-9743-DCDA7E0FE70E}"/>
              </a:ext>
            </a:extLst>
          </p:cNvPr>
          <p:cNvSpPr>
            <a:spLocks noGrp="1"/>
          </p:cNvSpPr>
          <p:nvPr/>
        </p:nvSpPr>
        <p:spPr>
          <a:xfrm>
            <a:off x="11163300" y="6372225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05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6" name="a20-pass-h">
            <a:extLst>
              <a:ext uri="{FF2B5EF4-FFF2-40B4-BE49-F238E27FC236}">
                <a16:creationId xmlns:a16="http://schemas.microsoft.com/office/drawing/2014/main" id="{A988ED67-1198-4EB7-B1D2-C7FBA7D3F643}"/>
              </a:ext>
            </a:extLst>
          </p:cNvPr>
          <p:cNvSpPr>
            <a:spLocks noGrp="1"/>
          </p:cNvSpPr>
          <p:nvPr/>
        </p:nvSpPr>
        <p:spPr>
          <a:xfrm>
            <a:off x="457200" y="1543050"/>
            <a:ext cx="5334000" cy="438150"/>
          </a:xfrm>
          <a:prstGeom prst="rect">
            <a:avLst/>
          </a:prstGeom>
          <a:solidFill>
            <a:srgbClr val="16865B"/>
          </a:solidFill>
          <a:ln w="9525">
            <a:solidFill>
              <a:srgbClr val="16865B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SUPPORTED / COMPLETED</a:t>
            </a:r>
          </a:p>
        </p:txBody>
      </p:sp>
      <p:sp>
        <p:nvSpPr>
          <p:cNvPr id="7" name="a20-not-h">
            <a:extLst>
              <a:ext uri="{FF2B5EF4-FFF2-40B4-BE49-F238E27FC236}">
                <a16:creationId xmlns:a16="http://schemas.microsoft.com/office/drawing/2014/main" id="{F53BB06B-17BF-44F4-B1C2-AE5F5EFB1724}"/>
              </a:ext>
            </a:extLst>
          </p:cNvPr>
          <p:cNvSpPr>
            <a:spLocks noGrp="1"/>
          </p:cNvSpPr>
          <p:nvPr/>
        </p:nvSpPr>
        <p:spPr>
          <a:xfrm>
            <a:off x="5943600" y="1543050"/>
            <a:ext cx="5791200" cy="438150"/>
          </a:xfrm>
          <a:prstGeom prst="rect">
            <a:avLst/>
          </a:prstGeom>
          <a:solidFill>
            <a:srgbClr val="6B7280"/>
          </a:solidFill>
          <a:ln w="9525">
            <a:solidFill>
              <a:srgbClr val="6B7280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NOT TESTED / NOT COMPLETED</a:t>
            </a:r>
          </a:p>
        </p:txBody>
      </p:sp>
      <p:sp>
        <p:nvSpPr>
          <p:cNvPr id="8" name="a20-p-0-bg">
            <a:extLst>
              <a:ext uri="{FF2B5EF4-FFF2-40B4-BE49-F238E27FC236}">
                <a16:creationId xmlns:a16="http://schemas.microsoft.com/office/drawing/2014/main" id="{2BE36AA0-834B-452A-A6DB-14B7EA5C06A0}"/>
              </a:ext>
            </a:extLst>
          </p:cNvPr>
          <p:cNvSpPr>
            <a:spLocks noGrp="1"/>
          </p:cNvSpPr>
          <p:nvPr/>
        </p:nvSpPr>
        <p:spPr>
          <a:xfrm>
            <a:off x="609600" y="2152650"/>
            <a:ext cx="5029200" cy="438150"/>
          </a:xfrm>
          <a:prstGeom prst="roundRect">
            <a:avLst>
              <a:gd name="adj" fmla="val 17391"/>
            </a:avLst>
          </a:prstGeom>
          <a:solidFill>
            <a:srgbClr val="DDF5EA"/>
          </a:solidFill>
          <a:ln w="9525">
            <a:solidFill>
              <a:srgbClr val="16865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a20-p-0-text">
            <a:extLst>
              <a:ext uri="{FF2B5EF4-FFF2-40B4-BE49-F238E27FC236}">
                <a16:creationId xmlns:a16="http://schemas.microsoft.com/office/drawing/2014/main" id="{22A55832-E8DC-4BCF-BC77-5EED115D3D5E}"/>
              </a:ext>
            </a:extLst>
          </p:cNvPr>
          <p:cNvSpPr>
            <a:spLocks noGrp="1"/>
          </p:cNvSpPr>
          <p:nvPr/>
        </p:nvSpPr>
        <p:spPr>
          <a:xfrm>
            <a:off x="609600" y="2152650"/>
            <a:ext cx="5029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16865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865B"/>
                </a:solidFill>
                <a:latin typeface="Arial"/>
                <a:ea typeface="Arial"/>
                <a:cs typeface="Arial"/>
              </a:rPr>
              <a:t>✓  Management / sample connectivity</a:t>
            </a:r>
          </a:p>
        </p:txBody>
      </p:sp>
      <p:sp>
        <p:nvSpPr>
          <p:cNvPr id="10" name="a20-p-1-bg">
            <a:extLst>
              <a:ext uri="{FF2B5EF4-FFF2-40B4-BE49-F238E27FC236}">
                <a16:creationId xmlns:a16="http://schemas.microsoft.com/office/drawing/2014/main" id="{11BB6610-04B0-4F64-8564-27BAC915EAEC}"/>
              </a:ext>
            </a:extLst>
          </p:cNvPr>
          <p:cNvSpPr>
            <a:spLocks noGrp="1"/>
          </p:cNvSpPr>
          <p:nvPr/>
        </p:nvSpPr>
        <p:spPr>
          <a:xfrm>
            <a:off x="609600" y="2724150"/>
            <a:ext cx="5029200" cy="438150"/>
          </a:xfrm>
          <a:prstGeom prst="roundRect">
            <a:avLst>
              <a:gd name="adj" fmla="val 17391"/>
            </a:avLst>
          </a:prstGeom>
          <a:solidFill>
            <a:srgbClr val="DDF5EA"/>
          </a:solidFill>
          <a:ln w="9525">
            <a:solidFill>
              <a:srgbClr val="16865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a20-p-1-text">
            <a:extLst>
              <a:ext uri="{FF2B5EF4-FFF2-40B4-BE49-F238E27FC236}">
                <a16:creationId xmlns:a16="http://schemas.microsoft.com/office/drawing/2014/main" id="{2369F83A-F673-4417-B6B8-BBEF4B6D2756}"/>
              </a:ext>
            </a:extLst>
          </p:cNvPr>
          <p:cNvSpPr>
            <a:spLocks noGrp="1"/>
          </p:cNvSpPr>
          <p:nvPr/>
        </p:nvSpPr>
        <p:spPr>
          <a:xfrm>
            <a:off x="609600" y="2724150"/>
            <a:ext cx="5029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16865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865B"/>
                </a:solidFill>
                <a:latin typeface="Arial"/>
                <a:ea typeface="Arial"/>
                <a:cs typeface="Arial"/>
              </a:rPr>
              <a:t>✓  EPC · eNB · UE initialization</a:t>
            </a:r>
          </a:p>
        </p:txBody>
      </p:sp>
      <p:sp>
        <p:nvSpPr>
          <p:cNvPr id="12" name="a20-p-2-bg">
            <a:extLst>
              <a:ext uri="{FF2B5EF4-FFF2-40B4-BE49-F238E27FC236}">
                <a16:creationId xmlns:a16="http://schemas.microsoft.com/office/drawing/2014/main" id="{2D5281A1-77B6-4254-979F-B55FCD6900DE}"/>
              </a:ext>
            </a:extLst>
          </p:cNvPr>
          <p:cNvSpPr>
            <a:spLocks noGrp="1"/>
          </p:cNvSpPr>
          <p:nvPr/>
        </p:nvSpPr>
        <p:spPr>
          <a:xfrm>
            <a:off x="609600" y="3295650"/>
            <a:ext cx="5029200" cy="438150"/>
          </a:xfrm>
          <a:prstGeom prst="roundRect">
            <a:avLst>
              <a:gd name="adj" fmla="val 17391"/>
            </a:avLst>
          </a:prstGeom>
          <a:solidFill>
            <a:srgbClr val="DDF5EA"/>
          </a:solidFill>
          <a:ln w="9525">
            <a:solidFill>
              <a:srgbClr val="16865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a20-p-2-text">
            <a:extLst>
              <a:ext uri="{FF2B5EF4-FFF2-40B4-BE49-F238E27FC236}">
                <a16:creationId xmlns:a16="http://schemas.microsoft.com/office/drawing/2014/main" id="{DA7213CE-ED37-41C9-A276-43F0D3412F70}"/>
              </a:ext>
            </a:extLst>
          </p:cNvPr>
          <p:cNvSpPr>
            <a:spLocks noGrp="1"/>
          </p:cNvSpPr>
          <p:nvPr/>
        </p:nvSpPr>
        <p:spPr>
          <a:xfrm>
            <a:off x="609600" y="3295650"/>
            <a:ext cx="5029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16865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865B"/>
                </a:solidFill>
                <a:latin typeface="Arial"/>
                <a:ea typeface="Arial"/>
                <a:cs typeface="Arial"/>
              </a:rPr>
              <a:t>✓  ZeroMQ · cell search · RA · RRC · Attach</a:t>
            </a:r>
          </a:p>
        </p:txBody>
      </p:sp>
      <p:sp>
        <p:nvSpPr>
          <p:cNvPr id="14" name="a20-p-3-bg">
            <a:extLst>
              <a:ext uri="{FF2B5EF4-FFF2-40B4-BE49-F238E27FC236}">
                <a16:creationId xmlns:a16="http://schemas.microsoft.com/office/drawing/2014/main" id="{C4347C1F-5A3B-452C-93E9-E14D3868C6D5}"/>
              </a:ext>
            </a:extLst>
          </p:cNvPr>
          <p:cNvSpPr>
            <a:spLocks noGrp="1"/>
          </p:cNvSpPr>
          <p:nvPr/>
        </p:nvSpPr>
        <p:spPr>
          <a:xfrm>
            <a:off x="609600" y="3867150"/>
            <a:ext cx="5029200" cy="438150"/>
          </a:xfrm>
          <a:prstGeom prst="roundRect">
            <a:avLst>
              <a:gd name="adj" fmla="val 17391"/>
            </a:avLst>
          </a:prstGeom>
          <a:solidFill>
            <a:srgbClr val="DDF5EA"/>
          </a:solidFill>
          <a:ln w="9525">
            <a:solidFill>
              <a:srgbClr val="16865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a20-p-3-text">
            <a:extLst>
              <a:ext uri="{FF2B5EF4-FFF2-40B4-BE49-F238E27FC236}">
                <a16:creationId xmlns:a16="http://schemas.microsoft.com/office/drawing/2014/main" id="{E20A38B6-0139-48F2-954D-28C56680BC91}"/>
              </a:ext>
            </a:extLst>
          </p:cNvPr>
          <p:cNvSpPr>
            <a:spLocks noGrp="1"/>
          </p:cNvSpPr>
          <p:nvPr/>
        </p:nvSpPr>
        <p:spPr>
          <a:xfrm>
            <a:off x="609600" y="3867150"/>
            <a:ext cx="5029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16865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865B"/>
                </a:solidFill>
                <a:latin typeface="Arial"/>
                <a:ea typeface="Arial"/>
                <a:cs typeface="Arial"/>
              </a:rPr>
              <a:t>✓  IP assignment · bidirectional ICMP</a:t>
            </a:r>
          </a:p>
        </p:txBody>
      </p:sp>
      <p:sp>
        <p:nvSpPr>
          <p:cNvPr id="16" name="a20-p-4-bg">
            <a:extLst>
              <a:ext uri="{FF2B5EF4-FFF2-40B4-BE49-F238E27FC236}">
                <a16:creationId xmlns:a16="http://schemas.microsoft.com/office/drawing/2014/main" id="{DF9B853D-C5C5-4A81-86E0-CBB5D53F7CF9}"/>
              </a:ext>
            </a:extLst>
          </p:cNvPr>
          <p:cNvSpPr>
            <a:spLocks noGrp="1"/>
          </p:cNvSpPr>
          <p:nvPr/>
        </p:nvSpPr>
        <p:spPr>
          <a:xfrm>
            <a:off x="609600" y="4438650"/>
            <a:ext cx="5029200" cy="438150"/>
          </a:xfrm>
          <a:prstGeom prst="roundRect">
            <a:avLst>
              <a:gd name="adj" fmla="val 17391"/>
            </a:avLst>
          </a:prstGeom>
          <a:solidFill>
            <a:srgbClr val="DDF5EA"/>
          </a:solidFill>
          <a:ln w="9525">
            <a:solidFill>
              <a:srgbClr val="16865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a20-p-4-text">
            <a:extLst>
              <a:ext uri="{FF2B5EF4-FFF2-40B4-BE49-F238E27FC236}">
                <a16:creationId xmlns:a16="http://schemas.microsoft.com/office/drawing/2014/main" id="{FBC2F680-39F1-4D3A-B12F-F94227AFAE64}"/>
              </a:ext>
            </a:extLst>
          </p:cNvPr>
          <p:cNvSpPr>
            <a:spLocks noGrp="1"/>
          </p:cNvSpPr>
          <p:nvPr/>
        </p:nvSpPr>
        <p:spPr>
          <a:xfrm>
            <a:off x="609600" y="4438650"/>
            <a:ext cx="5029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16865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865B"/>
                </a:solidFill>
                <a:latin typeface="Arial"/>
                <a:ea typeface="Arial"/>
                <a:cs typeface="Arial"/>
              </a:rPr>
              <a:t>✓  0% packet loss；RTT observation only</a:t>
            </a:r>
          </a:p>
        </p:txBody>
      </p:sp>
      <p:sp>
        <p:nvSpPr>
          <p:cNvPr id="18" name="a20-p-5-bg">
            <a:extLst>
              <a:ext uri="{FF2B5EF4-FFF2-40B4-BE49-F238E27FC236}">
                <a16:creationId xmlns:a16="http://schemas.microsoft.com/office/drawing/2014/main" id="{1307BC2C-1727-4B94-915B-F350FC0E2398}"/>
              </a:ext>
            </a:extLst>
          </p:cNvPr>
          <p:cNvSpPr>
            <a:spLocks noGrp="1"/>
          </p:cNvSpPr>
          <p:nvPr/>
        </p:nvSpPr>
        <p:spPr>
          <a:xfrm>
            <a:off x="609600" y="5010150"/>
            <a:ext cx="5029200" cy="438150"/>
          </a:xfrm>
          <a:prstGeom prst="roundRect">
            <a:avLst>
              <a:gd name="adj" fmla="val 17391"/>
            </a:avLst>
          </a:prstGeom>
          <a:solidFill>
            <a:srgbClr val="DDF5EA"/>
          </a:solidFill>
          <a:ln w="9525">
            <a:solidFill>
              <a:srgbClr val="16865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a20-p-5-text">
            <a:extLst>
              <a:ext uri="{FF2B5EF4-FFF2-40B4-BE49-F238E27FC236}">
                <a16:creationId xmlns:a16="http://schemas.microsoft.com/office/drawing/2014/main" id="{143954B9-B511-405C-AC60-7A124E2074FB}"/>
              </a:ext>
            </a:extLst>
          </p:cNvPr>
          <p:cNvSpPr>
            <a:spLocks noGrp="1"/>
          </p:cNvSpPr>
          <p:nvPr/>
        </p:nvSpPr>
        <p:spPr>
          <a:xfrm>
            <a:off x="609600" y="5010150"/>
            <a:ext cx="5029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16865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865B"/>
                </a:solidFill>
                <a:latin typeface="Arial"/>
                <a:ea typeface="Arial"/>
                <a:cs typeface="Arial"/>
              </a:rPr>
              <a:t>✓  Controlled shutdown；services stopped</a:t>
            </a:r>
          </a:p>
        </p:txBody>
      </p:sp>
      <p:sp>
        <p:nvSpPr>
          <p:cNvPr id="20" name="a20-n-0-bg">
            <a:extLst>
              <a:ext uri="{FF2B5EF4-FFF2-40B4-BE49-F238E27FC236}">
                <a16:creationId xmlns:a16="http://schemas.microsoft.com/office/drawing/2014/main" id="{6EFD8FA5-79DE-49FD-B27F-9A70BE800D54}"/>
              </a:ext>
            </a:extLst>
          </p:cNvPr>
          <p:cNvSpPr>
            <a:spLocks noGrp="1"/>
          </p:cNvSpPr>
          <p:nvPr/>
        </p:nvSpPr>
        <p:spPr>
          <a:xfrm>
            <a:off x="6096000" y="2152650"/>
            <a:ext cx="5486400" cy="438150"/>
          </a:xfrm>
          <a:prstGeom prst="roundRect">
            <a:avLst>
              <a:gd name="adj" fmla="val 17391"/>
            </a:avLst>
          </a:prstGeom>
          <a:solidFill>
            <a:srgbClr val="ECEFF2"/>
          </a:solidFill>
          <a:ln w="9525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a20-n-0-text">
            <a:extLst>
              <a:ext uri="{FF2B5EF4-FFF2-40B4-BE49-F238E27FC236}">
                <a16:creationId xmlns:a16="http://schemas.microsoft.com/office/drawing/2014/main" id="{6DC1D181-C8A8-42FD-BA75-1CFFCEF996BB}"/>
              </a:ext>
            </a:extLst>
          </p:cNvPr>
          <p:cNvSpPr>
            <a:spLocks noGrp="1"/>
          </p:cNvSpPr>
          <p:nvPr/>
        </p:nvSpPr>
        <p:spPr>
          <a:xfrm>
            <a:off x="6096000" y="2152650"/>
            <a:ext cx="5486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B7280"/>
                </a:solidFill>
                <a:latin typeface="Arial"/>
                <a:ea typeface="Arial"/>
                <a:cs typeface="Arial"/>
              </a:rPr>
              <a:t>—  NAT · Internet · TCP · iperf3</a:t>
            </a:r>
          </a:p>
        </p:txBody>
      </p:sp>
      <p:sp>
        <p:nvSpPr>
          <p:cNvPr id="22" name="a20-n-1-bg">
            <a:extLst>
              <a:ext uri="{FF2B5EF4-FFF2-40B4-BE49-F238E27FC236}">
                <a16:creationId xmlns:a16="http://schemas.microsoft.com/office/drawing/2014/main" id="{EDB22FC0-8CE2-4D70-91C0-2B2EC33ED57A}"/>
              </a:ext>
            </a:extLst>
          </p:cNvPr>
          <p:cNvSpPr>
            <a:spLocks noGrp="1"/>
          </p:cNvSpPr>
          <p:nvPr/>
        </p:nvSpPr>
        <p:spPr>
          <a:xfrm>
            <a:off x="6096000" y="2724150"/>
            <a:ext cx="5486400" cy="438150"/>
          </a:xfrm>
          <a:prstGeom prst="roundRect">
            <a:avLst>
              <a:gd name="adj" fmla="val 17391"/>
            </a:avLst>
          </a:prstGeom>
          <a:solidFill>
            <a:srgbClr val="ECEFF2"/>
          </a:solidFill>
          <a:ln w="9525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a20-n-1-text">
            <a:extLst>
              <a:ext uri="{FF2B5EF4-FFF2-40B4-BE49-F238E27FC236}">
                <a16:creationId xmlns:a16="http://schemas.microsoft.com/office/drawing/2014/main" id="{843B1639-75EF-402C-A05E-863156474A50}"/>
              </a:ext>
            </a:extLst>
          </p:cNvPr>
          <p:cNvSpPr>
            <a:spLocks noGrp="1"/>
          </p:cNvSpPr>
          <p:nvPr/>
        </p:nvSpPr>
        <p:spPr>
          <a:xfrm>
            <a:off x="6096000" y="2724150"/>
            <a:ext cx="5486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B7280"/>
                </a:solidFill>
                <a:latin typeface="Arial"/>
                <a:ea typeface="Arial"/>
                <a:cs typeface="Arial"/>
              </a:rPr>
              <a:t>—  Wireshark / PCAP</a:t>
            </a:r>
          </a:p>
        </p:txBody>
      </p:sp>
      <p:sp>
        <p:nvSpPr>
          <p:cNvPr id="24" name="a20-n-2-bg">
            <a:extLst>
              <a:ext uri="{FF2B5EF4-FFF2-40B4-BE49-F238E27FC236}">
                <a16:creationId xmlns:a16="http://schemas.microsoft.com/office/drawing/2014/main" id="{FF935F9D-CC67-4AE9-8E45-AD4F2C19E56A}"/>
              </a:ext>
            </a:extLst>
          </p:cNvPr>
          <p:cNvSpPr>
            <a:spLocks noGrp="1"/>
          </p:cNvSpPr>
          <p:nvPr/>
        </p:nvSpPr>
        <p:spPr>
          <a:xfrm>
            <a:off x="6096000" y="3295650"/>
            <a:ext cx="5486400" cy="438150"/>
          </a:xfrm>
          <a:prstGeom prst="roundRect">
            <a:avLst>
              <a:gd name="adj" fmla="val 17391"/>
            </a:avLst>
          </a:prstGeom>
          <a:solidFill>
            <a:srgbClr val="ECEFF2"/>
          </a:solidFill>
          <a:ln w="9525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a20-n-2-text">
            <a:extLst>
              <a:ext uri="{FF2B5EF4-FFF2-40B4-BE49-F238E27FC236}">
                <a16:creationId xmlns:a16="http://schemas.microsoft.com/office/drawing/2014/main" id="{1CD4DFBA-0874-4F41-9B57-58406C3D9F36}"/>
              </a:ext>
            </a:extLst>
          </p:cNvPr>
          <p:cNvSpPr>
            <a:spLocks noGrp="1"/>
          </p:cNvSpPr>
          <p:nvPr/>
        </p:nvSpPr>
        <p:spPr>
          <a:xfrm>
            <a:off x="6096000" y="3295650"/>
            <a:ext cx="5486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B7280"/>
                </a:solidFill>
                <a:latin typeface="Arial"/>
                <a:ea typeface="Arial"/>
                <a:cs typeface="Arial"/>
              </a:rPr>
              <a:t>—  Controlled performance / reliability / stability</a:t>
            </a:r>
          </a:p>
        </p:txBody>
      </p:sp>
      <p:sp>
        <p:nvSpPr>
          <p:cNvPr id="26" name="a20-n-3-bg">
            <a:extLst>
              <a:ext uri="{FF2B5EF4-FFF2-40B4-BE49-F238E27FC236}">
                <a16:creationId xmlns:a16="http://schemas.microsoft.com/office/drawing/2014/main" id="{0F658B77-ED4C-433A-8BEE-656FC970E933}"/>
              </a:ext>
            </a:extLst>
          </p:cNvPr>
          <p:cNvSpPr>
            <a:spLocks noGrp="1"/>
          </p:cNvSpPr>
          <p:nvPr/>
        </p:nvSpPr>
        <p:spPr>
          <a:xfrm>
            <a:off x="6096000" y="3867150"/>
            <a:ext cx="5486400" cy="438150"/>
          </a:xfrm>
          <a:prstGeom prst="roundRect">
            <a:avLst>
              <a:gd name="adj" fmla="val 17391"/>
            </a:avLst>
          </a:prstGeom>
          <a:solidFill>
            <a:srgbClr val="ECEFF2"/>
          </a:solidFill>
          <a:ln w="9525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a20-n-3-text">
            <a:extLst>
              <a:ext uri="{FF2B5EF4-FFF2-40B4-BE49-F238E27FC236}">
                <a16:creationId xmlns:a16="http://schemas.microsoft.com/office/drawing/2014/main" id="{F0252FD7-5C80-444F-9AD5-A7C882C0F869}"/>
              </a:ext>
            </a:extLst>
          </p:cNvPr>
          <p:cNvSpPr>
            <a:spLocks noGrp="1"/>
          </p:cNvSpPr>
          <p:nvPr/>
        </p:nvSpPr>
        <p:spPr>
          <a:xfrm>
            <a:off x="6096000" y="3867150"/>
            <a:ext cx="5486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B7280"/>
                </a:solidFill>
                <a:latin typeface="Arial"/>
                <a:ea typeface="Arial"/>
                <a:cs typeface="Arial"/>
              </a:rPr>
              <a:t>—  MBMS · multicast · SIB13</a:t>
            </a:r>
          </a:p>
        </p:txBody>
      </p:sp>
      <p:sp>
        <p:nvSpPr>
          <p:cNvPr id="28" name="a20-n-4-bg">
            <a:extLst>
              <a:ext uri="{FF2B5EF4-FFF2-40B4-BE49-F238E27FC236}">
                <a16:creationId xmlns:a16="http://schemas.microsoft.com/office/drawing/2014/main" id="{BE0400DF-28FE-49A8-99FC-94AAEA2420F9}"/>
              </a:ext>
            </a:extLst>
          </p:cNvPr>
          <p:cNvSpPr>
            <a:spLocks noGrp="1"/>
          </p:cNvSpPr>
          <p:nvPr/>
        </p:nvSpPr>
        <p:spPr>
          <a:xfrm>
            <a:off x="6096000" y="4438650"/>
            <a:ext cx="5486400" cy="438150"/>
          </a:xfrm>
          <a:prstGeom prst="roundRect">
            <a:avLst>
              <a:gd name="adj" fmla="val 17391"/>
            </a:avLst>
          </a:prstGeom>
          <a:solidFill>
            <a:srgbClr val="ECEFF2"/>
          </a:solidFill>
          <a:ln w="9525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a20-n-4-text">
            <a:extLst>
              <a:ext uri="{FF2B5EF4-FFF2-40B4-BE49-F238E27FC236}">
                <a16:creationId xmlns:a16="http://schemas.microsoft.com/office/drawing/2014/main" id="{8D1A42D8-3739-4E7A-AC94-2615D870EF50}"/>
              </a:ext>
            </a:extLst>
          </p:cNvPr>
          <p:cNvSpPr>
            <a:spLocks noGrp="1"/>
          </p:cNvSpPr>
          <p:nvPr/>
        </p:nvSpPr>
        <p:spPr>
          <a:xfrm>
            <a:off x="6096000" y="4438650"/>
            <a:ext cx="5486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B7280"/>
                </a:solidFill>
                <a:latin typeface="Arial"/>
                <a:ea typeface="Arial"/>
                <a:cs typeface="Arial"/>
              </a:rPr>
              <a:t>—  B210 OTA · 2×2 MIMO</a:t>
            </a:r>
          </a:p>
        </p:txBody>
      </p:sp>
      <p:sp>
        <p:nvSpPr>
          <p:cNvPr id="30" name="a20-n-5-bg">
            <a:extLst>
              <a:ext uri="{FF2B5EF4-FFF2-40B4-BE49-F238E27FC236}">
                <a16:creationId xmlns:a16="http://schemas.microsoft.com/office/drawing/2014/main" id="{3B053A39-3FF4-4BCA-A466-A1F85D9ABE71}"/>
              </a:ext>
            </a:extLst>
          </p:cNvPr>
          <p:cNvSpPr>
            <a:spLocks noGrp="1"/>
          </p:cNvSpPr>
          <p:nvPr/>
        </p:nvSpPr>
        <p:spPr>
          <a:xfrm>
            <a:off x="6096000" y="5010150"/>
            <a:ext cx="5486400" cy="438150"/>
          </a:xfrm>
          <a:prstGeom prst="roundRect">
            <a:avLst>
              <a:gd name="adj" fmla="val 17391"/>
            </a:avLst>
          </a:prstGeom>
          <a:solidFill>
            <a:srgbClr val="ECEFF2"/>
          </a:solidFill>
          <a:ln w="9525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a20-n-5-text">
            <a:extLst>
              <a:ext uri="{FF2B5EF4-FFF2-40B4-BE49-F238E27FC236}">
                <a16:creationId xmlns:a16="http://schemas.microsoft.com/office/drawing/2014/main" id="{FB687893-CC77-4E19-A737-90A824DDE3BA}"/>
              </a:ext>
            </a:extLst>
          </p:cNvPr>
          <p:cNvSpPr>
            <a:spLocks noGrp="1"/>
          </p:cNvSpPr>
          <p:nvPr/>
        </p:nvSpPr>
        <p:spPr>
          <a:xfrm>
            <a:off x="6096000" y="5010150"/>
            <a:ext cx="5486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B7280"/>
                </a:solidFill>
                <a:latin typeface="Arial"/>
                <a:ea typeface="Arial"/>
                <a:cs typeface="Arial"/>
              </a:rPr>
              <a:t>—  URLLC · Lab02 validation · 6G LEO / NTN</a:t>
            </a:r>
          </a:p>
        </p:txBody>
      </p:sp>
      <p:sp>
        <p:nvSpPr>
          <p:cNvPr id="32" name="a20-rtt-bg">
            <a:extLst>
              <a:ext uri="{FF2B5EF4-FFF2-40B4-BE49-F238E27FC236}">
                <a16:creationId xmlns:a16="http://schemas.microsoft.com/office/drawing/2014/main" id="{F673D353-2137-46B5-96B8-D6F0B20F02FC}"/>
              </a:ext>
            </a:extLst>
          </p:cNvPr>
          <p:cNvSpPr>
            <a:spLocks noGrp="1"/>
          </p:cNvSpPr>
          <p:nvPr/>
        </p:nvSpPr>
        <p:spPr>
          <a:xfrm>
            <a:off x="1200150" y="5791200"/>
            <a:ext cx="9791700" cy="400050"/>
          </a:xfrm>
          <a:prstGeom prst="roundRect">
            <a:avLst>
              <a:gd name="adj" fmla="val 19048"/>
            </a:avLst>
          </a:prstGeom>
          <a:solidFill>
            <a:srgbClr val="FFF0D5"/>
          </a:solidFill>
          <a:ln w="9525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a20-rtt-text">
            <a:extLst>
              <a:ext uri="{FF2B5EF4-FFF2-40B4-BE49-F238E27FC236}">
                <a16:creationId xmlns:a16="http://schemas.microsoft.com/office/drawing/2014/main" id="{F91DD470-784E-47EB-AF54-53FC01075751}"/>
              </a:ext>
            </a:extLst>
          </p:cNvPr>
          <p:cNvSpPr>
            <a:spLocks noGrp="1"/>
          </p:cNvSpPr>
          <p:nvPr/>
        </p:nvSpPr>
        <p:spPr>
          <a:xfrm>
            <a:off x="1200150" y="5791200"/>
            <a:ext cx="9791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600–700 ms average RTT + 0% loss：connectivity evidence；methodology limited；not a benchmark</a:t>
            </a:r>
          </a:p>
        </p:txBody>
      </p:sp>
    </p:spTree>
    <p:extLst>
      <p:ext uri="{BB962C8B-B14F-4D97-AF65-F5344CB8AC3E}">
        <p14:creationId xmlns:p14="http://schemas.microsoft.com/office/powerpoint/2010/main" val="141827675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2164</Words>
  <Application>Microsoft Macintosh PowerPoint</Application>
  <DocSecurity>0</DocSecurity>
  <PresentationFormat>寬螢幕</PresentationFormat>
  <Paragraphs>458</Paragraphs>
  <Slides>20</Slides>
  <Notes>20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20</vt:i4>
      </vt:variant>
    </vt:vector>
  </HeadingPairs>
  <TitlesOfParts>
    <vt:vector size="23" baseType="lpstr">
      <vt:lpstr>Arial</vt:lpstr>
      <vt:lpstr>Calibri</vt:lpstr>
      <vt:lpstr>ChatGPT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isu11208002A</cp:lastModifiedBy>
  <cp:revision>1</cp:revision>
  <dcterms:created xsi:type="dcterms:W3CDTF">2026-07-13T15:05:00Z</dcterms:created>
  <dcterms:modified xsi:type="dcterms:W3CDTF">2026-07-13T15:23:59Z</dcterms:modified>
</cp:coreProperties>
</file>